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37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A3A5C">
              <a:alpha val="50000"/>
            </a:srgbClr>
          </a:solidFill>
          <a:ln w="12700">
            <a:solidFill>
              <a:srgbClr val="1A3A5C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457200"/>
            <a:ext cx="2286000" cy="2286000"/>
          </a:xfrm>
          <a:prstGeom prst="ellipse">
            <a:avLst/>
          </a:prstGeom>
          <a:solidFill>
            <a:srgbClr val="0A2A4A">
              <a:alpha val="50000"/>
            </a:srgbClr>
          </a:solidFill>
          <a:ln w="12700">
            <a:solidFill>
              <a:srgbClr val="0A2A4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92500" y="1556128"/>
            <a:ext cx="599879" cy="545345"/>
          </a:xfrm>
          <a:prstGeom prst="line">
            <a:avLst/>
          </a:prstGeom>
          <a:noFill/>
          <a:ln w="12700">
            <a:solidFill>
              <a:srgbClr val="555577"/>
            </a:solidFill>
            <a:prstDash val="solid"/>
            <a:tailEnd type="arrow"/>
          </a:ln>
        </p:spPr>
      </p:sp>
      <p:sp>
        <p:nvSpPr>
          <p:cNvPr id="5" name="Shape 3"/>
          <p:cNvSpPr/>
          <p:nvPr/>
        </p:nvSpPr>
        <p:spPr>
          <a:xfrm>
            <a:off x="7909560" y="168249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9560" y="16824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7792501" y="2470528"/>
            <a:ext cx="599879" cy="545345"/>
          </a:xfrm>
          <a:prstGeom prst="line">
            <a:avLst/>
          </a:prstGeom>
          <a:noFill/>
          <a:ln w="12700">
            <a:solidFill>
              <a:srgbClr val="555577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7909560" y="259689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9560" y="2596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flipH="1">
            <a:off x="6786661" y="1556128"/>
            <a:ext cx="599879" cy="545345"/>
          </a:xfrm>
          <a:prstGeom prst="line">
            <a:avLst/>
          </a:prstGeom>
          <a:noFill/>
          <a:ln w="12700">
            <a:solidFill>
              <a:srgbClr val="555577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6903720" y="168249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6824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86660" y="2470528"/>
            <a:ext cx="599879" cy="545345"/>
          </a:xfrm>
          <a:prstGeom prst="line">
            <a:avLst/>
          </a:prstGeom>
          <a:noFill/>
          <a:ln w="12700">
            <a:solidFill>
              <a:srgbClr val="555577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6903720" y="259689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596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33488" y="1115568"/>
            <a:ext cx="512064" cy="512064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3488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39328" y="2029968"/>
            <a:ext cx="512064" cy="512064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33488" y="2944368"/>
            <a:ext cx="512064" cy="512064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3488" y="2944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27648" y="2029968"/>
            <a:ext cx="512064" cy="512064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12801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Floyd-Warshall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457200" y="3337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All-pairs shortest paths — find the shortest distance between every pair of nodes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Floyd-Warshall?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programming algorithm to find shortest paths between ALL pairs of nodes.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weighted directed graph, Floyd-Warshall computes the shortest path between every pair of vertices (i, j). It works with negative weights (but not negative cycles).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084832"/>
            <a:ext cx="4389120" cy="74980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2194560"/>
            <a:ext cx="512064" cy="5120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1396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4323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intermediate node k, check: Is the path i→k→j shorter than the current best i→j?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4389120" cy="74980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3063240"/>
            <a:ext cx="512064" cy="5120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063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008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3009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dist[i][j] = min(dist[i][j], dist[i][k] + dist[k][j])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822192"/>
            <a:ext cx="4389120" cy="74980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931920"/>
            <a:ext cx="512064" cy="5120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931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877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1696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trying ALL intermediate nodes, dist[i][j] holds the shortest path from i to j.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645920"/>
            <a:ext cx="1280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7132320" y="149961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4996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1920240"/>
            <a:ext cx="0" cy="16459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8046720" y="259689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2596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920240"/>
            <a:ext cx="0" cy="16459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6217920" y="259689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596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3840480"/>
            <a:ext cx="1280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7132320" y="369417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36941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 flipV="1">
            <a:off x="6576416" y="1856659"/>
            <a:ext cx="1477569" cy="1773083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7132320" y="259689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2596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1371600"/>
            <a:ext cx="548640" cy="54864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955280" y="1371600"/>
            <a:ext cx="548640" cy="54864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955280" y="3566160"/>
            <a:ext cx="548640" cy="54864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26480" y="3566160"/>
            <a:ext cx="548640" cy="54864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60720" y="4160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</a:rPr>
              <a:t>Example Graph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</a:rPr>
              <a:t>(directed, weighted)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Floyd-Warshall Algorithm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nested loops — simple but powerful.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5120640" cy="8046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07008"/>
            <a:ext cx="530352" cy="5303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070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1338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dist[i][i]=0, dist[i][j]=edge weight if edge exists, else ∞.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5120640" cy="8046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121408"/>
            <a:ext cx="530352" cy="5303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1214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0482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k (intermediate node)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node k from 1 to N: try using k as a stepping stone.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07792"/>
            <a:ext cx="5120640" cy="8046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035808"/>
            <a:ext cx="530352" cy="5303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035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9626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loops i, j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2918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pair (i,j): update dist[i][j] = min(dist[i][j], dist[i][k]+dist[k][j]).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22192"/>
            <a:ext cx="5120640" cy="8046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950208"/>
            <a:ext cx="530352" cy="5303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950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8770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negative cycles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2062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completion, if dist[i][i] &lt; 0 for any i → negative cycle exists!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1078992"/>
            <a:ext cx="347472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1247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Pseudocode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1444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1..N: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1828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in 1..N: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22128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1..N: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25968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dist[i][k]+dist[k][j]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29809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&lt; dist[i][j]: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dist[i][j] =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77840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dist[i][k]+dist[k][j]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 Complexity: O(V³)   |   Space: O(V²)   |   Works with negative weights!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 Graph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trace Floyd-Warshall step-by-step on this 4-node graph.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This graph has: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44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4 nodes (1, 2, 3, 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83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5 directed weighted edges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22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Both direct and indirect paths to explore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Initial dist[ ][ ] matrix: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56692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09067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41248" y="3090672"/>
            <a:ext cx="56692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09067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08176" y="3090672"/>
            <a:ext cx="56692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8176" y="309067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75104" y="3090672"/>
            <a:ext cx="56692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75104" y="309067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42032" y="3090672"/>
            <a:ext cx="56692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309067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438144"/>
            <a:ext cx="56692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3814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1248" y="3438144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43814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08176" y="3438144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08176" y="343814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75104" y="3438144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75104" y="343814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42032" y="3438144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343814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785616"/>
            <a:ext cx="56692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78561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1248" y="3785616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378561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408176" y="3785616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08176" y="378561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975104" y="3785616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75104" y="378561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42032" y="3785616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2032" y="378561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133088"/>
            <a:ext cx="56692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13308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1248" y="4133088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413308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408176" y="4133088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08176" y="413308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975104" y="4133088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75104" y="413308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542032" y="4133088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42032" y="413308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480560"/>
            <a:ext cx="56692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4805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41248" y="4480560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" y="44805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408176" y="4480560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08176" y="44805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975104" y="4480560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75104" y="44805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542032" y="4480560"/>
            <a:ext cx="566928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42032" y="44805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17920" y="1691640"/>
            <a:ext cx="1371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64" name="Shape 62"/>
          <p:cNvSpPr/>
          <p:nvPr/>
        </p:nvSpPr>
        <p:spPr>
          <a:xfrm>
            <a:off x="6720840" y="154533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20840" y="15453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863840" y="1965960"/>
            <a:ext cx="0" cy="15087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67" name="Shape 65"/>
          <p:cNvSpPr/>
          <p:nvPr/>
        </p:nvSpPr>
        <p:spPr>
          <a:xfrm>
            <a:off x="7680960" y="257403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80960" y="25740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943600" y="1965960"/>
            <a:ext cx="0" cy="15087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70" name="Shape 68"/>
          <p:cNvSpPr/>
          <p:nvPr/>
        </p:nvSpPr>
        <p:spPr>
          <a:xfrm>
            <a:off x="5760720" y="257403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60720" y="25740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7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217920" y="3749040"/>
            <a:ext cx="1371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73" name="Shape 71"/>
          <p:cNvSpPr/>
          <p:nvPr/>
        </p:nvSpPr>
        <p:spPr>
          <a:xfrm>
            <a:off x="6720840" y="360273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20840" y="36027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 flipH="1" flipV="1">
            <a:off x="6130773" y="1892183"/>
            <a:ext cx="1545893" cy="1656314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  <a:tailEnd type="arrow"/>
          </a:ln>
        </p:spPr>
      </p:sp>
      <p:sp>
        <p:nvSpPr>
          <p:cNvPr id="76" name="Shape 74"/>
          <p:cNvSpPr/>
          <p:nvPr/>
        </p:nvSpPr>
        <p:spPr>
          <a:xfrm>
            <a:off x="6720840" y="257403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20840" y="25740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650992" y="139903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50992" y="1399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7571232" y="139903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571232" y="1399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7571232" y="345643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71232" y="3456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5650992" y="345643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50992" y="3456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k=1 (Intermediate: Node 1)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routing every pair (i,j) through node 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We check: is dist[i][1] + dist[1][j] &lt; dist[i][j]?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447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After k=1: No improvements! Node 1 has no incoming edges from other nodes yet in our current matrix.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993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dist[ ][ ] after k=1: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04288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304288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96112" y="2304288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30428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17904" y="2304288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17904" y="230428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39696" y="2304288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9696" y="230428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61488" y="2304288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1488" y="230428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70048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67004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6112" y="267004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267004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17904" y="267004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17904" y="267004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39696" y="267004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9696" y="267004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61488" y="267004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61488" y="267004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035808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03580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96112" y="303580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303580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517904" y="303580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17904" y="303580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139696" y="303580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39696" y="303580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61488" y="303580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61488" y="303580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401568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40156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96112" y="340156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340156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517904" y="340156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17904" y="340156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139696" y="340156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39696" y="340156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61488" y="340156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61488" y="340156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767328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76732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96112" y="376732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" y="376732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517904" y="376732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517904" y="376732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39696" y="376732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39696" y="376732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61488" y="3767328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61488" y="376732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17920" y="2011680"/>
            <a:ext cx="1371600" cy="0"/>
          </a:xfrm>
          <a:prstGeom prst="line">
            <a:avLst/>
          </a:prstGeom>
          <a:noFill/>
          <a:ln w="31750">
            <a:solidFill>
              <a:srgbClr val="F1C40F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6720840" y="186537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18653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863840" y="2286000"/>
            <a:ext cx="0" cy="137160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62" name="Shape 60"/>
          <p:cNvSpPr/>
          <p:nvPr/>
        </p:nvSpPr>
        <p:spPr>
          <a:xfrm>
            <a:off x="7680960" y="282549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80960" y="28254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943600" y="2286000"/>
            <a:ext cx="0" cy="1371600"/>
          </a:xfrm>
          <a:prstGeom prst="line">
            <a:avLst/>
          </a:prstGeom>
          <a:noFill/>
          <a:ln w="31750">
            <a:solidFill>
              <a:srgbClr val="F1C40F"/>
            </a:solidFill>
            <a:prstDash val="solid"/>
            <a:tailEnd type="arrow"/>
          </a:ln>
        </p:spPr>
      </p:sp>
      <p:sp>
        <p:nvSpPr>
          <p:cNvPr id="65" name="Shape 63"/>
          <p:cNvSpPr/>
          <p:nvPr/>
        </p:nvSpPr>
        <p:spPr>
          <a:xfrm>
            <a:off x="5760720" y="282549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60720" y="28254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7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217920" y="3931920"/>
            <a:ext cx="1371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68" name="Shape 66"/>
          <p:cNvSpPr/>
          <p:nvPr/>
        </p:nvSpPr>
        <p:spPr>
          <a:xfrm>
            <a:off x="6720840" y="378561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20840" y="37856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650992" y="1719072"/>
            <a:ext cx="585216" cy="585216"/>
          </a:xfrm>
          <a:prstGeom prst="ellipse">
            <a:avLst/>
          </a:prstGeom>
          <a:solidFill>
            <a:srgbClr val="F1C40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50992" y="1719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1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7571232" y="171907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71232" y="1719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571232" y="363931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71232" y="3639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5650992" y="363931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50992" y="3639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521208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C40F"/>
                </a:solidFill>
              </a:rPr>
              <a:t>Node 1 highlighted (intermediate)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k=2 (Intermediate: Node 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paths through node 2. New shortcut found: 1→2→3!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</a:rPr>
              <a:t>Check: dist[1][3] via node 2: dist[1][2]+dist[2][3] = 3+2 = 5 &lt; ∞ → UPDATE!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dist[ ][ ] after k=2: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83664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883664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88366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17904" y="1883664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17904" y="188366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39696" y="1883664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188366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61488" y="1883664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188366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49424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4942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" y="224942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24942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17904" y="224942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17904" y="224942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39696" y="2249424"/>
            <a:ext cx="621792" cy="365760"/>
          </a:xfrm>
          <a:prstGeom prst="rect">
            <a:avLst/>
          </a:prstGeom>
          <a:solidFill>
            <a:srgbClr val="1A4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9696" y="224942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C71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61488" y="224942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224942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615184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61518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6112" y="261518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261518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517904" y="261518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17904" y="261518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39696" y="261518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39696" y="261518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61488" y="261518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61488" y="261518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980944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98094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96112" y="298094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298094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517904" y="298094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17904" y="298094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39696" y="298094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39696" y="298094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61488" y="298094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61488" y="298094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346704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34670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96112" y="334670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6112" y="334670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517904" y="334670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17904" y="334670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139696" y="334670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39696" y="334670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61488" y="3346704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61488" y="334670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55448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</a:rPr>
              <a:t>New: dist[1][3] = 5  (was ∞)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217920" y="1920240"/>
            <a:ext cx="1371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6720840" y="177393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0840" y="17739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863840" y="2194560"/>
            <a:ext cx="0" cy="14173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7678325" y="275691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80960" y="27569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943600" y="2194560"/>
            <a:ext cx="0" cy="14173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64" name="Shape 62"/>
          <p:cNvSpPr/>
          <p:nvPr/>
        </p:nvSpPr>
        <p:spPr>
          <a:xfrm>
            <a:off x="5760720" y="275691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0720" y="27569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7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17920" y="3886200"/>
            <a:ext cx="1371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67" name="Shape 65"/>
          <p:cNvSpPr/>
          <p:nvPr/>
        </p:nvSpPr>
        <p:spPr>
          <a:xfrm>
            <a:off x="6720840" y="373989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20840" y="3739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077243" y="2145325"/>
            <a:ext cx="1548847" cy="1466555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  <a:tailEnd type="arrow"/>
          </a:ln>
        </p:spPr>
      </p:sp>
      <p:sp>
        <p:nvSpPr>
          <p:cNvPr id="70" name="Shape 68"/>
          <p:cNvSpPr/>
          <p:nvPr/>
        </p:nvSpPr>
        <p:spPr>
          <a:xfrm>
            <a:off x="6720840" y="275691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20840" y="27569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5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650992" y="162763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5099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571232" y="1627632"/>
            <a:ext cx="585216" cy="585216"/>
          </a:xfrm>
          <a:prstGeom prst="ellipse">
            <a:avLst/>
          </a:prstGeom>
          <a:solidFill>
            <a:srgbClr val="F1C40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7123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2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571232" y="359359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571232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5650992" y="359359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50992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566928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</a:rPr>
              <a:t>1→2→3 = 5 ✓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k=4 (Intermediate: Node 4)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paths through node 4. New shortcut: 1→4→3=8!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dist[1][3] via 4: dist[1][4]+dist[4][3] = 7+1 = 8 &gt; 5 (no update)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dist[3][3] via 1→4→3: already found via k=2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dist[ ][ ] after k=4 (no new updates):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93392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93392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96112" y="1993392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9339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17904" y="1993392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17904" y="199339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39696" y="1993392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9696" y="199339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61488" y="1993392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199339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59152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5915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6112" y="235915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35915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17904" y="235915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17904" y="235915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39696" y="235915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9696" y="235915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61488" y="235915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235915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724912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72491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6112" y="272491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272491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517904" y="272491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17904" y="272491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39696" y="272491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39696" y="272491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61488" y="272491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61488" y="272491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090672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09067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6112" y="309067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" y="309067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517904" y="309067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17904" y="309067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139696" y="309067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39696" y="309067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61488" y="309067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61488" y="309067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456432"/>
            <a:ext cx="621792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45643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96112" y="345643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6112" y="345643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517904" y="345643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17904" y="345643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∞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139696" y="345643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39696" y="345643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61488" y="3456432"/>
            <a:ext cx="621792" cy="365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61488" y="345643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17920" y="1920240"/>
            <a:ext cx="1371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6720840" y="177393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0840" y="17739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863840" y="2194560"/>
            <a:ext cx="0" cy="14173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7680960" y="275691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80960" y="27569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943600" y="2194560"/>
            <a:ext cx="0" cy="1417320"/>
          </a:xfrm>
          <a:prstGeom prst="line">
            <a:avLst/>
          </a:prstGeom>
          <a:noFill/>
          <a:ln w="31750">
            <a:solidFill>
              <a:srgbClr val="F1C40F"/>
            </a:solidFill>
            <a:prstDash val="solid"/>
            <a:tailEnd type="arrow"/>
          </a:ln>
        </p:spPr>
      </p:sp>
      <p:sp>
        <p:nvSpPr>
          <p:cNvPr id="64" name="Shape 62"/>
          <p:cNvSpPr/>
          <p:nvPr/>
        </p:nvSpPr>
        <p:spPr>
          <a:xfrm>
            <a:off x="5760720" y="275691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0720" y="27569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7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17920" y="3886200"/>
            <a:ext cx="1371600" cy="0"/>
          </a:xfrm>
          <a:prstGeom prst="line">
            <a:avLst/>
          </a:prstGeom>
          <a:noFill/>
          <a:ln w="31750">
            <a:solidFill>
              <a:srgbClr val="F1C40F"/>
            </a:solidFill>
            <a:prstDash val="solid"/>
            <a:tailEnd type="arrow"/>
          </a:ln>
        </p:spPr>
      </p:sp>
      <p:sp>
        <p:nvSpPr>
          <p:cNvPr id="67" name="Shape 65"/>
          <p:cNvSpPr/>
          <p:nvPr/>
        </p:nvSpPr>
        <p:spPr>
          <a:xfrm>
            <a:off x="6720840" y="373989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20840" y="3739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126479" y="2125979"/>
            <a:ext cx="1499615" cy="1552717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  <a:tailEnd type="arrow"/>
          </a:ln>
        </p:spPr>
      </p:sp>
      <p:sp>
        <p:nvSpPr>
          <p:cNvPr id="70" name="Shape 68"/>
          <p:cNvSpPr/>
          <p:nvPr/>
        </p:nvSpPr>
        <p:spPr>
          <a:xfrm>
            <a:off x="6720840" y="2756916"/>
            <a:ext cx="365760" cy="292608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20840" y="27569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5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650992" y="162763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5099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571232" y="162763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7123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571232" y="359359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71232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5650992" y="3593592"/>
            <a:ext cx="585216" cy="585216"/>
          </a:xfrm>
          <a:prstGeom prst="ellipse">
            <a:avLst/>
          </a:prstGeom>
          <a:solidFill>
            <a:srgbClr val="F1C40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50992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4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5029200" y="4370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7E22"/>
                </a:solidFill>
              </a:rPr>
              <a:t>1→4→3=8 (worse than 1→2→3=5)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Distance Matrix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All-pairs shortest paths — done!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After all k iterations, every cell dist[i][j] holds the shortest path from i to j.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Final dist[ ][ ]: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01952"/>
            <a:ext cx="8686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901952"/>
            <a:ext cx="8686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90195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1901952"/>
            <a:ext cx="8686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90195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80360" y="1901952"/>
            <a:ext cx="8686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190195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49040" y="1901952"/>
            <a:ext cx="8686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90195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8686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77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43000" y="2377440"/>
            <a:ext cx="868680" cy="47548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377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11680" y="2377440"/>
            <a:ext cx="868680" cy="47548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2377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80360" y="2377440"/>
            <a:ext cx="868680" cy="475488"/>
          </a:xfrm>
          <a:prstGeom prst="rect">
            <a:avLst/>
          </a:prstGeom>
          <a:solidFill>
            <a:srgbClr val="1A4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2377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49040" y="2377440"/>
            <a:ext cx="868680" cy="47548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377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2852928"/>
            <a:ext cx="8686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85292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143000" y="2852928"/>
            <a:ext cx="868680" cy="475488"/>
          </a:xfrm>
          <a:prstGeom prst="rect">
            <a:avLst/>
          </a:prstGeom>
          <a:solidFill>
            <a:srgbClr val="2A1010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285292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</a:rPr>
              <a:t>∞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011680" y="2852928"/>
            <a:ext cx="868680" cy="47548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85292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880360" y="2852928"/>
            <a:ext cx="868680" cy="47548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285292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49040" y="2852928"/>
            <a:ext cx="868680" cy="475488"/>
          </a:xfrm>
          <a:prstGeom prst="rect">
            <a:avLst/>
          </a:prstGeom>
          <a:solidFill>
            <a:srgbClr val="2A1010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285292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</a:rPr>
              <a:t>∞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3328416"/>
            <a:ext cx="8686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32841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143000" y="3328416"/>
            <a:ext cx="868680" cy="475488"/>
          </a:xfrm>
          <a:prstGeom prst="rect">
            <a:avLst/>
          </a:prstGeom>
          <a:solidFill>
            <a:srgbClr val="2A1010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332841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</a:rPr>
              <a:t>∞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011680" y="3328416"/>
            <a:ext cx="868680" cy="475488"/>
          </a:xfrm>
          <a:prstGeom prst="rect">
            <a:avLst/>
          </a:prstGeom>
          <a:solidFill>
            <a:srgbClr val="2A1010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0" y="332841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</a:rPr>
              <a:t>∞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880360" y="3328416"/>
            <a:ext cx="868680" cy="47548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0360" y="332841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749040" y="3328416"/>
            <a:ext cx="868680" cy="475488"/>
          </a:xfrm>
          <a:prstGeom prst="rect">
            <a:avLst/>
          </a:prstGeom>
          <a:solidFill>
            <a:srgbClr val="2A1010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0" y="332841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</a:rPr>
              <a:t>∞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74320" y="3803904"/>
            <a:ext cx="8686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80390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143000" y="3803904"/>
            <a:ext cx="868680" cy="475488"/>
          </a:xfrm>
          <a:prstGeom prst="rect">
            <a:avLst/>
          </a:prstGeom>
          <a:solidFill>
            <a:srgbClr val="2A1010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380390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</a:rPr>
              <a:t>∞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011680" y="3803904"/>
            <a:ext cx="868680" cy="475488"/>
          </a:xfrm>
          <a:prstGeom prst="rect">
            <a:avLst/>
          </a:prstGeom>
          <a:solidFill>
            <a:srgbClr val="2A1010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11680" y="380390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</a:rPr>
              <a:t>∞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880360" y="3803904"/>
            <a:ext cx="868680" cy="47548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80360" y="380390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749040" y="3803904"/>
            <a:ext cx="868680" cy="47548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0" y="380390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937760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Shortest path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1→2→3 = 5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53712" y="2377440"/>
            <a:ext cx="384048" cy="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  <a:tailEnd type="arrow"/>
          </a:ln>
        </p:spPr>
      </p:sp>
      <p:sp>
        <p:nvSpPr>
          <p:cNvPr id="58" name="Text 56"/>
          <p:cNvSpPr/>
          <p:nvPr/>
        </p:nvSpPr>
        <p:spPr>
          <a:xfrm>
            <a:off x="4937760" y="3063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Results: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937760" y="34015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12080" y="3355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1→2 = 3  (direct)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937760" y="381304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12080" y="3767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1→3 = 5  (via 2: 1→2→3)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937760" y="422452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12080" y="4178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1→4 = 7  (direct)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937760" y="463600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12080" y="4590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4→3 = 1  (direct)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Floyd-Warshall — Code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implementation in C++.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530352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247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&lt;/&gt; Floyd-Warshall code (C++)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42646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floydWarshall(vector&lt;vector&lt;int&gt;&gt;&amp; dist, int V) {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k = intermediate node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k = 0; k &lt; V; k++) {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0299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V; i++)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2311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(int j = 0; j &lt; V; j++) {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43230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(dist[i][k] != INF &amp;&amp;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26334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dist[k][j] != INF &amp;&amp;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28346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dist[i][k]+dist[k][j] &lt; dist[i][j])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03580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dist[i][j] = dist[i][k]+dist[k][j];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323697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343814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363931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384048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404164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Check for negative cycles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424281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V; i++)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" y="444398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(dist[i][i] &lt; 0) // negative cycle!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46451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87568" y="822960"/>
            <a:ext cx="3200400" cy="960120"/>
          </a:xfrm>
          <a:prstGeom prst="rect">
            <a:avLst/>
          </a:prstGeom>
          <a:solidFill>
            <a:srgbClr val="2428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87568" y="82296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24728" y="868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24728" y="11704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O(V³) time — 3 nested loops over all vertices.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87568" y="1920240"/>
            <a:ext cx="3200400" cy="960120"/>
          </a:xfrm>
          <a:prstGeom prst="rect">
            <a:avLst/>
          </a:prstGeom>
          <a:solidFill>
            <a:srgbClr val="242847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87568" y="1920240"/>
            <a:ext cx="6400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24728" y="1965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24728" y="22677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step: try routing i→k→j. Update if shorter.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87568" y="3017520"/>
            <a:ext cx="3200400" cy="960120"/>
          </a:xfrm>
          <a:prstGeom prst="rect">
            <a:avLst/>
          </a:prstGeom>
          <a:solidFill>
            <a:srgbClr val="24284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87568" y="3017520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24728" y="3063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guard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24728" y="33649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dist[i][k] != INF before adding to avoid overflow.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87568" y="4114800"/>
            <a:ext cx="3200400" cy="960120"/>
          </a:xfrm>
          <a:prstGeom prst="rect">
            <a:avLst/>
          </a:prstGeom>
          <a:solidFill>
            <a:srgbClr val="242847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87568" y="4114800"/>
            <a:ext cx="64008" cy="9601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24728" y="4160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cycles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24728" y="44622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dist[i][i] &lt; 0 after algorithm → negative cycle detected.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Floyd-Warshall Used?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All-pairs shortest paths power many real-world systems.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984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GPS &amp; Routing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all distances in a road network. Instant lookup during navigation.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18872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7832" y="1188720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984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Network Routing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66420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optimal paths between all routers in a network (OSPF protocol).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118872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188720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2984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Transitive Closure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66420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reachability: can node i reach node j? (set weights to 0/1).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80360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90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Arbitrage Detection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35584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exchange: detect negative cycles = profitable trade loop!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288036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7832" y="2880360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90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Robotics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35584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all pairwise distances in environment maps for planning.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288036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1344" y="2880360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2990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 AI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335584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pathfinding for all units across a map grid.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657600"/>
            <a:ext cx="3657600" cy="3657600"/>
          </a:xfrm>
          <a:prstGeom prst="ellipse">
            <a:avLst/>
          </a:prstGeom>
          <a:solidFill>
            <a:srgbClr val="1A3A5C">
              <a:alpha val="45000"/>
            </a:srgbClr>
          </a:solidFill>
          <a:ln w="12700">
            <a:solidFill>
              <a:srgbClr val="1A3A5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731520"/>
            <a:ext cx="3200400" cy="3200400"/>
          </a:xfrm>
          <a:prstGeom prst="ellipse">
            <a:avLst/>
          </a:prstGeom>
          <a:solidFill>
            <a:srgbClr val="0A2A4A">
              <a:alpha val="45000"/>
            </a:srgbClr>
          </a:solidFill>
          <a:ln w="12700">
            <a:solidFill>
              <a:srgbClr val="0A2A4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Floyd-Warshall! 🔗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97280" y="217627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12140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Floyd-Warshall finds the shortest path between ALL pairs of nodes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97280" y="265176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59689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for each intermediate node k, try i→k→j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97280" y="312724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07238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dynamic programming — builds up solutions from smaller subproblems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3602736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35478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O(V³),  Space: O(V²) — best for dense graphs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4078224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4023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negative weights (but not negative cycles)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455371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449884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negative cycles: if dist[i][i] &lt; 0 after completion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8046720" cy="256032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188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Formula: dist[i][j] = min(dist[i][j], dist[i][k] + dist[k][j])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1430</Words>
  <Application>Microsoft Office PowerPoint</Application>
  <PresentationFormat>On-screen Show (16:9)</PresentationFormat>
  <Paragraphs>310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Floyd-Warshall Algorithm</dc:title>
  <dc:subject>PptxGenJS Presentation</dc:subject>
  <dc:creator>PptxGenJS</dc:creator>
  <cp:lastModifiedBy>Md Shohag Showdagor</cp:lastModifiedBy>
  <cp:revision>3</cp:revision>
  <dcterms:created xsi:type="dcterms:W3CDTF">2026-02-23T12:06:47Z</dcterms:created>
  <dcterms:modified xsi:type="dcterms:W3CDTF">2026-02-23T17:03:30Z</dcterms:modified>
</cp:coreProperties>
</file>