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71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98DB"/>
    <a:srgbClr val="2ECC71"/>
    <a:srgbClr val="F1C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570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AF74-D0D1-D811-AFBE-DD14650C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088F5-A9FC-5748-5DD4-26A0642EE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A40F8-B1B5-ACF1-B1AF-6C4E53298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9DED6-914A-4E75-D691-0A96924E6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11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A9213-EDBA-6D92-D411-317EFFF4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8B531-A4D2-B80D-8BE0-2442D5D01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57482-2471-674A-916D-6E6DF1D31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4D3B3-F9DA-B506-2B7B-D4E50AE41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07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33DA1-5E66-5668-D610-305FA3FB6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9D2BE-1109-797E-90B8-57DDEAABC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96DD9-B7F9-6D4C-8D10-A115F9A45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97EC9-AA59-4B60-AF22-037F9394F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43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00A1-301A-E629-8730-712CFA64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C2D46-C21E-EF26-20FF-A3E66EDD0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7EEF9-6C39-99B5-48D3-9794B1778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6D073-AB4F-CFE5-138D-A1FEDE01B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66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E8449">
              <a:alpha val="40000"/>
            </a:srgbClr>
          </a:solidFill>
          <a:ln w="12700">
            <a:solidFill>
              <a:srgbClr val="1E844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457200"/>
            <a:ext cx="2286000" cy="2286000"/>
          </a:xfrm>
          <a:prstGeom prst="ellipse">
            <a:avLst/>
          </a:prstGeom>
          <a:solidFill>
            <a:srgbClr val="1A5276">
              <a:alpha val="40000"/>
            </a:srgbClr>
          </a:solidFill>
          <a:ln w="12700">
            <a:solidFill>
              <a:srgbClr val="1A527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54112" y="1097280"/>
            <a:ext cx="676656" cy="45720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54112" y="1097280"/>
            <a:ext cx="676656" cy="137160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754112" y="1554480"/>
            <a:ext cx="676656" cy="45720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754112" y="2468880"/>
            <a:ext cx="676656" cy="457200"/>
          </a:xfrm>
          <a:prstGeom prst="line">
            <a:avLst/>
          </a:prstGeom>
          <a:noFill/>
          <a:ln w="19050">
            <a:solidFill>
              <a:srgbClr val="5555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2048" y="841248"/>
            <a:ext cx="512064" cy="51206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42048" y="841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42048" y="1755648"/>
            <a:ext cx="512064" cy="51206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42048" y="2670048"/>
            <a:ext cx="512064" cy="51206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4204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30768" y="1298448"/>
            <a:ext cx="512064" cy="51206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430768" y="2212848"/>
            <a:ext cx="512064" cy="512064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how to check, and why they matter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Bipartite Graph?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type of graph with a two-coloring property.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Bipartite Graph is a graph where nodes can be split into TWO groups (sets), such that every edge connects a node from Set A to a node from Set 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176272"/>
            <a:ext cx="4297680" cy="65836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176272"/>
            <a:ext cx="64008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2128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468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edge connects two nodes within the SAME 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53512"/>
            <a:ext cx="4297680" cy="65836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953512"/>
            <a:ext cx="64008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990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3246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crosses between the two sets.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30752"/>
            <a:ext cx="4297680" cy="658368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730752"/>
            <a:ext cx="64008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767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40233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can be 2-colored — no two adjacent nodes share a color.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914400"/>
            <a:ext cx="914400" cy="256032"/>
          </a:xfrm>
          <a:prstGeom prst="rect">
            <a:avLst/>
          </a:prstGeom>
          <a:solidFill>
            <a:srgbClr val="1A5C3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C71"/>
                </a:solidFill>
              </a:rPr>
              <a:t>Set 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914400"/>
            <a:ext cx="914400" cy="256032"/>
          </a:xfrm>
          <a:prstGeom prst="rect">
            <a:avLst/>
          </a:prstGeom>
          <a:solidFill>
            <a:srgbClr val="1A3C5C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914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98DB"/>
                </a:solidFill>
              </a:rPr>
              <a:t>Set 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79008" y="1280160"/>
            <a:ext cx="1700784" cy="4572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79008" y="1280160"/>
            <a:ext cx="1700784" cy="13716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779008" y="1737360"/>
            <a:ext cx="1700784" cy="4572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79008" y="2194560"/>
            <a:ext cx="1700784" cy="13716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779008" y="2651760"/>
            <a:ext cx="1700784" cy="4572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779008" y="3566160"/>
            <a:ext cx="1700784" cy="4572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93792" y="9875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987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193792" y="19019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9019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193792" y="28163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2816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193792" y="37307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3730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479792" y="144475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9792" y="1444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479792" y="235915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23591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479792" y="327355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97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29200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Bipartite Graph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vs Non-Bipartite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odd cycles.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32918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</a:rPr>
              <a:t>✓ BIPARTITE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Even cycle (4 nodes) — can be 2-colored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2240280"/>
            <a:ext cx="1828800" cy="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240280"/>
            <a:ext cx="0" cy="15544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417320" y="3794760"/>
            <a:ext cx="1828800" cy="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417320" y="2240280"/>
            <a:ext cx="0" cy="15544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196596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71800" y="1965960"/>
            <a:ext cx="548640" cy="5486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71800" y="352044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3520440"/>
            <a:ext cx="548640" cy="5486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No conflict! Adjacent nodes always differ.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72662"/>
            <a:ext cx="4114800" cy="32918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01853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</a:rPr>
              <a:t>✗ NOT BIPARTITE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Odd cycle (triangle) — cannot be 2-colored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1828800"/>
            <a:ext cx="914400" cy="164592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5897880" y="3474720"/>
            <a:ext cx="1828800" cy="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897880" y="1828800"/>
            <a:ext cx="914400" cy="164592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155448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52360" y="3200400"/>
            <a:ext cx="548640" cy="5486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23560" y="320040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605272" y="3182112"/>
            <a:ext cx="585216" cy="585216"/>
          </a:xfrm>
          <a:prstGeom prst="ellipse">
            <a:avLst/>
          </a:prstGeom>
          <a:solidFill>
            <a:srgbClr val="E74C3C">
              <a:alpha val="3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4041647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</a:rPr>
              <a:t>⚠ A and C both Green — CONFLICT!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Check: BFS 2-Coloring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BFS to try to color the graph with exactly 2 colors.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97864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97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133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264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node. Color it Set A (green). Add to queue.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75104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2093976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93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029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225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a node. Color all uncolored neighbors the OPPOSITE color.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990088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990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neighbor is already the SAME color → NOT bipartite!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67328"/>
            <a:ext cx="5029200" cy="77724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886200"/>
            <a:ext cx="530352" cy="53035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886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148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until queue is empty. If no conflict → bipartite!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23176" y="1554480"/>
            <a:ext cx="1024128" cy="36576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123176" y="1920240"/>
            <a:ext cx="1024128" cy="4572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23176" y="2377440"/>
            <a:ext cx="1024128" cy="4572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123176" y="2834640"/>
            <a:ext cx="1024128" cy="36576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23176" y="3200400"/>
            <a:ext cx="1024128" cy="45720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123176" y="3657600"/>
            <a:ext cx="1024128" cy="365760"/>
          </a:xfrm>
          <a:prstGeom prst="line">
            <a:avLst/>
          </a:prstGeom>
          <a:noFill/>
          <a:ln w="22860">
            <a:solidFill>
              <a:srgbClr val="888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92824" y="1289304"/>
            <a:ext cx="530352" cy="5303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12893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592824" y="2112264"/>
            <a:ext cx="530352" cy="5303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2112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92824" y="2935224"/>
            <a:ext cx="530352" cy="5303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29352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592824" y="3758184"/>
            <a:ext cx="530352" cy="53035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2824" y="37581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147304" y="1655064"/>
            <a:ext cx="530352" cy="53035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47304" y="1655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147304" y="2569464"/>
            <a:ext cx="530352" cy="53035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47304" y="25694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8147304" y="3392424"/>
            <a:ext cx="530352" cy="53035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47304" y="3392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943600" y="4206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Set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Set 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 Graph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trace the bipartite check step-by-step. Start at node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This graph has: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63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6 nodes (1 to 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20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6 edges (connections)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774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All edges cross between layers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8346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check visits nodes LAYER by LAYER.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slides show each step!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9704" y="12573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</a:rPr>
              <a:t>Start here!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50292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45720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4008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54864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0992" y="1170432"/>
            <a:ext cx="585216" cy="585216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36592" y="217627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565392" y="217627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279392" y="327355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93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08192" y="327355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193792" y="427939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4279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Color Node 1 (Green)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node 1 to Set A. Enqueue neighbors 2 and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060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078992"/>
            <a:ext cx="4572000" cy="3200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14416" y="1528455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← IN (enqueue)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39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A (Green)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2374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B (Blue)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0779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Uncolored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5614416" y="1574175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28816" y="1574175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5157216" y="2580015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6986016" y="2580015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57216" y="3677295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6071616" y="3677295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6208" y="1281567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28156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321808" y="2287407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228740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150608" y="2287407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228740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864608" y="3384687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38468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693408" y="3384687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338468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779008" y="4390527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4390527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916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EB4A2E63-0C3E-6DB8-C8EC-D05A754B977E}"/>
              </a:ext>
            </a:extLst>
          </p:cNvPr>
          <p:cNvSpPr/>
          <p:nvPr/>
        </p:nvSpPr>
        <p:spPr>
          <a:xfrm>
            <a:off x="1236198" y="1115568"/>
            <a:ext cx="475488" cy="246888"/>
          </a:xfrm>
          <a:prstGeom prst="rect">
            <a:avLst/>
          </a:prstGeom>
          <a:solidFill>
            <a:srgbClr val="F1C40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54F824D1-84D2-4B2D-5DFE-D9A6B488816C}"/>
              </a:ext>
            </a:extLst>
          </p:cNvPr>
          <p:cNvSpPr/>
          <p:nvPr/>
        </p:nvSpPr>
        <p:spPr>
          <a:xfrm>
            <a:off x="1232682" y="1106424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884A9-3F4E-3EBD-536E-26E36F5C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B9B5C2-F3D2-6199-0C8C-9433E50E8F9C}"/>
              </a:ext>
            </a:extLst>
          </p:cNvPr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Color Node 1 (Green)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A809D9-075C-86B2-2CE4-C2444357BF03}"/>
              </a:ext>
            </a:extLst>
          </p:cNvPr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D9A50E-65F1-2CC8-9E7C-3BCD51B767A9}"/>
              </a:ext>
            </a:extLst>
          </p:cNvPr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node 1 to Set A. Enqueue neighbors 2 and 3.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A08A2F-BF85-CD66-5D0C-7D04DEEADB2D}"/>
              </a:ext>
            </a:extLst>
          </p:cNvPr>
          <p:cNvSpPr/>
          <p:nvPr/>
        </p:nvSpPr>
        <p:spPr>
          <a:xfrm>
            <a:off x="0" y="1060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BC201A-7AB4-CA7E-2A6A-459D62C9A2BD}"/>
              </a:ext>
            </a:extLst>
          </p:cNvPr>
          <p:cNvSpPr/>
          <p:nvPr/>
        </p:nvSpPr>
        <p:spPr>
          <a:xfrm>
            <a:off x="1188720" y="1078992"/>
            <a:ext cx="4572000" cy="3200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02A9CA-8905-52ED-74F7-8717FD429725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1F05BC-C4AC-FC06-F379-9BE58A147521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494EBB1-B93D-9AD7-A774-C0191FAD99F2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CD1017-DAA1-A57F-3413-C33BE791206B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DB0BF1-0644-30DA-E21F-3DCFD1160533}"/>
              </a:ext>
            </a:extLst>
          </p:cNvPr>
          <p:cNvSpPr/>
          <p:nvPr/>
        </p:nvSpPr>
        <p:spPr>
          <a:xfrm>
            <a:off x="118872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F6944D6-9E9B-27C7-B8B4-89C2FFD4EB9E}"/>
              </a:ext>
            </a:extLst>
          </p:cNvPr>
          <p:cNvSpPr/>
          <p:nvPr/>
        </p:nvSpPr>
        <p:spPr>
          <a:xfrm>
            <a:off x="502920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← IN (enqueue)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6E79785-D312-4C63-7A10-74303989271F}"/>
              </a:ext>
            </a:extLst>
          </p:cNvPr>
          <p:cNvSpPr/>
          <p:nvPr/>
        </p:nvSpPr>
        <p:spPr>
          <a:xfrm>
            <a:off x="274320" y="1755648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7D37CEA-4AE0-14CE-F42F-F90B684DF355}"/>
              </a:ext>
            </a:extLst>
          </p:cNvPr>
          <p:cNvSpPr/>
          <p:nvPr/>
        </p:nvSpPr>
        <p:spPr>
          <a:xfrm>
            <a:off x="59436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5AF5BC5-2ED1-9EAE-C576-8EAE9140B0BB}"/>
              </a:ext>
            </a:extLst>
          </p:cNvPr>
          <p:cNvSpPr/>
          <p:nvPr/>
        </p:nvSpPr>
        <p:spPr>
          <a:xfrm>
            <a:off x="274320" y="213969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5528A2C-B2B7-FB3F-93CC-14AE5EBAC452}"/>
              </a:ext>
            </a:extLst>
          </p:cNvPr>
          <p:cNvSpPr/>
          <p:nvPr/>
        </p:nvSpPr>
        <p:spPr>
          <a:xfrm>
            <a:off x="594360" y="2139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A (Green)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ECAE516-7966-FB61-80A0-5F988BFA33E8}"/>
              </a:ext>
            </a:extLst>
          </p:cNvPr>
          <p:cNvSpPr/>
          <p:nvPr/>
        </p:nvSpPr>
        <p:spPr>
          <a:xfrm>
            <a:off x="274320" y="252374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90DE79B-A55C-A7F9-6F8D-AEE8F8C1A188}"/>
              </a:ext>
            </a:extLst>
          </p:cNvPr>
          <p:cNvSpPr/>
          <p:nvPr/>
        </p:nvSpPr>
        <p:spPr>
          <a:xfrm>
            <a:off x="59436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B (Blue)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212AF9A-84B1-2038-1264-D971F49C1F33}"/>
              </a:ext>
            </a:extLst>
          </p:cNvPr>
          <p:cNvSpPr/>
          <p:nvPr/>
        </p:nvSpPr>
        <p:spPr>
          <a:xfrm>
            <a:off x="274320" y="290779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7FF243E-0182-94A2-CFF4-684FAD5269E0}"/>
              </a:ext>
            </a:extLst>
          </p:cNvPr>
          <p:cNvSpPr/>
          <p:nvPr/>
        </p:nvSpPr>
        <p:spPr>
          <a:xfrm>
            <a:off x="59436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Uncolored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A4BBBAC-68FE-A6A9-F663-36C7610E51C7}"/>
              </a:ext>
            </a:extLst>
          </p:cNvPr>
          <p:cNvSpPr/>
          <p:nvPr/>
        </p:nvSpPr>
        <p:spPr>
          <a:xfrm flipH="1">
            <a:off x="50292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331A80C-78B2-1086-1D88-D49069CEB9A3}"/>
              </a:ext>
            </a:extLst>
          </p:cNvPr>
          <p:cNvSpPr/>
          <p:nvPr/>
        </p:nvSpPr>
        <p:spPr>
          <a:xfrm>
            <a:off x="59436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0C3BA00-7392-8832-3900-EB81DA1968A5}"/>
              </a:ext>
            </a:extLst>
          </p:cNvPr>
          <p:cNvSpPr/>
          <p:nvPr/>
        </p:nvSpPr>
        <p:spPr>
          <a:xfrm flipH="1">
            <a:off x="45720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4C9DB62-223E-541D-A17A-F1E18D9C5AE8}"/>
              </a:ext>
            </a:extLst>
          </p:cNvPr>
          <p:cNvSpPr/>
          <p:nvPr/>
        </p:nvSpPr>
        <p:spPr>
          <a:xfrm flipH="1">
            <a:off x="64008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3AF9A74-F3BF-FE1F-A7F7-D03D991FAC9A}"/>
              </a:ext>
            </a:extLst>
          </p:cNvPr>
          <p:cNvSpPr/>
          <p:nvPr/>
        </p:nvSpPr>
        <p:spPr>
          <a:xfrm>
            <a:off x="45720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882C336-AE2F-2E84-C91B-355D4F98D925}"/>
              </a:ext>
            </a:extLst>
          </p:cNvPr>
          <p:cNvSpPr/>
          <p:nvPr/>
        </p:nvSpPr>
        <p:spPr>
          <a:xfrm flipH="1">
            <a:off x="54864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27F2B6C-E037-F21B-6BCB-B69560F0A104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1A004B8-DB4A-D489-BA62-02199019E50F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2EAB061-FEF8-B58A-4192-27939ED61F1A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7111FE0-6770-B621-7973-69ECDE922321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621A4FA-CE59-5B4D-0B2B-A0997103898D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4635927-E5C7-F0FE-5E77-D7BC4757C8A8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8868B42-C64A-692D-FA24-AA92A27178C7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03E6754-7DED-4747-E78C-B76B7ED054C7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D936C4A-1A39-8C55-4EE8-603C0CC48412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5724537-36EE-A7F2-6E62-C38A7CE2B828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A26F526-7991-ECA9-1FAA-9DF5F736C759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CAAB8AD-5CA1-D98B-8353-68E1C74A1256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84FE3DA-A480-9091-B7DA-C0006A1C9174}"/>
              </a:ext>
            </a:extLst>
          </p:cNvPr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DF72B6D-7237-ADE0-0D61-4F5B6CC35D90}"/>
              </a:ext>
            </a:extLst>
          </p:cNvPr>
          <p:cNvSpPr/>
          <p:nvPr/>
        </p:nvSpPr>
        <p:spPr>
          <a:xfrm>
            <a:off x="16916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C36C4232-3F37-52FD-8FAF-DBAEC1966882}"/>
              </a:ext>
            </a:extLst>
          </p:cNvPr>
          <p:cNvSpPr/>
          <p:nvPr/>
        </p:nvSpPr>
        <p:spPr>
          <a:xfrm>
            <a:off x="676656" y="1122602"/>
            <a:ext cx="475488" cy="246888"/>
          </a:xfrm>
          <a:prstGeom prst="rect">
            <a:avLst/>
          </a:prstGeom>
          <a:solidFill>
            <a:srgbClr val="F1C40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613A3817-DB07-15FE-974D-015A5085A8F6}"/>
              </a:ext>
            </a:extLst>
          </p:cNvPr>
          <p:cNvSpPr/>
          <p:nvPr/>
        </p:nvSpPr>
        <p:spPr>
          <a:xfrm>
            <a:off x="690372" y="1127877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5012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17D67-777A-2B91-8CD8-7FE6D2BB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3DB1A7-901F-FED3-B759-51536533C3F2}"/>
              </a:ext>
            </a:extLst>
          </p:cNvPr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Color Node 1 (Green)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68C4C4-440D-35E8-8B4C-AD9B885CBCB7}"/>
              </a:ext>
            </a:extLst>
          </p:cNvPr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ABBC7D-3315-6FA7-837B-F9996FCF7B81}"/>
              </a:ext>
            </a:extLst>
          </p:cNvPr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node 1 to Set A. Enqueue neighbors 2 and 3.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8CA410-61BE-BEFE-7329-AA2E7B5F3308}"/>
              </a:ext>
            </a:extLst>
          </p:cNvPr>
          <p:cNvSpPr/>
          <p:nvPr/>
        </p:nvSpPr>
        <p:spPr>
          <a:xfrm>
            <a:off x="0" y="1060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3C5ACC-4C10-EE1D-DC89-69781B1F12DB}"/>
              </a:ext>
            </a:extLst>
          </p:cNvPr>
          <p:cNvSpPr/>
          <p:nvPr/>
        </p:nvSpPr>
        <p:spPr>
          <a:xfrm>
            <a:off x="1188720" y="1078992"/>
            <a:ext cx="4572000" cy="3200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93AF0D-A865-6F85-AFCC-EC1AD98FA109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318C1C1-94DF-F350-C038-60A419EB0A29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5AF459B-11D3-6D6B-F36C-E23EA607CE59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6AD9B76-A70F-B888-5AD3-C16AE8216722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4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902A4D1-F19F-76F9-F1B7-D41972312204}"/>
              </a:ext>
            </a:extLst>
          </p:cNvPr>
          <p:cNvSpPr/>
          <p:nvPr/>
        </p:nvSpPr>
        <p:spPr>
          <a:xfrm>
            <a:off x="118872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B59859-CBF6-8CB8-4F85-F48163237BE5}"/>
              </a:ext>
            </a:extLst>
          </p:cNvPr>
          <p:cNvSpPr/>
          <p:nvPr/>
        </p:nvSpPr>
        <p:spPr>
          <a:xfrm>
            <a:off x="502920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← IN (enqueue)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3766AA5-8D79-8ECD-377B-8B6EAF1DC623}"/>
              </a:ext>
            </a:extLst>
          </p:cNvPr>
          <p:cNvSpPr/>
          <p:nvPr/>
        </p:nvSpPr>
        <p:spPr>
          <a:xfrm>
            <a:off x="274320" y="1755648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05BFCD-E718-896D-C560-CCD65A104999}"/>
              </a:ext>
            </a:extLst>
          </p:cNvPr>
          <p:cNvSpPr/>
          <p:nvPr/>
        </p:nvSpPr>
        <p:spPr>
          <a:xfrm>
            <a:off x="59436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094F70E-7B41-A827-C2D7-0B890514B420}"/>
              </a:ext>
            </a:extLst>
          </p:cNvPr>
          <p:cNvSpPr/>
          <p:nvPr/>
        </p:nvSpPr>
        <p:spPr>
          <a:xfrm>
            <a:off x="274320" y="213969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F8CC044-3F8E-5471-F16D-B6C4DF45B24F}"/>
              </a:ext>
            </a:extLst>
          </p:cNvPr>
          <p:cNvSpPr/>
          <p:nvPr/>
        </p:nvSpPr>
        <p:spPr>
          <a:xfrm>
            <a:off x="594360" y="2139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A (Green)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73CFBE0-CB7E-8FD7-0DFC-25F8FEEB3DEA}"/>
              </a:ext>
            </a:extLst>
          </p:cNvPr>
          <p:cNvSpPr/>
          <p:nvPr/>
        </p:nvSpPr>
        <p:spPr>
          <a:xfrm>
            <a:off x="274320" y="252374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7E3E21E-CDC4-03A2-52E1-47E27F84286C}"/>
              </a:ext>
            </a:extLst>
          </p:cNvPr>
          <p:cNvSpPr/>
          <p:nvPr/>
        </p:nvSpPr>
        <p:spPr>
          <a:xfrm>
            <a:off x="59436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B (Blue)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DDB640F-FF74-2A88-1DB0-41ED0B57794E}"/>
              </a:ext>
            </a:extLst>
          </p:cNvPr>
          <p:cNvSpPr/>
          <p:nvPr/>
        </p:nvSpPr>
        <p:spPr>
          <a:xfrm>
            <a:off x="274320" y="290779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6CA7B9C-98B4-2613-5406-293CBB06CDE7}"/>
              </a:ext>
            </a:extLst>
          </p:cNvPr>
          <p:cNvSpPr/>
          <p:nvPr/>
        </p:nvSpPr>
        <p:spPr>
          <a:xfrm>
            <a:off x="59436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Uncolored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220B961-BD1F-84A6-D5A6-0A3D25100FC1}"/>
              </a:ext>
            </a:extLst>
          </p:cNvPr>
          <p:cNvSpPr/>
          <p:nvPr/>
        </p:nvSpPr>
        <p:spPr>
          <a:xfrm flipH="1">
            <a:off x="50292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BE07C28-056A-EDE8-DAB3-C50369297A6D}"/>
              </a:ext>
            </a:extLst>
          </p:cNvPr>
          <p:cNvSpPr/>
          <p:nvPr/>
        </p:nvSpPr>
        <p:spPr>
          <a:xfrm>
            <a:off x="59436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42D6958-F358-6CE9-B56C-E45ACE47BF20}"/>
              </a:ext>
            </a:extLst>
          </p:cNvPr>
          <p:cNvSpPr/>
          <p:nvPr/>
        </p:nvSpPr>
        <p:spPr>
          <a:xfrm flipH="1">
            <a:off x="45720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8A87B36-1F39-E528-B286-75674D675954}"/>
              </a:ext>
            </a:extLst>
          </p:cNvPr>
          <p:cNvSpPr/>
          <p:nvPr/>
        </p:nvSpPr>
        <p:spPr>
          <a:xfrm flipH="1">
            <a:off x="64008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6495F92-C26F-0528-0A46-B23B4BB4610A}"/>
              </a:ext>
            </a:extLst>
          </p:cNvPr>
          <p:cNvSpPr/>
          <p:nvPr/>
        </p:nvSpPr>
        <p:spPr>
          <a:xfrm>
            <a:off x="45720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58AF06A-7F8B-C605-D15E-92CC5B60AA07}"/>
              </a:ext>
            </a:extLst>
          </p:cNvPr>
          <p:cNvSpPr/>
          <p:nvPr/>
        </p:nvSpPr>
        <p:spPr>
          <a:xfrm flipH="1">
            <a:off x="54864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F6E3B58-AE75-A418-F0ED-1EF72A256BFC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AB6B055-437C-FD2D-84A4-603367E70628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CB67546-57F2-5617-418D-794125FD61EE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6AF3A74-A41B-422F-4C58-34F4AFF0E784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A290281-07B8-6AFC-0E13-3F7AEF9DCEC5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61B5C1D-3606-C0C1-57D9-416980ED09B6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443796D-3390-DDF2-D4FD-CCF8267C9EB8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6AC4092-976E-6AA6-91F1-21EB4E25B007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0311C76-6DA9-5CE4-3380-01DF7F5939C3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724DC66-1037-F0DF-D203-E3E75FF4679D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D3044089-108C-9C5F-A88A-E73133B43187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696D16B-B7AA-81F7-7AAB-FAAAA603B2DF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1C60C0E-9D77-FD15-D4DA-09244DFFC12C}"/>
              </a:ext>
            </a:extLst>
          </p:cNvPr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35415F0-C5AE-ADE4-8AB9-9C27C1052205}"/>
              </a:ext>
            </a:extLst>
          </p:cNvPr>
          <p:cNvSpPr/>
          <p:nvPr/>
        </p:nvSpPr>
        <p:spPr>
          <a:xfrm>
            <a:off x="16916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5CD3AD25-FF22-22F4-5B97-096C052EE981}"/>
              </a:ext>
            </a:extLst>
          </p:cNvPr>
          <p:cNvSpPr/>
          <p:nvPr/>
        </p:nvSpPr>
        <p:spPr>
          <a:xfrm>
            <a:off x="676656" y="1122602"/>
            <a:ext cx="475488" cy="246888"/>
          </a:xfrm>
          <a:prstGeom prst="rect">
            <a:avLst/>
          </a:prstGeom>
          <a:solidFill>
            <a:srgbClr val="F1C40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0807E28A-9971-D748-4099-E3C014D286A4}"/>
              </a:ext>
            </a:extLst>
          </p:cNvPr>
          <p:cNvSpPr/>
          <p:nvPr/>
        </p:nvSpPr>
        <p:spPr>
          <a:xfrm>
            <a:off x="690372" y="1127877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2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7669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CFF914-A668-2954-0196-E8D4F930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925EE0-6361-85E1-1FA6-D0F6520342C4}"/>
              </a:ext>
            </a:extLst>
          </p:cNvPr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Color Node 1 (Green)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C1FB4A-61A0-3D2D-A9C5-DD525FF8377F}"/>
              </a:ext>
            </a:extLst>
          </p:cNvPr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484B12-9DA4-71AE-9071-29170027FD5D}"/>
              </a:ext>
            </a:extLst>
          </p:cNvPr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node 1 to Set A. Enqueue neighbors 2 and 3.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DC6A812-C5C4-32AE-79CA-D448534C4881}"/>
              </a:ext>
            </a:extLst>
          </p:cNvPr>
          <p:cNvSpPr/>
          <p:nvPr/>
        </p:nvSpPr>
        <p:spPr>
          <a:xfrm>
            <a:off x="0" y="1060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94DF29B-FFCB-FD54-4399-23168E2B7939}"/>
              </a:ext>
            </a:extLst>
          </p:cNvPr>
          <p:cNvSpPr/>
          <p:nvPr/>
        </p:nvSpPr>
        <p:spPr>
          <a:xfrm>
            <a:off x="1188720" y="1078992"/>
            <a:ext cx="4572000" cy="3200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A6825AB-F80D-60C4-5E6C-012DD889EEAA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1D3D65-4271-A1F2-DCC6-F1D78D4FB28E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4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783C77B-7465-224A-20BE-4605D74A646A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BC79A9-9234-B47C-572B-4F5B94949714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5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A964A3-1163-AC20-DED9-9D4598E3CDDD}"/>
              </a:ext>
            </a:extLst>
          </p:cNvPr>
          <p:cNvSpPr/>
          <p:nvPr/>
        </p:nvSpPr>
        <p:spPr>
          <a:xfrm>
            <a:off x="118872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FC86022-3E98-79AE-B966-8253C928C938}"/>
              </a:ext>
            </a:extLst>
          </p:cNvPr>
          <p:cNvSpPr/>
          <p:nvPr/>
        </p:nvSpPr>
        <p:spPr>
          <a:xfrm>
            <a:off x="274320" y="1755648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71906B0-B015-1C9D-C8CD-5A8084F23C69}"/>
              </a:ext>
            </a:extLst>
          </p:cNvPr>
          <p:cNvSpPr/>
          <p:nvPr/>
        </p:nvSpPr>
        <p:spPr>
          <a:xfrm>
            <a:off x="59436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FF49925-6EB0-EFFF-5D69-E4663CEFBF13}"/>
              </a:ext>
            </a:extLst>
          </p:cNvPr>
          <p:cNvSpPr/>
          <p:nvPr/>
        </p:nvSpPr>
        <p:spPr>
          <a:xfrm>
            <a:off x="274320" y="213969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8BDF0CE-D6D4-C49F-C819-4937D4C268F3}"/>
              </a:ext>
            </a:extLst>
          </p:cNvPr>
          <p:cNvSpPr/>
          <p:nvPr/>
        </p:nvSpPr>
        <p:spPr>
          <a:xfrm>
            <a:off x="594360" y="2139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A (Green)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0EFAA7D-DF5D-9025-1865-09144EFBE346}"/>
              </a:ext>
            </a:extLst>
          </p:cNvPr>
          <p:cNvSpPr/>
          <p:nvPr/>
        </p:nvSpPr>
        <p:spPr>
          <a:xfrm>
            <a:off x="274320" y="252374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1C2DE76-D1F5-5E99-053A-FC94A6E76079}"/>
              </a:ext>
            </a:extLst>
          </p:cNvPr>
          <p:cNvSpPr/>
          <p:nvPr/>
        </p:nvSpPr>
        <p:spPr>
          <a:xfrm>
            <a:off x="59436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B (Blue)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2D7535A-FF22-AAC8-498A-0B06B0844477}"/>
              </a:ext>
            </a:extLst>
          </p:cNvPr>
          <p:cNvSpPr/>
          <p:nvPr/>
        </p:nvSpPr>
        <p:spPr>
          <a:xfrm>
            <a:off x="274320" y="290779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3C82A37-CFA8-4935-833F-FFD0E9AFAE52}"/>
              </a:ext>
            </a:extLst>
          </p:cNvPr>
          <p:cNvSpPr/>
          <p:nvPr/>
        </p:nvSpPr>
        <p:spPr>
          <a:xfrm>
            <a:off x="59436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Uncolored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3182C77-C669-1747-6555-7BF20B619AFD}"/>
              </a:ext>
            </a:extLst>
          </p:cNvPr>
          <p:cNvSpPr/>
          <p:nvPr/>
        </p:nvSpPr>
        <p:spPr>
          <a:xfrm flipH="1">
            <a:off x="50292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0443020-89B5-FB60-946C-BB1AAAA273F9}"/>
              </a:ext>
            </a:extLst>
          </p:cNvPr>
          <p:cNvSpPr/>
          <p:nvPr/>
        </p:nvSpPr>
        <p:spPr>
          <a:xfrm>
            <a:off x="59436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08A8A81-2153-0307-488D-57F21E99E73C}"/>
              </a:ext>
            </a:extLst>
          </p:cNvPr>
          <p:cNvSpPr/>
          <p:nvPr/>
        </p:nvSpPr>
        <p:spPr>
          <a:xfrm flipH="1">
            <a:off x="45720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DA6B549-DA03-C820-0493-4D43797B3210}"/>
              </a:ext>
            </a:extLst>
          </p:cNvPr>
          <p:cNvSpPr/>
          <p:nvPr/>
        </p:nvSpPr>
        <p:spPr>
          <a:xfrm flipH="1">
            <a:off x="64008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7A3F95E-8FFF-F8D4-38FE-73781F26649C}"/>
              </a:ext>
            </a:extLst>
          </p:cNvPr>
          <p:cNvSpPr/>
          <p:nvPr/>
        </p:nvSpPr>
        <p:spPr>
          <a:xfrm>
            <a:off x="45720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8FDD337-8857-BA68-2936-55B68CD4C6B8}"/>
              </a:ext>
            </a:extLst>
          </p:cNvPr>
          <p:cNvSpPr/>
          <p:nvPr/>
        </p:nvSpPr>
        <p:spPr>
          <a:xfrm flipH="1">
            <a:off x="54864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9DB1496-5B09-C6EE-033C-F32E7D7E07B6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9909855-93AD-8869-7F4B-961833151127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616BDE4-CBC7-F61B-4883-1F629F552141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159CED8-9EF7-6010-194F-3F9946536C92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2C1D297-7E99-7CA2-AD77-61DD2BC4E14A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8304868-19EF-40DB-E764-95A7CA435AD8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F8F2574-5A52-F906-BA82-FDDF8DF22DA4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F1BAC35-E09A-00A2-29BA-116E46A9FA62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E11960B-00F1-50DA-D545-DD1971F74B28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D244BDC-4298-707D-D103-3F8C72C32B4E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B59A315-BAFF-0429-B036-BBEA032F70DF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ellipse">
            <a:avLst/>
          </a:prstGeom>
          <a:solidFill>
            <a:srgbClr val="7F8C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4449D34-A6F9-9B2F-BF05-D605F7A745B5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2BE1214-4343-8411-6C72-21A6DBB9A5D5}"/>
              </a:ext>
            </a:extLst>
          </p:cNvPr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081B9D1-BE8F-0CCF-BB6B-7577690CEEB2}"/>
              </a:ext>
            </a:extLst>
          </p:cNvPr>
          <p:cNvSpPr/>
          <p:nvPr/>
        </p:nvSpPr>
        <p:spPr>
          <a:xfrm>
            <a:off x="16916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F5798611-A567-1785-176E-81EF847C913D}"/>
              </a:ext>
            </a:extLst>
          </p:cNvPr>
          <p:cNvSpPr/>
          <p:nvPr/>
        </p:nvSpPr>
        <p:spPr>
          <a:xfrm>
            <a:off x="676656" y="1122602"/>
            <a:ext cx="475488" cy="246888"/>
          </a:xfrm>
          <a:prstGeom prst="rect">
            <a:avLst/>
          </a:prstGeom>
          <a:solidFill>
            <a:srgbClr val="F1C40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6A6760C2-D915-73F7-CF97-2348B867A55E}"/>
              </a:ext>
            </a:extLst>
          </p:cNvPr>
          <p:cNvSpPr/>
          <p:nvPr/>
        </p:nvSpPr>
        <p:spPr>
          <a:xfrm>
            <a:off x="690372" y="1127877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68893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3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3899E-68AF-BC03-81FA-9EF24224F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AC87E5-562E-0D7E-B68B-3D457DFAC2E0}"/>
              </a:ext>
            </a:extLst>
          </p:cNvPr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Color Node 1 (Green)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0F49E6-3FD2-841C-3A3B-7884213CD771}"/>
              </a:ext>
            </a:extLst>
          </p:cNvPr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6D2403-A203-258A-92D1-07D40200A7D0}"/>
              </a:ext>
            </a:extLst>
          </p:cNvPr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node 1 to Set A. Enqueue neighbors 2 and 3.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34E90F-BE49-3689-FC2F-1D30D523D8A3}"/>
              </a:ext>
            </a:extLst>
          </p:cNvPr>
          <p:cNvSpPr/>
          <p:nvPr/>
        </p:nvSpPr>
        <p:spPr>
          <a:xfrm>
            <a:off x="0" y="10607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1477D50-2301-F6DE-B894-0EC36E81E0A7}"/>
              </a:ext>
            </a:extLst>
          </p:cNvPr>
          <p:cNvSpPr/>
          <p:nvPr/>
        </p:nvSpPr>
        <p:spPr>
          <a:xfrm>
            <a:off x="1188720" y="1078992"/>
            <a:ext cx="4572000" cy="3200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F8C187E-922A-FBA9-60F6-3BDA3C0BC52A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6C6076-2895-1AF0-19EF-8247B60E6C6E}"/>
              </a:ext>
            </a:extLst>
          </p:cNvPr>
          <p:cNvSpPr/>
          <p:nvPr/>
        </p:nvSpPr>
        <p:spPr>
          <a:xfrm>
            <a:off x="123444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5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70399B-8179-BF0C-8E40-87E613F01380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solidFill>
            <a:srgbClr val="242847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B176326-8B81-A03A-97B0-2D026C8EF79D}"/>
              </a:ext>
            </a:extLst>
          </p:cNvPr>
          <p:cNvSpPr/>
          <p:nvPr/>
        </p:nvSpPr>
        <p:spPr>
          <a:xfrm>
            <a:off x="1783080" y="11155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6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32F183-6600-2FF1-7AF1-84FCC01E56A3}"/>
              </a:ext>
            </a:extLst>
          </p:cNvPr>
          <p:cNvSpPr/>
          <p:nvPr/>
        </p:nvSpPr>
        <p:spPr>
          <a:xfrm>
            <a:off x="1188720" y="1417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</a:rPr>
              <a:t>← OUT (dequeue)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7631445-C6CD-DA5A-46FB-0DA63939A45A}"/>
              </a:ext>
            </a:extLst>
          </p:cNvPr>
          <p:cNvSpPr/>
          <p:nvPr/>
        </p:nvSpPr>
        <p:spPr>
          <a:xfrm>
            <a:off x="274320" y="1755648"/>
            <a:ext cx="256032" cy="256032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FE0726C-170E-B81C-0AD5-B1448F5372B4}"/>
              </a:ext>
            </a:extLst>
          </p:cNvPr>
          <p:cNvSpPr/>
          <p:nvPr/>
        </p:nvSpPr>
        <p:spPr>
          <a:xfrm>
            <a:off x="594360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Current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8691BA0-A5DF-8AE9-1B9D-D4F19D355538}"/>
              </a:ext>
            </a:extLst>
          </p:cNvPr>
          <p:cNvSpPr/>
          <p:nvPr/>
        </p:nvSpPr>
        <p:spPr>
          <a:xfrm>
            <a:off x="274320" y="2139696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61C1E1-8B35-EAE2-0E61-C9ACB019AA23}"/>
              </a:ext>
            </a:extLst>
          </p:cNvPr>
          <p:cNvSpPr/>
          <p:nvPr/>
        </p:nvSpPr>
        <p:spPr>
          <a:xfrm>
            <a:off x="594360" y="2139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A (Green)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E1E9970-56AF-93E5-342A-2CE1DC6DD59F}"/>
              </a:ext>
            </a:extLst>
          </p:cNvPr>
          <p:cNvSpPr/>
          <p:nvPr/>
        </p:nvSpPr>
        <p:spPr>
          <a:xfrm>
            <a:off x="274320" y="2523744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DEFA655-0182-2002-8C70-A1A6F0E800DD}"/>
              </a:ext>
            </a:extLst>
          </p:cNvPr>
          <p:cNvSpPr/>
          <p:nvPr/>
        </p:nvSpPr>
        <p:spPr>
          <a:xfrm>
            <a:off x="594360" y="2523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B (Blue)</a:t>
            </a:r>
            <a:endParaRPr lang="en-US" sz="11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C7DEC1A-27AA-5474-F482-9978D75FA5E2}"/>
              </a:ext>
            </a:extLst>
          </p:cNvPr>
          <p:cNvSpPr/>
          <p:nvPr/>
        </p:nvSpPr>
        <p:spPr>
          <a:xfrm>
            <a:off x="274320" y="2907792"/>
            <a:ext cx="256032" cy="25603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5BC25DE-74D4-D9D7-F2B8-E72E07244986}"/>
              </a:ext>
            </a:extLst>
          </p:cNvPr>
          <p:cNvSpPr/>
          <p:nvPr/>
        </p:nvSpPr>
        <p:spPr>
          <a:xfrm>
            <a:off x="594360" y="2907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Uncolored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CB0E2B5-9C0B-F417-A208-E4058205FAA8}"/>
              </a:ext>
            </a:extLst>
          </p:cNvPr>
          <p:cNvSpPr/>
          <p:nvPr/>
        </p:nvSpPr>
        <p:spPr>
          <a:xfrm flipH="1">
            <a:off x="50292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E3CB8B3-44CF-6C66-4503-DB54E8F7FAA3}"/>
              </a:ext>
            </a:extLst>
          </p:cNvPr>
          <p:cNvSpPr/>
          <p:nvPr/>
        </p:nvSpPr>
        <p:spPr>
          <a:xfrm>
            <a:off x="5943600" y="146304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0958276-CC94-716E-C185-049CC0C9E69D}"/>
              </a:ext>
            </a:extLst>
          </p:cNvPr>
          <p:cNvSpPr/>
          <p:nvPr/>
        </p:nvSpPr>
        <p:spPr>
          <a:xfrm flipH="1">
            <a:off x="45720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44277CF-61AB-AAA3-EE4E-EC18E19767DD}"/>
              </a:ext>
            </a:extLst>
          </p:cNvPr>
          <p:cNvSpPr/>
          <p:nvPr/>
        </p:nvSpPr>
        <p:spPr>
          <a:xfrm flipH="1">
            <a:off x="6400800" y="2468880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173F01D-FFAB-4CC5-0897-F293F39090C4}"/>
              </a:ext>
            </a:extLst>
          </p:cNvPr>
          <p:cNvSpPr/>
          <p:nvPr/>
        </p:nvSpPr>
        <p:spPr>
          <a:xfrm>
            <a:off x="45720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67E85DF-BEBE-B702-9ED7-837EA8DDC575}"/>
              </a:ext>
            </a:extLst>
          </p:cNvPr>
          <p:cNvSpPr/>
          <p:nvPr/>
        </p:nvSpPr>
        <p:spPr>
          <a:xfrm flipH="1">
            <a:off x="5486400" y="3566160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748C013-CEBF-4A86-6107-5C61CAA739C6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3B31B94-0A89-E99A-1A42-75A6F8E68ECA}"/>
              </a:ext>
            </a:extLst>
          </p:cNvPr>
          <p:cNvSpPr/>
          <p:nvPr/>
        </p:nvSpPr>
        <p:spPr>
          <a:xfrm>
            <a:off x="5650992" y="11704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18DF566-6ED5-595B-2412-96C8269D9A95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EED32D5-DDEC-AA47-F715-D6DC4A73A2A2}"/>
              </a:ext>
            </a:extLst>
          </p:cNvPr>
          <p:cNvSpPr/>
          <p:nvPr/>
        </p:nvSpPr>
        <p:spPr>
          <a:xfrm>
            <a:off x="47365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113A481-DFBC-2F82-2380-1BC3CE8958CD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6B5F748-7CB0-2DFE-1677-B2627AAB121A}"/>
              </a:ext>
            </a:extLst>
          </p:cNvPr>
          <p:cNvSpPr/>
          <p:nvPr/>
        </p:nvSpPr>
        <p:spPr>
          <a:xfrm>
            <a:off x="6565392" y="2176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F6195FE-6E9F-1A1C-2695-3538907902B9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68D735F-8EB2-3AC7-0F8B-0CB67354E01D}"/>
              </a:ext>
            </a:extLst>
          </p:cNvPr>
          <p:cNvSpPr/>
          <p:nvPr/>
        </p:nvSpPr>
        <p:spPr>
          <a:xfrm>
            <a:off x="42793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F9BFA54-AE7C-2409-6065-059429764181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6AA4BF0-F06E-CD95-C34D-CA29F3FACF2E}"/>
              </a:ext>
            </a:extLst>
          </p:cNvPr>
          <p:cNvSpPr/>
          <p:nvPr/>
        </p:nvSpPr>
        <p:spPr>
          <a:xfrm>
            <a:off x="6108192" y="3273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CAF1F21-CEB2-2305-E52C-9ED96760C765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40DAE9D-EE12-0918-D6F9-64079CEAB436}"/>
              </a:ext>
            </a:extLst>
          </p:cNvPr>
          <p:cNvSpPr/>
          <p:nvPr/>
        </p:nvSpPr>
        <p:spPr>
          <a:xfrm>
            <a:off x="5193792" y="4279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B4EF266-3AB7-717C-DB99-DBAA342674CA}"/>
              </a:ext>
            </a:extLst>
          </p:cNvPr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579D6EF-EBEB-48E0-3D05-7AD7D9547998}"/>
              </a:ext>
            </a:extLst>
          </p:cNvPr>
          <p:cNvSpPr/>
          <p:nvPr/>
        </p:nvSpPr>
        <p:spPr>
          <a:xfrm>
            <a:off x="169164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Shape 5">
            <a:extLst>
              <a:ext uri="{FF2B5EF4-FFF2-40B4-BE49-F238E27FC236}">
                <a16:creationId xmlns:a16="http://schemas.microsoft.com/office/drawing/2014/main" id="{3C30D15F-FFB7-992D-3B62-41DD2A83706C}"/>
              </a:ext>
            </a:extLst>
          </p:cNvPr>
          <p:cNvSpPr/>
          <p:nvPr/>
        </p:nvSpPr>
        <p:spPr>
          <a:xfrm>
            <a:off x="676656" y="1122602"/>
            <a:ext cx="475488" cy="246888"/>
          </a:xfrm>
          <a:prstGeom prst="rect">
            <a:avLst/>
          </a:prstGeom>
          <a:solidFill>
            <a:srgbClr val="F1C40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F14E7476-9E47-657F-BC81-5EB618FD0C8C}"/>
              </a:ext>
            </a:extLst>
          </p:cNvPr>
          <p:cNvSpPr/>
          <p:nvPr/>
        </p:nvSpPr>
        <p:spPr>
          <a:xfrm>
            <a:off x="690372" y="1127877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98DB"/>
                </a:solidFill>
              </a:rPr>
              <a:t>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7661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Color 4, 5, 6 — Done! 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nodes get colored. No conflicts found!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Queue: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078992"/>
            <a:ext cx="4572000" cy="3200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5555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15568"/>
            <a:ext cx="4114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</a:rPr>
              <a:t>( empty 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CC71"/>
                </a:solidFill>
              </a:rPr>
              <a:t>← Queue empty — algorithm complete!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256032" cy="25603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55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A: 1, 4, 6?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39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Set B: 2, 3,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49455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No conflicts found!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>
            <a:off x="6144768" y="145389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9168" y="145389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5687568" y="2459736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7516368" y="2459736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7568" y="355701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6601968" y="355701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161288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161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852160" y="2167128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67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80960" y="2167128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0" y="2167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94960" y="3264408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264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23760" y="3264408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264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09360" y="4270248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270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68109" y="3982212"/>
            <a:ext cx="4572000" cy="502920"/>
          </a:xfrm>
          <a:prstGeom prst="rect">
            <a:avLst/>
          </a:prstGeom>
          <a:solidFill>
            <a:srgbClr val="1A4A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96568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✓ BIPARTITE! Green = {1,4,5} | Blue = {2,3,6}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C3C7"/>
                </a:solidFill>
              </a:rPr>
              <a:t>Visit order: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9164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1 → 2 → 3 → 4 → 5 → 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Two-Coloring Level by Level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alternates colors at every level — that's the key!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560320" cy="594360"/>
          </a:xfrm>
          <a:prstGeom prst="rect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0: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2560320" cy="594360"/>
          </a:xfrm>
          <a:prstGeom prst="rect">
            <a:avLst/>
          </a:prstGeom>
          <a:solidFill>
            <a:srgbClr val="3498DB">
              <a:alpha val="3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57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1: 2,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2560320" cy="594360"/>
          </a:xfrm>
          <a:prstGeom prst="rect">
            <a:avLst/>
          </a:prstGeom>
          <a:solidFill>
            <a:srgbClr val="2ECC71">
              <a:alpha val="3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346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2: 4, 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5217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C71"/>
                </a:solidFill>
              </a:rPr>
              <a:t>BFS order: 1 → 2 → 3 → 4 → 5 → 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18204" y="1280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</a:rPr>
              <a:t>L0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2295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</a:rPr>
              <a:t>L1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34198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</a:rPr>
              <a:t>L2</a:t>
            </a:r>
            <a:endParaRPr lang="en-US" sz="1000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515C5826-D53F-3B48-07CC-6346818B0527}"/>
              </a:ext>
            </a:extLst>
          </p:cNvPr>
          <p:cNvSpPr/>
          <p:nvPr/>
        </p:nvSpPr>
        <p:spPr>
          <a:xfrm flipH="1">
            <a:off x="6144768" y="145389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9A4BCD59-5867-D129-6B6B-F01EA7BF8E58}"/>
              </a:ext>
            </a:extLst>
          </p:cNvPr>
          <p:cNvSpPr/>
          <p:nvPr/>
        </p:nvSpPr>
        <p:spPr>
          <a:xfrm>
            <a:off x="7059168" y="145389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66DAC91D-05C4-3268-E786-7321E7A78AC2}"/>
              </a:ext>
            </a:extLst>
          </p:cNvPr>
          <p:cNvSpPr/>
          <p:nvPr/>
        </p:nvSpPr>
        <p:spPr>
          <a:xfrm flipH="1">
            <a:off x="5687568" y="2459736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3C7CE3BB-50E3-3C8F-D0A3-CDA25D198F15}"/>
              </a:ext>
            </a:extLst>
          </p:cNvPr>
          <p:cNvSpPr/>
          <p:nvPr/>
        </p:nvSpPr>
        <p:spPr>
          <a:xfrm flipH="1">
            <a:off x="7516368" y="2459736"/>
            <a:ext cx="457200" cy="109728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DD3E2262-1E61-26DD-FA2B-1A412621026C}"/>
              </a:ext>
            </a:extLst>
          </p:cNvPr>
          <p:cNvSpPr/>
          <p:nvPr/>
        </p:nvSpPr>
        <p:spPr>
          <a:xfrm>
            <a:off x="5687568" y="355701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ED38587F-E91A-6ACE-0D01-755EBA390A40}"/>
              </a:ext>
            </a:extLst>
          </p:cNvPr>
          <p:cNvSpPr/>
          <p:nvPr/>
        </p:nvSpPr>
        <p:spPr>
          <a:xfrm flipH="1">
            <a:off x="6601968" y="3557016"/>
            <a:ext cx="914400" cy="1005840"/>
          </a:xfrm>
          <a:prstGeom prst="line">
            <a:avLst/>
          </a:prstGeom>
          <a:noFill/>
          <a:ln w="25400">
            <a:solidFill>
              <a:srgbClr val="888899"/>
            </a:solidFill>
            <a:prstDash val="solid"/>
          </a:ln>
        </p:spPr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6AD7250C-65A2-5957-97E1-F00A29A04AFC}"/>
              </a:ext>
            </a:extLst>
          </p:cNvPr>
          <p:cNvSpPr/>
          <p:nvPr/>
        </p:nvSpPr>
        <p:spPr>
          <a:xfrm>
            <a:off x="6766560" y="1161288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EB0299B8-C850-5F09-43A0-E0D5ABD3F76B}"/>
              </a:ext>
            </a:extLst>
          </p:cNvPr>
          <p:cNvSpPr/>
          <p:nvPr/>
        </p:nvSpPr>
        <p:spPr>
          <a:xfrm>
            <a:off x="6766560" y="1161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72E8F613-48EA-EA02-187C-36468B674E90}"/>
              </a:ext>
            </a:extLst>
          </p:cNvPr>
          <p:cNvSpPr/>
          <p:nvPr/>
        </p:nvSpPr>
        <p:spPr>
          <a:xfrm>
            <a:off x="5852160" y="2167128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5EB6FA9E-12BB-1DA6-9B4E-002F0F5DF521}"/>
              </a:ext>
            </a:extLst>
          </p:cNvPr>
          <p:cNvSpPr/>
          <p:nvPr/>
        </p:nvSpPr>
        <p:spPr>
          <a:xfrm>
            <a:off x="5852160" y="2167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212A2C0C-B69B-673F-B911-F2735140C727}"/>
              </a:ext>
            </a:extLst>
          </p:cNvPr>
          <p:cNvSpPr/>
          <p:nvPr/>
        </p:nvSpPr>
        <p:spPr>
          <a:xfrm>
            <a:off x="7680960" y="2167128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8B12B124-5FBF-AC42-2891-34C2137D97D6}"/>
              </a:ext>
            </a:extLst>
          </p:cNvPr>
          <p:cNvSpPr/>
          <p:nvPr/>
        </p:nvSpPr>
        <p:spPr>
          <a:xfrm>
            <a:off x="7680960" y="2167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45" name="Shape 25">
            <a:extLst>
              <a:ext uri="{FF2B5EF4-FFF2-40B4-BE49-F238E27FC236}">
                <a16:creationId xmlns:a16="http://schemas.microsoft.com/office/drawing/2014/main" id="{29D4EAA2-E73F-DFC2-89D0-61FDBEF7F14F}"/>
              </a:ext>
            </a:extLst>
          </p:cNvPr>
          <p:cNvSpPr/>
          <p:nvPr/>
        </p:nvSpPr>
        <p:spPr>
          <a:xfrm>
            <a:off x="5394960" y="3264408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26">
            <a:extLst>
              <a:ext uri="{FF2B5EF4-FFF2-40B4-BE49-F238E27FC236}">
                <a16:creationId xmlns:a16="http://schemas.microsoft.com/office/drawing/2014/main" id="{91E47C7B-C7DA-EBD1-92ED-BC6A30E65961}"/>
              </a:ext>
            </a:extLst>
          </p:cNvPr>
          <p:cNvSpPr/>
          <p:nvPr/>
        </p:nvSpPr>
        <p:spPr>
          <a:xfrm>
            <a:off x="5394960" y="3264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BEC8C5A4-E3CB-1A2F-54D8-6ECE2BA158E6}"/>
              </a:ext>
            </a:extLst>
          </p:cNvPr>
          <p:cNvSpPr/>
          <p:nvPr/>
        </p:nvSpPr>
        <p:spPr>
          <a:xfrm>
            <a:off x="7223760" y="3264408"/>
            <a:ext cx="585216" cy="585216"/>
          </a:xfrm>
          <a:prstGeom prst="ellipse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061B5976-6F34-BE96-1DF5-006B4F88A891}"/>
              </a:ext>
            </a:extLst>
          </p:cNvPr>
          <p:cNvSpPr/>
          <p:nvPr/>
        </p:nvSpPr>
        <p:spPr>
          <a:xfrm>
            <a:off x="7223760" y="32644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F52F7DDF-6E91-2571-FF0F-E150571AAE60}"/>
              </a:ext>
            </a:extLst>
          </p:cNvPr>
          <p:cNvSpPr/>
          <p:nvPr/>
        </p:nvSpPr>
        <p:spPr>
          <a:xfrm>
            <a:off x="6309360" y="4270248"/>
            <a:ext cx="585216" cy="585216"/>
          </a:xfrm>
          <a:prstGeom prst="ellipse">
            <a:avLst/>
          </a:prstGeom>
          <a:solidFill>
            <a:srgbClr val="3498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342ABF53-094D-209D-4328-A2B20400EA98}"/>
              </a:ext>
            </a:extLst>
          </p:cNvPr>
          <p:cNvSpPr/>
          <p:nvPr/>
        </p:nvSpPr>
        <p:spPr>
          <a:xfrm>
            <a:off x="6309360" y="4270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EE238B5D-0574-8FA3-92C8-A1E8E232C7F4}"/>
              </a:ext>
            </a:extLst>
          </p:cNvPr>
          <p:cNvSpPr/>
          <p:nvPr/>
        </p:nvSpPr>
        <p:spPr>
          <a:xfrm>
            <a:off x="3897102" y="44302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98DB"/>
                </a:solidFill>
              </a:rPr>
              <a:t>L3</a:t>
            </a:r>
            <a:endParaRPr lang="en-US" sz="1000" dirty="0"/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02871F94-5DA8-A62C-A381-FE6AEEBFAB51}"/>
              </a:ext>
            </a:extLst>
          </p:cNvPr>
          <p:cNvSpPr/>
          <p:nvPr/>
        </p:nvSpPr>
        <p:spPr>
          <a:xfrm>
            <a:off x="274320" y="3714752"/>
            <a:ext cx="2560320" cy="594360"/>
          </a:xfrm>
          <a:prstGeom prst="rect">
            <a:avLst/>
          </a:prstGeom>
          <a:solidFill>
            <a:srgbClr val="3498DB">
              <a:alpha val="30000"/>
            </a:srgbClr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D39D43C9-9507-023F-1DA4-C3952F6CDEB3}"/>
              </a:ext>
            </a:extLst>
          </p:cNvPr>
          <p:cNvSpPr/>
          <p:nvPr/>
        </p:nvSpPr>
        <p:spPr>
          <a:xfrm>
            <a:off x="320040" y="36991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Level 3: 6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Check — Code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isn't just a classroom concept — it powers real technology!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2117" y="94640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This bipartite check uses BFS to 2-color the graph. If any conflict is found, return false.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530352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</a:rPr>
              <a:t>&lt;/&gt; bipartite 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2900" y="1508760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isBipartite(vector&lt;vector&lt;int&gt;&gt;&amp; graph)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2900" y="1664208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 = graph.size();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2900" y="1819656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vector&lt;int&gt; color(n, -1);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2900" y="1975104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start = 0; start &lt; n; start++) 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2900" y="2130552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(color[start] != -1) continue;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2900" y="2286000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queue&lt;int&gt; q;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2900" y="2441448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q.push(start);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2900" y="2596896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color[start] = 0; // Set 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2900" y="2752344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(!q.empty()) {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" y="2907792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 node = q.front(); q.pop();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" y="3063240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(int neighbor : graph[node])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" y="3218688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(color[neighbor] == -1) 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" y="3374136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color[neighbor] = 1 - color[node];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2900" y="3529584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q.push(neighbor);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2900" y="3685032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 else if (color[neighbor] == color[node]) {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2900" y="3840480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return false; // Conflict!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2900" y="3995928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2900" y="4151376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2900" y="4306824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2900" y="4462272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2900" y="4617720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 // No conflict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2900" y="4773168"/>
            <a:ext cx="5212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DC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0" y="2615184"/>
            <a:ext cx="3200400" cy="256032"/>
          </a:xfrm>
          <a:prstGeom prst="rect">
            <a:avLst/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2615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Assign opposite color to each neighbor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4041648"/>
            <a:ext cx="3200400" cy="256032"/>
          </a:xfrm>
          <a:prstGeom prst="rect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995225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</a:rPr>
              <a:t>Same-color neighbor = conflict!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23560" y="4426751"/>
            <a:ext cx="3200400" cy="256032"/>
          </a:xfrm>
          <a:prstGeom prst="rect">
            <a:avLst/>
          </a:prstGeom>
          <a:solidFill>
            <a:srgbClr val="2ECC71">
              <a:alpha val="2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4433081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C71"/>
                </a:solidFill>
              </a:rPr>
              <a:t>No conflicts = bipartite!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Bipartite Graphs Used?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859536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graphs model two-sided relationships in the real world.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83464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Recommendation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one side, movies/products on the other. Edges = ratings/views.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188720"/>
            <a:ext cx="283464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Job Matching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on one side, jobs on the other. Find perfect matchings!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18872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1344" y="1188720"/>
            <a:ext cx="283464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2984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Social Networks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66420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one side, groups/pages on the other. Who joined what?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80360"/>
            <a:ext cx="283464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Bioinformatics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on one side, drugs on the other. Map interactions.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27832" y="2880360"/>
            <a:ext cx="283464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Course Scheduling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one side, courses the other. Avoid conflicts!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2880360"/>
            <a:ext cx="2834640" cy="1508760"/>
          </a:xfrm>
          <a:prstGeom prst="rect">
            <a:avLst/>
          </a:prstGeom>
          <a:solidFill>
            <a:srgbClr val="242847"/>
          </a:solidFill>
          <a:ln w="12700">
            <a:solidFill>
              <a:srgbClr val="3336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1344" y="2880360"/>
            <a:ext cx="283464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990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Network 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355848"/>
            <a:ext cx="26151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structure enables efficient max-flow algorithms.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657600"/>
            <a:ext cx="3657600" cy="3657600"/>
          </a:xfrm>
          <a:prstGeom prst="ellipse">
            <a:avLst/>
          </a:prstGeom>
          <a:solidFill>
            <a:srgbClr val="1E8449">
              <a:alpha val="40000"/>
            </a:srgbClr>
          </a:solidFill>
          <a:ln w="12700">
            <a:solidFill>
              <a:srgbClr val="1E844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1A5276">
              <a:alpha val="40000"/>
            </a:srgbClr>
          </a:solidFill>
          <a:ln w="12700">
            <a:solidFill>
              <a:srgbClr val="1A527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Graphs! 🎨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97280" y="224028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1762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bipartite graph can be split into 2 sets — edges only cross between sets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752344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68833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BFS 2-coloring to check: alternate colors, detect conflicts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264408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odd cycle (3, 5, 7… nodes) makes a graph non-bipartite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7647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71246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O(V + E) — same as BFS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288536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22452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use: matchings, recommendations, scheduling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solidFill>
            <a:srgbClr val="2ECC71">
              <a:alpha val="70000"/>
            </a:srgbClr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365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Bipartite check result: 2-colorable = BIPARTITE, conflict found = NOT BIPARTITE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1213</Words>
  <Application>Microsoft Office PowerPoint</Application>
  <PresentationFormat>On-screen Show (16:9)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Bipartite Graphs</dc:title>
  <dc:subject>PptxGenJS Presentation</dc:subject>
  <dc:creator>PptxGenJS</dc:creator>
  <cp:lastModifiedBy>Md Shohag Showdagor</cp:lastModifiedBy>
  <cp:revision>2</cp:revision>
  <dcterms:created xsi:type="dcterms:W3CDTF">2026-02-23T12:04:28Z</dcterms:created>
  <dcterms:modified xsi:type="dcterms:W3CDTF">2026-02-23T13:21:41Z</dcterms:modified>
</cp:coreProperties>
</file>