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9" r:id="rId10"/>
    <p:sldId id="263" r:id="rId11"/>
    <p:sldId id="270" r:id="rId12"/>
    <p:sldId id="272" r:id="rId13"/>
    <p:sldId id="264" r:id="rId14"/>
    <p:sldId id="265" r:id="rId15"/>
    <p:sldId id="273" r:id="rId16"/>
    <p:sldId id="274" r:id="rId17"/>
    <p:sldId id="275" r:id="rId18"/>
    <p:sldId id="267" r:id="rId19"/>
    <p:sldId id="271" r:id="rId20"/>
    <p:sldId id="268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4560"/>
    <a:srgbClr val="F5A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120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AAFFF-8D1B-F444-1DA0-05BEE20F1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FAA38-349A-FA1F-9052-41AB28CE4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A75832-5945-2972-5410-EB5FA6EFE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0E8ED-8610-76CC-5456-7356CD0AD6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937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ECB17-AB5C-3D4E-CD22-AAE7A8432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1D9F0-A448-D9BB-44E6-12B4050D3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88C4E-8F35-6F6B-AE44-E2E0EE5DF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3EA5E-CE48-2BEC-5C90-B35C116A06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888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18FF2-9ADE-9661-EDAE-61DA25A1E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7BF2E-42C9-2943-CE71-58ECE447E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6192D7-33A2-90BA-E04D-DA839BFF9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C63A9-21B1-4E3D-9E44-57B966DAF9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12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9CDC8-E13F-BF7F-D0C2-AC07B5F8E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87B5D2-2A18-C535-EEA1-5279D12B7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30BAB-82C3-31DD-C53B-31FB751F3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402D8-9F90-E673-DF99-BC62FD9942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846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416C1-2E4F-00EB-BEC8-26B8B7A2E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B78E01-6190-D3B4-2891-87EBC93BE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EC09F-4AC3-4191-A23F-D2826313D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A2B3A-F985-626B-728C-A65EB6DF2F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312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A831A-6353-A2C4-761A-814F3156C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A65DE-2610-BF63-ECED-8F84668B7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2B0DE-F2A0-A597-7E3F-89700D42C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99D9F-8566-4B30-49A7-03C8B30DC9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4709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69611-F141-88F7-86B8-79A4A0D87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D50C2-7DE4-4FEA-172C-6A2700093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71EB5-4A8D-B395-675E-90C2F767D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B8990-3ADD-A112-7A47-3495BEB8E2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351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0F3460">
              <a:alpha val="60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E94560">
              <a:alpha val="4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199133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</a:rPr>
              <a:t>Depth-First Search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66928" y="3015996"/>
            <a:ext cx="1581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E94560"/>
                </a:solidFill>
              </a:rPr>
              <a:t>(DFS)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7589520" y="1005840"/>
            <a:ext cx="822960" cy="73152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7863840" y="1737360"/>
            <a:ext cx="548640" cy="9144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96912" y="713232"/>
            <a:ext cx="585216" cy="585216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96912" y="7132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19872" y="1444752"/>
            <a:ext cx="585216" cy="585216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19872" y="14447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571232" y="2359152"/>
            <a:ext cx="585216" cy="585216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71232" y="23591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First: What is a Graph?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Before DFS, let's understand what we're searching through.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1802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 graph is just: </a:t>
            </a:r>
            <a:r>
              <a:rPr lang="en-US" sz="1400" b="1" dirty="0">
                <a:solidFill>
                  <a:srgbClr val="2E86AB"/>
                </a:solidFill>
              </a:rPr>
              <a:t>Circles (Nodes)</a:t>
            </a:r>
            <a:r>
              <a:rPr lang="en-US" sz="1400" dirty="0">
                <a:solidFill>
                  <a:srgbClr val="FFFFFF"/>
                </a:solidFill>
              </a:rPr>
              <a:t> connected by </a:t>
            </a:r>
            <a:r>
              <a:rPr lang="en-US" sz="1400" b="1" dirty="0">
                <a:solidFill>
                  <a:srgbClr val="F5A623"/>
                </a:solidFill>
              </a:rPr>
              <a:t>Lines (Edges)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Think of it like a map of cities connected by roads. Each city is a </a:t>
            </a:r>
            <a:r>
              <a:rPr lang="en-US" sz="1300" b="1" dirty="0">
                <a:solidFill>
                  <a:srgbClr val="2E86AB"/>
                </a:solidFill>
              </a:rPr>
              <a:t>node</a:t>
            </a:r>
            <a:r>
              <a:rPr lang="en-US" sz="1300" dirty="0">
                <a:solidFill>
                  <a:srgbClr val="B0C4DE"/>
                </a:solidFill>
              </a:rPr>
              <a:t> and each road is an </a:t>
            </a:r>
            <a:r>
              <a:rPr lang="en-US" sz="1300" b="1" dirty="0">
                <a:solidFill>
                  <a:srgbClr val="F5A623"/>
                </a:solidFill>
              </a:rPr>
              <a:t>edge</a:t>
            </a:r>
            <a:r>
              <a:rPr lang="en-US" sz="1300" dirty="0">
                <a:solidFill>
                  <a:srgbClr val="B0C4DE"/>
                </a:solidFill>
              </a:rPr>
              <a:t>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320040" cy="32004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072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= A Node (a place / item)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337560"/>
            <a:ext cx="36576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3697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= An Edge (a connection)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V="1">
            <a:off x="5394960" y="1997952"/>
            <a:ext cx="1463040" cy="77724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997952"/>
            <a:ext cx="1371600" cy="91440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6675120" y="1997952"/>
            <a:ext cx="182880" cy="178308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0" y="2775192"/>
            <a:ext cx="1280160" cy="100584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6675120" y="2912352"/>
            <a:ext cx="1554480" cy="86868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7488" y="2427720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242772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10528" y="1650480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165048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882128" y="2564880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82128" y="256488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27648" y="3433560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343356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0" y="4512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07D8B"/>
                </a:solidFill>
              </a:rPr>
              <a:t>Example Graph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What is DFS?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Depth-First Search = Go as deep as possible before backtracking.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142999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8160" y="2168653"/>
            <a:ext cx="8527680" cy="1367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0C4DE"/>
                </a:solidFill>
              </a:rPr>
              <a:t>Imagine you're exploring a maze. DFS means: always go as far as you can down one path first. When you hit a dead end, step back and try another path. Repeat until you've visited everywhere!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DFS Algorithm (Plain English)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3 simple rules that power the whole thing.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 flipV="1">
            <a:off x="365760" y="1019556"/>
            <a:ext cx="8412480" cy="45719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8412480" cy="109728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44752"/>
            <a:ext cx="658368" cy="658368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325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Visit &amp; Mark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70992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Go to a node. Mark it as visited so you don't visit it twice.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679192"/>
            <a:ext cx="658368" cy="658368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791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Go Deeper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9443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Pick any unvisited neighbor and move to it. Repeat from step 1.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8412480" cy="1097280"/>
          </a:xfrm>
          <a:prstGeom prst="rect">
            <a:avLst/>
          </a:prstGeom>
          <a:solidFill>
            <a:srgbClr val="7B241C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913632"/>
            <a:ext cx="658368" cy="658368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136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Backtrack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17880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No unvisited neighbors? Go back to where you came from and try another path.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Our Example Graph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We'll trace DFS step-by-step on this graph. Start at node 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329184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2743200" y="2834640"/>
            <a:ext cx="54864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2834640"/>
            <a:ext cx="128016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834640"/>
            <a:ext cx="45720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926080" y="246888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0" y="246888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377440" y="365760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0" y="365760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206240" y="365760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286000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A623"/>
                </a:solidFill>
              </a:rPr>
              <a:t>Start here! 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This graph has: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1600200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15727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6 nodes (A to F)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2103120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20756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5 edges (connections)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2606040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25786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No direction — you can go either way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" y="3017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0C4DE"/>
                </a:solidFill>
              </a:rPr>
              <a:t>We will visit nodes in DFS order.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B0C4DE"/>
                </a:solidFill>
              </a:rPr>
              <a:t>Next slides show each step!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1: Start at 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Visit A. Push its neighbors onto the stack.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329184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2743200" y="2834640"/>
            <a:ext cx="54864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2834640"/>
            <a:ext cx="128016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834640"/>
            <a:ext cx="45720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1335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335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246888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0" y="246888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377440" y="365760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943600" y="365760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206240" y="365760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28600" y="128016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12618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Current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" y="1737360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1719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Visited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2194560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21762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Unvisited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" y="27721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Stack (memory):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97280" y="306324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</a:rPr>
              <a:t>← top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28600" y="4480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Visit order: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2860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12080" y="1399032"/>
            <a:ext cx="26289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Start at A and mark it as visited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2: Go to 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Pop B from the stack. Visit B. Push its unvisited neighbors.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3291840" y="1737360"/>
            <a:ext cx="1280160" cy="109728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2743200" y="2834640"/>
            <a:ext cx="54864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2834640"/>
            <a:ext cx="128016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834640"/>
            <a:ext cx="45720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1335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335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2468880"/>
            <a:ext cx="731520" cy="7315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474720" y="24323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432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246888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377440" y="365760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943600" y="365760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206240" y="365760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28600" y="128016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12618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Current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1737360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1719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Visited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8600" y="2194560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21762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Unvisited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8600" y="27432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Stack (memory):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28600" y="3410712"/>
            <a:ext cx="8229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28600" y="34107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97280" y="306324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</a:rPr>
              <a:t>← top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28600" y="4480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Visit order: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2860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 → B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20640" y="1469898"/>
            <a:ext cx="8229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Go to B 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36">
            <a:extLst>
              <a:ext uri="{FF2B5EF4-FFF2-40B4-BE49-F238E27FC236}">
                <a16:creationId xmlns:a16="http://schemas.microsoft.com/office/drawing/2014/main" id="{FBC77AB1-FCD1-722D-6333-8D931719BE0B}"/>
              </a:ext>
            </a:extLst>
          </p:cNvPr>
          <p:cNvSpPr/>
          <p:nvPr/>
        </p:nvSpPr>
        <p:spPr>
          <a:xfrm>
            <a:off x="228600" y="3771900"/>
            <a:ext cx="8229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3: Go to F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Pop F from the stack (it's on top). Visit F.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329184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2743200" y="2834640"/>
            <a:ext cx="54864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2834640"/>
            <a:ext cx="1280160" cy="118872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834640"/>
            <a:ext cx="45720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1335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335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24688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474720" y="24323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432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246888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377440" y="365760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943600" y="365760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206240" y="3657600"/>
            <a:ext cx="731520" cy="7315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75488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128016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12618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Current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8600" y="1737360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1719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Visited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28600" y="2194560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21762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Unvisited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8600" y="27432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Stack (memory):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28600" y="3410712"/>
            <a:ext cx="8229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34107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97280" y="3063240"/>
            <a:ext cx="655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</a:rPr>
              <a:t>← top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28600" y="4480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Visit order: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2860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 → B → F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20640" y="1301496"/>
            <a:ext cx="2072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Go to F</a:t>
            </a:r>
            <a:endParaRPr lang="en-US" sz="1400" dirty="0"/>
          </a:p>
        </p:txBody>
      </p:sp>
      <p:sp>
        <p:nvSpPr>
          <p:cNvPr id="44" name="Text 37">
            <a:extLst>
              <a:ext uri="{FF2B5EF4-FFF2-40B4-BE49-F238E27FC236}">
                <a16:creationId xmlns:a16="http://schemas.microsoft.com/office/drawing/2014/main" id="{C1A6AD1D-EFA9-EE61-22DD-540AC5276BC6}"/>
              </a:ext>
            </a:extLst>
          </p:cNvPr>
          <p:cNvSpPr/>
          <p:nvPr/>
        </p:nvSpPr>
        <p:spPr>
          <a:xfrm>
            <a:off x="228600" y="379018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D3B23B-E227-29ED-E9E5-772D757AD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4F1CBB-EC23-90B8-669C-55EAE40F279C}"/>
              </a:ext>
            </a:extLst>
          </p:cNvPr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3: Go to F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F6544B-6C47-ED72-39FE-6DEEF7108FDC}"/>
              </a:ext>
            </a:extLst>
          </p:cNvPr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Pop F from the stack (it's on top). Visit F.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80A5E97-F623-42A4-380C-040147D4054E}"/>
              </a:ext>
            </a:extLst>
          </p:cNvPr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8AB42FC-0229-CA78-BC95-130DF0041503}"/>
              </a:ext>
            </a:extLst>
          </p:cNvPr>
          <p:cNvSpPr/>
          <p:nvPr/>
        </p:nvSpPr>
        <p:spPr>
          <a:xfrm flipH="1">
            <a:off x="329184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22F8733-0766-084F-16D4-B653C812E473}"/>
              </a:ext>
            </a:extLst>
          </p:cNvPr>
          <p:cNvSpPr/>
          <p:nvPr/>
        </p:nvSpPr>
        <p:spPr>
          <a:xfrm>
            <a:off x="457200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7CE3AB0-A7BD-C0D1-F478-89BCC87A9005}"/>
              </a:ext>
            </a:extLst>
          </p:cNvPr>
          <p:cNvSpPr/>
          <p:nvPr/>
        </p:nvSpPr>
        <p:spPr>
          <a:xfrm flipH="1">
            <a:off x="2743200" y="2834640"/>
            <a:ext cx="54864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C3A7A21-327B-CA9D-67F4-521E508ADF3A}"/>
              </a:ext>
            </a:extLst>
          </p:cNvPr>
          <p:cNvSpPr/>
          <p:nvPr/>
        </p:nvSpPr>
        <p:spPr>
          <a:xfrm>
            <a:off x="3291840" y="2834640"/>
            <a:ext cx="1280160" cy="118872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7439EBD-2369-C570-23D8-D0C40C0B333A}"/>
              </a:ext>
            </a:extLst>
          </p:cNvPr>
          <p:cNvSpPr/>
          <p:nvPr/>
        </p:nvSpPr>
        <p:spPr>
          <a:xfrm>
            <a:off x="5852160" y="2834640"/>
            <a:ext cx="45720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E88D9F7-98A3-A84F-95A1-838A7E20A1B4}"/>
              </a:ext>
            </a:extLst>
          </p:cNvPr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B0DEFD0-5377-D5F7-B4FC-34259BD5697C}"/>
              </a:ext>
            </a:extLst>
          </p:cNvPr>
          <p:cNvSpPr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CA3173B-9940-2E29-6283-1C07301DCFE4}"/>
              </a:ext>
            </a:extLst>
          </p:cNvPr>
          <p:cNvSpPr/>
          <p:nvPr/>
        </p:nvSpPr>
        <p:spPr>
          <a:xfrm>
            <a:off x="4754880" y="1335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92DDBF8-4FD2-320B-8C3F-C2B569FB180E}"/>
              </a:ext>
            </a:extLst>
          </p:cNvPr>
          <p:cNvSpPr/>
          <p:nvPr/>
        </p:nvSpPr>
        <p:spPr>
          <a:xfrm>
            <a:off x="4754880" y="1335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50790BD-C2F7-A215-5CC6-3198FDDAC31D}"/>
              </a:ext>
            </a:extLst>
          </p:cNvPr>
          <p:cNvSpPr/>
          <p:nvPr/>
        </p:nvSpPr>
        <p:spPr>
          <a:xfrm>
            <a:off x="2926080" y="2468880"/>
            <a:ext cx="731520" cy="731520"/>
          </a:xfrm>
          <a:prstGeom prst="ellipse">
            <a:avLst/>
          </a:prstGeom>
          <a:solidFill>
            <a:srgbClr val="7030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E041EAF-F655-6EBE-E861-AFE33D8D2A72}"/>
              </a:ext>
            </a:extLst>
          </p:cNvPr>
          <p:cNvSpPr/>
          <p:nvPr/>
        </p:nvSpPr>
        <p:spPr>
          <a:xfrm>
            <a:off x="292608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58ED0DD-ED3C-AF0B-8A12-6C82B4AB0F13}"/>
              </a:ext>
            </a:extLst>
          </p:cNvPr>
          <p:cNvSpPr/>
          <p:nvPr/>
        </p:nvSpPr>
        <p:spPr>
          <a:xfrm>
            <a:off x="3474720" y="24323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9709907-3970-BA9A-DFF1-B7D644F3A8C2}"/>
              </a:ext>
            </a:extLst>
          </p:cNvPr>
          <p:cNvSpPr/>
          <p:nvPr/>
        </p:nvSpPr>
        <p:spPr>
          <a:xfrm>
            <a:off x="3474720" y="2432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6024F4B-6C79-C6F5-B34B-6C7BCD178F9D}"/>
              </a:ext>
            </a:extLst>
          </p:cNvPr>
          <p:cNvSpPr/>
          <p:nvPr/>
        </p:nvSpPr>
        <p:spPr>
          <a:xfrm>
            <a:off x="5486400" y="246888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1AB57B9-DEC8-3BE0-3A32-99347C4FB5D4}"/>
              </a:ext>
            </a:extLst>
          </p:cNvPr>
          <p:cNvSpPr/>
          <p:nvPr/>
        </p:nvSpPr>
        <p:spPr>
          <a:xfrm>
            <a:off x="54864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09FC1B9-BB5C-6243-3C53-FFF645A59E5F}"/>
              </a:ext>
            </a:extLst>
          </p:cNvPr>
          <p:cNvSpPr/>
          <p:nvPr/>
        </p:nvSpPr>
        <p:spPr>
          <a:xfrm>
            <a:off x="2377440" y="365760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3489A71-DC07-FB31-05A2-AABBF0F898FE}"/>
              </a:ext>
            </a:extLst>
          </p:cNvPr>
          <p:cNvSpPr/>
          <p:nvPr/>
        </p:nvSpPr>
        <p:spPr>
          <a:xfrm>
            <a:off x="23774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CE00DA8-2C3D-611E-E72E-39EA22DE0749}"/>
              </a:ext>
            </a:extLst>
          </p:cNvPr>
          <p:cNvSpPr/>
          <p:nvPr/>
        </p:nvSpPr>
        <p:spPr>
          <a:xfrm>
            <a:off x="5943600" y="365760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D176F0B-70B4-30A5-94EB-6B7FA4034F00}"/>
              </a:ext>
            </a:extLst>
          </p:cNvPr>
          <p:cNvSpPr/>
          <p:nvPr/>
        </p:nvSpPr>
        <p:spPr>
          <a:xfrm>
            <a:off x="594360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8BCF65F-B473-720A-8F40-398C72434421}"/>
              </a:ext>
            </a:extLst>
          </p:cNvPr>
          <p:cNvSpPr/>
          <p:nvPr/>
        </p:nvSpPr>
        <p:spPr>
          <a:xfrm>
            <a:off x="420624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1A0128B-86A3-4D8C-BB6F-BD47AECF5EAE}"/>
              </a:ext>
            </a:extLst>
          </p:cNvPr>
          <p:cNvSpPr/>
          <p:nvPr/>
        </p:nvSpPr>
        <p:spPr>
          <a:xfrm>
            <a:off x="42062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E74905A-9925-00BC-CBC4-57964E90700A}"/>
              </a:ext>
            </a:extLst>
          </p:cNvPr>
          <p:cNvSpPr/>
          <p:nvPr/>
        </p:nvSpPr>
        <p:spPr>
          <a:xfrm>
            <a:off x="475488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865F668-03E8-390B-64DD-4725E9B2FEBA}"/>
              </a:ext>
            </a:extLst>
          </p:cNvPr>
          <p:cNvSpPr/>
          <p:nvPr/>
        </p:nvSpPr>
        <p:spPr>
          <a:xfrm>
            <a:off x="47548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AC0610B-D4E8-B12F-CFBD-604FF6CFEC25}"/>
              </a:ext>
            </a:extLst>
          </p:cNvPr>
          <p:cNvSpPr/>
          <p:nvPr/>
        </p:nvSpPr>
        <p:spPr>
          <a:xfrm>
            <a:off x="228600" y="128016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BB2FEF9-7C9D-3DA2-FF98-00306EAF317A}"/>
              </a:ext>
            </a:extLst>
          </p:cNvPr>
          <p:cNvSpPr/>
          <p:nvPr/>
        </p:nvSpPr>
        <p:spPr>
          <a:xfrm>
            <a:off x="566928" y="12618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Current</a:t>
            </a:r>
            <a:endParaRPr lang="en-US" sz="12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76F2E22-3D50-6323-E23E-497162992373}"/>
              </a:ext>
            </a:extLst>
          </p:cNvPr>
          <p:cNvSpPr/>
          <p:nvPr/>
        </p:nvSpPr>
        <p:spPr>
          <a:xfrm>
            <a:off x="228600" y="1737360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F1C41A5-59E3-4EEA-6067-97BA6F20BF17}"/>
              </a:ext>
            </a:extLst>
          </p:cNvPr>
          <p:cNvSpPr/>
          <p:nvPr/>
        </p:nvSpPr>
        <p:spPr>
          <a:xfrm>
            <a:off x="566928" y="1719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Visited</a:t>
            </a:r>
            <a:endParaRPr lang="en-US" sz="12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DAB0C02-4F0D-46DE-124C-8331192CDE82}"/>
              </a:ext>
            </a:extLst>
          </p:cNvPr>
          <p:cNvSpPr/>
          <p:nvPr/>
        </p:nvSpPr>
        <p:spPr>
          <a:xfrm>
            <a:off x="228600" y="2194560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AA908D5-A660-DAA1-1FF6-9B737DFE6413}"/>
              </a:ext>
            </a:extLst>
          </p:cNvPr>
          <p:cNvSpPr/>
          <p:nvPr/>
        </p:nvSpPr>
        <p:spPr>
          <a:xfrm>
            <a:off x="566928" y="21762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Unvisited</a:t>
            </a: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850E2ECD-A4F4-FD37-B22F-E6F139B35776}"/>
              </a:ext>
            </a:extLst>
          </p:cNvPr>
          <p:cNvSpPr/>
          <p:nvPr/>
        </p:nvSpPr>
        <p:spPr>
          <a:xfrm>
            <a:off x="228600" y="27432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Stack (memory):</a:t>
            </a:r>
            <a:endParaRPr lang="en-US" sz="13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B5246BA9-A05C-6600-D6F8-2E3594F36498}"/>
              </a:ext>
            </a:extLst>
          </p:cNvPr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533FB7B-9FA8-E313-BB5F-830CD79EA222}"/>
              </a:ext>
            </a:extLst>
          </p:cNvPr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0C5AFE5-D2EB-92C3-1520-4F5D3E51AE49}"/>
              </a:ext>
            </a:extLst>
          </p:cNvPr>
          <p:cNvSpPr/>
          <p:nvPr/>
        </p:nvSpPr>
        <p:spPr>
          <a:xfrm>
            <a:off x="228600" y="3410712"/>
            <a:ext cx="8229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08A62244-74DE-C4A3-C547-A4D27C440850}"/>
              </a:ext>
            </a:extLst>
          </p:cNvPr>
          <p:cNvSpPr/>
          <p:nvPr/>
        </p:nvSpPr>
        <p:spPr>
          <a:xfrm>
            <a:off x="228600" y="34107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8B184BCD-D6E6-0316-AC88-D394B8D309EC}"/>
              </a:ext>
            </a:extLst>
          </p:cNvPr>
          <p:cNvSpPr/>
          <p:nvPr/>
        </p:nvSpPr>
        <p:spPr>
          <a:xfrm>
            <a:off x="1097280" y="306324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</a:rPr>
              <a:t>← top</a:t>
            </a:r>
            <a:endParaRPr lang="en-US" sz="11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498CAE7-D853-5989-36BE-3305DFA06909}"/>
              </a:ext>
            </a:extLst>
          </p:cNvPr>
          <p:cNvSpPr/>
          <p:nvPr/>
        </p:nvSpPr>
        <p:spPr>
          <a:xfrm>
            <a:off x="228600" y="4480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Visit order:</a:t>
            </a:r>
            <a:endParaRPr lang="en-US" sz="12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F8529F76-01CB-5593-2413-3124458C5999}"/>
              </a:ext>
            </a:extLst>
          </p:cNvPr>
          <p:cNvSpPr/>
          <p:nvPr/>
        </p:nvSpPr>
        <p:spPr>
          <a:xfrm>
            <a:off x="22860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 → B → F</a:t>
            </a:r>
            <a:endParaRPr lang="en-US" sz="13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3DF32B9-E1D3-705C-1B15-9866CE6803F5}"/>
              </a:ext>
            </a:extLst>
          </p:cNvPr>
          <p:cNvSpPr/>
          <p:nvPr/>
        </p:nvSpPr>
        <p:spPr>
          <a:xfrm>
            <a:off x="4997196" y="1399032"/>
            <a:ext cx="353872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Dead end in F: Return to parent B (Backtrack)</a:t>
            </a:r>
            <a:endParaRPr lang="en-US" sz="1400" dirty="0"/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4CEDA676-DACB-0F98-2BC2-16DDAF76929B}"/>
              </a:ext>
            </a:extLst>
          </p:cNvPr>
          <p:cNvCxnSpPr>
            <a:stCxn id="25" idx="0"/>
            <a:endCxn id="16" idx="3"/>
          </p:cNvCxnSpPr>
          <p:nvPr/>
        </p:nvCxnSpPr>
        <p:spPr>
          <a:xfrm rot="16200000" flipV="1">
            <a:off x="3703320" y="2788920"/>
            <a:ext cx="822960" cy="914400"/>
          </a:xfrm>
          <a:prstGeom prst="curved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526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4: Backtrack to 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Pop D off the stack. Visit 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329184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2743200" y="2834640"/>
            <a:ext cx="548640" cy="118872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2834640"/>
            <a:ext cx="128016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834640"/>
            <a:ext cx="45720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1335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335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24688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474720" y="24323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432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246888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377440" y="3657600"/>
            <a:ext cx="731520" cy="7315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92608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365760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20624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75488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128016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12618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Current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28600" y="1737360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1719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Visited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8600" y="2194560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21762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Unvisited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8600" y="27432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Stack (memory):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28600" y="4480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Visit order: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2860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 → B → F → 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20640" y="1335024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Go to D</a:t>
            </a:r>
            <a:endParaRPr lang="en-US" sz="1400" dirty="0"/>
          </a:p>
        </p:txBody>
      </p:sp>
      <p:sp>
        <p:nvSpPr>
          <p:cNvPr id="44" name="Shape 36">
            <a:extLst>
              <a:ext uri="{FF2B5EF4-FFF2-40B4-BE49-F238E27FC236}">
                <a16:creationId xmlns:a16="http://schemas.microsoft.com/office/drawing/2014/main" id="{7E4CCB57-1125-F65A-EF72-EADB11BDE294}"/>
              </a:ext>
            </a:extLst>
          </p:cNvPr>
          <p:cNvSpPr/>
          <p:nvPr/>
        </p:nvSpPr>
        <p:spPr>
          <a:xfrm>
            <a:off x="228600" y="3771900"/>
            <a:ext cx="8229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34">
            <a:extLst>
              <a:ext uri="{FF2B5EF4-FFF2-40B4-BE49-F238E27FC236}">
                <a16:creationId xmlns:a16="http://schemas.microsoft.com/office/drawing/2014/main" id="{361947BC-576D-1948-F3BF-4E278CBDDBF2}"/>
              </a:ext>
            </a:extLst>
          </p:cNvPr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35">
            <a:extLst>
              <a:ext uri="{FF2B5EF4-FFF2-40B4-BE49-F238E27FC236}">
                <a16:creationId xmlns:a16="http://schemas.microsoft.com/office/drawing/2014/main" id="{89ED31C3-012A-5730-108C-24FF175E7CCA}"/>
              </a:ext>
            </a:extLst>
          </p:cNvPr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8D213957-84AF-0FF0-7EFA-353936CFBE07}"/>
              </a:ext>
            </a:extLst>
          </p:cNvPr>
          <p:cNvSpPr/>
          <p:nvPr/>
        </p:nvSpPr>
        <p:spPr>
          <a:xfrm>
            <a:off x="228600" y="3410712"/>
            <a:ext cx="8229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A786C677-E6BC-E3F0-6D8A-68A9E159A2A0}"/>
              </a:ext>
            </a:extLst>
          </p:cNvPr>
          <p:cNvSpPr/>
          <p:nvPr/>
        </p:nvSpPr>
        <p:spPr>
          <a:xfrm>
            <a:off x="228600" y="34107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49" name="Text 38">
            <a:extLst>
              <a:ext uri="{FF2B5EF4-FFF2-40B4-BE49-F238E27FC236}">
                <a16:creationId xmlns:a16="http://schemas.microsoft.com/office/drawing/2014/main" id="{D30FDC3A-44F9-296D-7448-295E23AA9E71}"/>
              </a:ext>
            </a:extLst>
          </p:cNvPr>
          <p:cNvSpPr/>
          <p:nvPr/>
        </p:nvSpPr>
        <p:spPr>
          <a:xfrm>
            <a:off x="1097280" y="3063240"/>
            <a:ext cx="655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</a:rPr>
              <a:t>← top</a:t>
            </a:r>
            <a:endParaRPr lang="en-US" sz="1100" dirty="0"/>
          </a:p>
        </p:txBody>
      </p:sp>
      <p:sp>
        <p:nvSpPr>
          <p:cNvPr id="50" name="Text 37">
            <a:extLst>
              <a:ext uri="{FF2B5EF4-FFF2-40B4-BE49-F238E27FC236}">
                <a16:creationId xmlns:a16="http://schemas.microsoft.com/office/drawing/2014/main" id="{7F37C29E-629C-D320-424F-BCF28F2B78C4}"/>
              </a:ext>
            </a:extLst>
          </p:cNvPr>
          <p:cNvSpPr/>
          <p:nvPr/>
        </p:nvSpPr>
        <p:spPr>
          <a:xfrm>
            <a:off x="228600" y="379018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5488BB-5EE1-BF2E-9277-EB367E72E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29B946-5897-4FD7-61AF-D82FC4FC5631}"/>
              </a:ext>
            </a:extLst>
          </p:cNvPr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4: Backtrack to D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BAE0DE-C37B-FE1B-BC1B-935E69891CB1}"/>
              </a:ext>
            </a:extLst>
          </p:cNvPr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Pop D off the stack. Visit D.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EB5FDD-E3F1-8AD7-57C2-47335D07D810}"/>
              </a:ext>
            </a:extLst>
          </p:cNvPr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84E18B-B3E0-AD1B-71DC-C804786CECB2}"/>
              </a:ext>
            </a:extLst>
          </p:cNvPr>
          <p:cNvSpPr/>
          <p:nvPr/>
        </p:nvSpPr>
        <p:spPr>
          <a:xfrm flipH="1">
            <a:off x="329184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25BB429-6ECD-186F-AD74-A3DD822444D8}"/>
              </a:ext>
            </a:extLst>
          </p:cNvPr>
          <p:cNvSpPr/>
          <p:nvPr/>
        </p:nvSpPr>
        <p:spPr>
          <a:xfrm>
            <a:off x="457200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8FE96B8-6981-30D0-E5CD-00DE9D2FC7C7}"/>
              </a:ext>
            </a:extLst>
          </p:cNvPr>
          <p:cNvSpPr/>
          <p:nvPr/>
        </p:nvSpPr>
        <p:spPr>
          <a:xfrm flipH="1">
            <a:off x="2743200" y="2834640"/>
            <a:ext cx="548640" cy="118872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C6F8E9E-13FC-72A3-E8DF-20ED9C8A1E09}"/>
              </a:ext>
            </a:extLst>
          </p:cNvPr>
          <p:cNvSpPr/>
          <p:nvPr/>
        </p:nvSpPr>
        <p:spPr>
          <a:xfrm>
            <a:off x="3291840" y="2834640"/>
            <a:ext cx="128016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A9911E6-6E3E-3BFD-528C-CD88805A422F}"/>
              </a:ext>
            </a:extLst>
          </p:cNvPr>
          <p:cNvSpPr/>
          <p:nvPr/>
        </p:nvSpPr>
        <p:spPr>
          <a:xfrm>
            <a:off x="5852160" y="2834640"/>
            <a:ext cx="45720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CC50C1F-8F9B-5E66-C20E-62BFCA4EA733}"/>
              </a:ext>
            </a:extLst>
          </p:cNvPr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B0B6423-0ED1-F96C-382E-100C5C1F9571}"/>
              </a:ext>
            </a:extLst>
          </p:cNvPr>
          <p:cNvSpPr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F552615-29B9-5F9D-1338-47ACFFA8CCA0}"/>
              </a:ext>
            </a:extLst>
          </p:cNvPr>
          <p:cNvSpPr/>
          <p:nvPr/>
        </p:nvSpPr>
        <p:spPr>
          <a:xfrm>
            <a:off x="4754880" y="1335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BA35DE8-F79A-D5C3-51F2-000B8D02FF90}"/>
              </a:ext>
            </a:extLst>
          </p:cNvPr>
          <p:cNvSpPr/>
          <p:nvPr/>
        </p:nvSpPr>
        <p:spPr>
          <a:xfrm>
            <a:off x="4754880" y="1335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38DEFC9-B4D0-AA40-57EE-AFAEFF139540}"/>
              </a:ext>
            </a:extLst>
          </p:cNvPr>
          <p:cNvSpPr/>
          <p:nvPr/>
        </p:nvSpPr>
        <p:spPr>
          <a:xfrm>
            <a:off x="2926080" y="2468880"/>
            <a:ext cx="731520" cy="731520"/>
          </a:xfrm>
          <a:prstGeom prst="ellipse">
            <a:avLst/>
          </a:prstGeom>
          <a:solidFill>
            <a:srgbClr val="7030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393DBDD-2C57-6713-D9F9-DD27809AFDCB}"/>
              </a:ext>
            </a:extLst>
          </p:cNvPr>
          <p:cNvSpPr/>
          <p:nvPr/>
        </p:nvSpPr>
        <p:spPr>
          <a:xfrm>
            <a:off x="292608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3C51248-6326-0E74-2521-893432FA8796}"/>
              </a:ext>
            </a:extLst>
          </p:cNvPr>
          <p:cNvSpPr/>
          <p:nvPr/>
        </p:nvSpPr>
        <p:spPr>
          <a:xfrm>
            <a:off x="3474720" y="24323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5B1BD3E-0027-AC1A-2AB7-7D9DF98E0F4B}"/>
              </a:ext>
            </a:extLst>
          </p:cNvPr>
          <p:cNvSpPr/>
          <p:nvPr/>
        </p:nvSpPr>
        <p:spPr>
          <a:xfrm>
            <a:off x="3474720" y="2432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E3F81D4-982E-2922-E582-FEB6C5D62BEC}"/>
              </a:ext>
            </a:extLst>
          </p:cNvPr>
          <p:cNvSpPr/>
          <p:nvPr/>
        </p:nvSpPr>
        <p:spPr>
          <a:xfrm>
            <a:off x="5486400" y="246888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93F0110-62F5-A2A5-F078-1B7B2351FF06}"/>
              </a:ext>
            </a:extLst>
          </p:cNvPr>
          <p:cNvSpPr/>
          <p:nvPr/>
        </p:nvSpPr>
        <p:spPr>
          <a:xfrm>
            <a:off x="54864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89E879B-1302-162F-DB76-DE1764D860B2}"/>
              </a:ext>
            </a:extLst>
          </p:cNvPr>
          <p:cNvSpPr/>
          <p:nvPr/>
        </p:nvSpPr>
        <p:spPr>
          <a:xfrm>
            <a:off x="237744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79DF856-174A-C6F5-B8D7-486D452E80ED}"/>
              </a:ext>
            </a:extLst>
          </p:cNvPr>
          <p:cNvSpPr/>
          <p:nvPr/>
        </p:nvSpPr>
        <p:spPr>
          <a:xfrm>
            <a:off x="23774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5AA72B8-6930-5F48-FE8B-E75B092B283D}"/>
              </a:ext>
            </a:extLst>
          </p:cNvPr>
          <p:cNvSpPr/>
          <p:nvPr/>
        </p:nvSpPr>
        <p:spPr>
          <a:xfrm>
            <a:off x="292608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DEE7DD1-C77E-0B06-D1FA-FE25A09E50FB}"/>
              </a:ext>
            </a:extLst>
          </p:cNvPr>
          <p:cNvSpPr/>
          <p:nvPr/>
        </p:nvSpPr>
        <p:spPr>
          <a:xfrm>
            <a:off x="29260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BB5B88F-EEA5-8763-B696-28C059C66C16}"/>
              </a:ext>
            </a:extLst>
          </p:cNvPr>
          <p:cNvSpPr/>
          <p:nvPr/>
        </p:nvSpPr>
        <p:spPr>
          <a:xfrm>
            <a:off x="5943600" y="365760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A98B523-524C-DB14-CBFD-5F254C242C18}"/>
              </a:ext>
            </a:extLst>
          </p:cNvPr>
          <p:cNvSpPr/>
          <p:nvPr/>
        </p:nvSpPr>
        <p:spPr>
          <a:xfrm>
            <a:off x="594360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5D61272-6493-B56C-5EF4-F29098001FCC}"/>
              </a:ext>
            </a:extLst>
          </p:cNvPr>
          <p:cNvSpPr/>
          <p:nvPr/>
        </p:nvSpPr>
        <p:spPr>
          <a:xfrm>
            <a:off x="420624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5C6C812-2E4F-93D1-351A-7D36B0D8D6C7}"/>
              </a:ext>
            </a:extLst>
          </p:cNvPr>
          <p:cNvSpPr/>
          <p:nvPr/>
        </p:nvSpPr>
        <p:spPr>
          <a:xfrm>
            <a:off x="42062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1787F52-D55B-71E9-B45C-4C05EFF1ED9A}"/>
              </a:ext>
            </a:extLst>
          </p:cNvPr>
          <p:cNvSpPr/>
          <p:nvPr/>
        </p:nvSpPr>
        <p:spPr>
          <a:xfrm>
            <a:off x="475488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ADF8255-B902-26C0-C309-B53185B33F24}"/>
              </a:ext>
            </a:extLst>
          </p:cNvPr>
          <p:cNvSpPr/>
          <p:nvPr/>
        </p:nvSpPr>
        <p:spPr>
          <a:xfrm>
            <a:off x="47548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7F24EE8-1724-8000-3B65-E961C71470D3}"/>
              </a:ext>
            </a:extLst>
          </p:cNvPr>
          <p:cNvSpPr/>
          <p:nvPr/>
        </p:nvSpPr>
        <p:spPr>
          <a:xfrm>
            <a:off x="228600" y="128016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A0BD38B-090B-37BA-F961-232641574D39}"/>
              </a:ext>
            </a:extLst>
          </p:cNvPr>
          <p:cNvSpPr/>
          <p:nvPr/>
        </p:nvSpPr>
        <p:spPr>
          <a:xfrm>
            <a:off x="566928" y="12618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Current</a:t>
            </a:r>
            <a:endParaRPr lang="en-US" sz="12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17EC9A2-338E-8BB7-A24F-D104A1E35804}"/>
              </a:ext>
            </a:extLst>
          </p:cNvPr>
          <p:cNvSpPr/>
          <p:nvPr/>
        </p:nvSpPr>
        <p:spPr>
          <a:xfrm>
            <a:off x="228600" y="1737360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98D76A90-3FBE-7F1A-B849-B57FBF1194CD}"/>
              </a:ext>
            </a:extLst>
          </p:cNvPr>
          <p:cNvSpPr/>
          <p:nvPr/>
        </p:nvSpPr>
        <p:spPr>
          <a:xfrm>
            <a:off x="566928" y="1719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Visited</a:t>
            </a:r>
            <a:endParaRPr lang="en-US" sz="12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8DA59D6-CD4E-7716-5FE4-F5E9A0169112}"/>
              </a:ext>
            </a:extLst>
          </p:cNvPr>
          <p:cNvSpPr/>
          <p:nvPr/>
        </p:nvSpPr>
        <p:spPr>
          <a:xfrm>
            <a:off x="228600" y="2194560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7F7EDB6-D098-7D98-15D0-CA86F95E2BA7}"/>
              </a:ext>
            </a:extLst>
          </p:cNvPr>
          <p:cNvSpPr/>
          <p:nvPr/>
        </p:nvSpPr>
        <p:spPr>
          <a:xfrm>
            <a:off x="566928" y="21762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Unvisited</a:t>
            </a:r>
            <a:endParaRPr lang="en-US" sz="12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E6F3368-0332-9371-EF36-9A1383620409}"/>
              </a:ext>
            </a:extLst>
          </p:cNvPr>
          <p:cNvSpPr/>
          <p:nvPr/>
        </p:nvSpPr>
        <p:spPr>
          <a:xfrm>
            <a:off x="228600" y="27432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Stack (memory):</a:t>
            </a:r>
            <a:endParaRPr lang="en-US" sz="13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1D6B180-35D0-0805-2B28-83F08BF01833}"/>
              </a:ext>
            </a:extLst>
          </p:cNvPr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9AB185F-1994-CA3C-D118-CA1E46FDDBCE}"/>
              </a:ext>
            </a:extLst>
          </p:cNvPr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E0F23C4-9F65-F9B0-4B8E-0B944551D050}"/>
              </a:ext>
            </a:extLst>
          </p:cNvPr>
          <p:cNvSpPr/>
          <p:nvPr/>
        </p:nvSpPr>
        <p:spPr>
          <a:xfrm>
            <a:off x="1097280" y="306324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</a:rPr>
              <a:t>← top</a:t>
            </a:r>
            <a:endParaRPr lang="en-US" sz="11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FAF8E507-2E89-EC9D-D625-D9A2AA394024}"/>
              </a:ext>
            </a:extLst>
          </p:cNvPr>
          <p:cNvSpPr/>
          <p:nvPr/>
        </p:nvSpPr>
        <p:spPr>
          <a:xfrm>
            <a:off x="228600" y="4480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Visit order:</a:t>
            </a:r>
            <a:endParaRPr lang="en-US" sz="12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00A1D4F2-F426-C625-2617-6BB0C8376BBF}"/>
              </a:ext>
            </a:extLst>
          </p:cNvPr>
          <p:cNvSpPr/>
          <p:nvPr/>
        </p:nvSpPr>
        <p:spPr>
          <a:xfrm>
            <a:off x="22860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 → B → F → D</a:t>
            </a:r>
            <a:endParaRPr lang="en-US" sz="13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60BAFC84-AB1E-F9C9-E432-D9938F1937DE}"/>
              </a:ext>
            </a:extLst>
          </p:cNvPr>
          <p:cNvSpPr/>
          <p:nvPr/>
        </p:nvSpPr>
        <p:spPr>
          <a:xfrm>
            <a:off x="5303520" y="1042416"/>
            <a:ext cx="5852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Dead end at D: go back to B (Backtrack)</a:t>
            </a:r>
            <a:endParaRPr lang="en-US" sz="1400" dirty="0"/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7EF76F48-1401-78B2-4451-AB743943DA01}"/>
              </a:ext>
            </a:extLst>
          </p:cNvPr>
          <p:cNvCxnSpPr>
            <a:cxnSpLocks/>
            <a:stCxn id="21" idx="1"/>
            <a:endCxn id="15" idx="2"/>
          </p:cNvCxnSpPr>
          <p:nvPr/>
        </p:nvCxnSpPr>
        <p:spPr>
          <a:xfrm rot="5400000" flipH="1" flipV="1">
            <a:off x="2240280" y="3078930"/>
            <a:ext cx="930089" cy="441511"/>
          </a:xfrm>
          <a:prstGeom prst="curved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Shape 36">
            <a:extLst>
              <a:ext uri="{FF2B5EF4-FFF2-40B4-BE49-F238E27FC236}">
                <a16:creationId xmlns:a16="http://schemas.microsoft.com/office/drawing/2014/main" id="{30056763-30E1-C422-616F-6B26E4E003A8}"/>
              </a:ext>
            </a:extLst>
          </p:cNvPr>
          <p:cNvSpPr/>
          <p:nvPr/>
        </p:nvSpPr>
        <p:spPr>
          <a:xfrm>
            <a:off x="228600" y="3401568"/>
            <a:ext cx="8229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37">
            <a:extLst>
              <a:ext uri="{FF2B5EF4-FFF2-40B4-BE49-F238E27FC236}">
                <a16:creationId xmlns:a16="http://schemas.microsoft.com/office/drawing/2014/main" id="{8140D665-5B59-DDDB-17D8-03C41BC38BAD}"/>
              </a:ext>
            </a:extLst>
          </p:cNvPr>
          <p:cNvSpPr/>
          <p:nvPr/>
        </p:nvSpPr>
        <p:spPr>
          <a:xfrm>
            <a:off x="228600" y="340156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54" name="Text 38">
            <a:extLst>
              <a:ext uri="{FF2B5EF4-FFF2-40B4-BE49-F238E27FC236}">
                <a16:creationId xmlns:a16="http://schemas.microsoft.com/office/drawing/2014/main" id="{4FFEFBE2-B04E-CE4F-0A42-521805207185}"/>
              </a:ext>
            </a:extLst>
          </p:cNvPr>
          <p:cNvSpPr/>
          <p:nvPr/>
        </p:nvSpPr>
        <p:spPr>
          <a:xfrm>
            <a:off x="1097280" y="3054096"/>
            <a:ext cx="655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</a:rPr>
              <a:t>← top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48117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ACDA6-2A96-5279-EF3C-2F0DA219D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3">
            <a:extLst>
              <a:ext uri="{FF2B5EF4-FFF2-40B4-BE49-F238E27FC236}">
                <a16:creationId xmlns:a16="http://schemas.microsoft.com/office/drawing/2014/main" id="{06C9AEC5-5884-C73C-2EC5-5931DB437867}"/>
              </a:ext>
            </a:extLst>
          </p:cNvPr>
          <p:cNvSpPr/>
          <p:nvPr/>
        </p:nvSpPr>
        <p:spPr>
          <a:xfrm>
            <a:off x="2926080" y="2410968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2E994B3-BBCB-2FB7-7FF9-A262E493FE3F}"/>
              </a:ext>
            </a:extLst>
          </p:cNvPr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4: Backtrack to D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EAC816-83A2-F450-8AC3-0B26F02C89DB}"/>
              </a:ext>
            </a:extLst>
          </p:cNvPr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Pop D off the stack. Visit D.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E8BD0E4-F694-4D7E-F1B9-81DA3303536B}"/>
              </a:ext>
            </a:extLst>
          </p:cNvPr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914E8FB-B731-6DAB-1903-FFAC1FB55C6D}"/>
              </a:ext>
            </a:extLst>
          </p:cNvPr>
          <p:cNvSpPr/>
          <p:nvPr/>
        </p:nvSpPr>
        <p:spPr>
          <a:xfrm flipH="1">
            <a:off x="329184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C415D2A-2CF6-C65E-7BB6-B860790B5AA3}"/>
              </a:ext>
            </a:extLst>
          </p:cNvPr>
          <p:cNvSpPr/>
          <p:nvPr/>
        </p:nvSpPr>
        <p:spPr>
          <a:xfrm>
            <a:off x="457200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E22EA1D-F6DE-7033-50BA-5435FA341C37}"/>
              </a:ext>
            </a:extLst>
          </p:cNvPr>
          <p:cNvSpPr/>
          <p:nvPr/>
        </p:nvSpPr>
        <p:spPr>
          <a:xfrm flipH="1">
            <a:off x="2743200" y="2834640"/>
            <a:ext cx="548640" cy="118872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3BAA031-33FF-AE82-494A-4627EDD72FCD}"/>
              </a:ext>
            </a:extLst>
          </p:cNvPr>
          <p:cNvSpPr/>
          <p:nvPr/>
        </p:nvSpPr>
        <p:spPr>
          <a:xfrm>
            <a:off x="3291840" y="2834640"/>
            <a:ext cx="128016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55A5575-CFDA-AF3A-B5E4-D192BF9D1CB4}"/>
              </a:ext>
            </a:extLst>
          </p:cNvPr>
          <p:cNvSpPr/>
          <p:nvPr/>
        </p:nvSpPr>
        <p:spPr>
          <a:xfrm>
            <a:off x="5852160" y="2834640"/>
            <a:ext cx="45720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5D4F5B4-8F66-6E66-596D-2DEFA1BAA8DB}"/>
              </a:ext>
            </a:extLst>
          </p:cNvPr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7030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DA180E3-5F8D-A580-0D8C-951DEBFBA639}"/>
              </a:ext>
            </a:extLst>
          </p:cNvPr>
          <p:cNvSpPr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06F27B4-AF48-477F-9511-2B3CAD0BC114}"/>
              </a:ext>
            </a:extLst>
          </p:cNvPr>
          <p:cNvSpPr/>
          <p:nvPr/>
        </p:nvSpPr>
        <p:spPr>
          <a:xfrm>
            <a:off x="4754880" y="1335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BC853B7-FE6F-C37F-7B44-522EB31CB39B}"/>
              </a:ext>
            </a:extLst>
          </p:cNvPr>
          <p:cNvSpPr/>
          <p:nvPr/>
        </p:nvSpPr>
        <p:spPr>
          <a:xfrm>
            <a:off x="4754880" y="1335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752F8C5-C6B6-7932-ED03-21453CE3E0CD}"/>
              </a:ext>
            </a:extLst>
          </p:cNvPr>
          <p:cNvSpPr/>
          <p:nvPr/>
        </p:nvSpPr>
        <p:spPr>
          <a:xfrm>
            <a:off x="292608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F7F02B8-8530-CC8B-0B29-09BFB28E0A5B}"/>
              </a:ext>
            </a:extLst>
          </p:cNvPr>
          <p:cNvSpPr/>
          <p:nvPr/>
        </p:nvSpPr>
        <p:spPr>
          <a:xfrm>
            <a:off x="3474720" y="24323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D2EAF40-9F70-FF8C-F278-D3F79F6F747B}"/>
              </a:ext>
            </a:extLst>
          </p:cNvPr>
          <p:cNvSpPr/>
          <p:nvPr/>
        </p:nvSpPr>
        <p:spPr>
          <a:xfrm>
            <a:off x="3474720" y="2432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4EE487A-A4D2-B386-0819-4DF9082470C8}"/>
              </a:ext>
            </a:extLst>
          </p:cNvPr>
          <p:cNvSpPr/>
          <p:nvPr/>
        </p:nvSpPr>
        <p:spPr>
          <a:xfrm>
            <a:off x="5486400" y="246888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041744F-7B83-7712-256B-676190B14306}"/>
              </a:ext>
            </a:extLst>
          </p:cNvPr>
          <p:cNvSpPr/>
          <p:nvPr/>
        </p:nvSpPr>
        <p:spPr>
          <a:xfrm>
            <a:off x="54864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2C464CE-B6BB-8354-565E-0DE52BB5BDC2}"/>
              </a:ext>
            </a:extLst>
          </p:cNvPr>
          <p:cNvSpPr/>
          <p:nvPr/>
        </p:nvSpPr>
        <p:spPr>
          <a:xfrm>
            <a:off x="237744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C704B31-A78D-862A-CB12-253BEC52EF0A}"/>
              </a:ext>
            </a:extLst>
          </p:cNvPr>
          <p:cNvSpPr/>
          <p:nvPr/>
        </p:nvSpPr>
        <p:spPr>
          <a:xfrm>
            <a:off x="23774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045DCFE-36DF-4078-4591-97614C60AF41}"/>
              </a:ext>
            </a:extLst>
          </p:cNvPr>
          <p:cNvSpPr/>
          <p:nvPr/>
        </p:nvSpPr>
        <p:spPr>
          <a:xfrm>
            <a:off x="292608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93D8123-3686-8EB5-394F-A564CFA80151}"/>
              </a:ext>
            </a:extLst>
          </p:cNvPr>
          <p:cNvSpPr/>
          <p:nvPr/>
        </p:nvSpPr>
        <p:spPr>
          <a:xfrm>
            <a:off x="29260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E472328-6135-44E7-698A-7FE67D089789}"/>
              </a:ext>
            </a:extLst>
          </p:cNvPr>
          <p:cNvSpPr/>
          <p:nvPr/>
        </p:nvSpPr>
        <p:spPr>
          <a:xfrm>
            <a:off x="5943600" y="365760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E866324-1388-1BA9-616C-7E1BCF253219}"/>
              </a:ext>
            </a:extLst>
          </p:cNvPr>
          <p:cNvSpPr/>
          <p:nvPr/>
        </p:nvSpPr>
        <p:spPr>
          <a:xfrm>
            <a:off x="594360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C984EF1-D841-8E3D-DEED-3F9612B0A01D}"/>
              </a:ext>
            </a:extLst>
          </p:cNvPr>
          <p:cNvSpPr/>
          <p:nvPr/>
        </p:nvSpPr>
        <p:spPr>
          <a:xfrm>
            <a:off x="420624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164D330-96DF-C9C8-E2AF-9A64B656B489}"/>
              </a:ext>
            </a:extLst>
          </p:cNvPr>
          <p:cNvSpPr/>
          <p:nvPr/>
        </p:nvSpPr>
        <p:spPr>
          <a:xfrm>
            <a:off x="42062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88670D8-3310-0240-3CBF-1AE37FD5249E}"/>
              </a:ext>
            </a:extLst>
          </p:cNvPr>
          <p:cNvSpPr/>
          <p:nvPr/>
        </p:nvSpPr>
        <p:spPr>
          <a:xfrm>
            <a:off x="475488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A885F0F-5339-9DC8-0913-B1A299B432EB}"/>
              </a:ext>
            </a:extLst>
          </p:cNvPr>
          <p:cNvSpPr/>
          <p:nvPr/>
        </p:nvSpPr>
        <p:spPr>
          <a:xfrm>
            <a:off x="47548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E7EC17E6-8B9B-B43A-E1C5-2AEE3617327C}"/>
              </a:ext>
            </a:extLst>
          </p:cNvPr>
          <p:cNvSpPr/>
          <p:nvPr/>
        </p:nvSpPr>
        <p:spPr>
          <a:xfrm>
            <a:off x="228600" y="128016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7427AEB-2DB3-1535-EB1E-810E9BC6D6C8}"/>
              </a:ext>
            </a:extLst>
          </p:cNvPr>
          <p:cNvSpPr/>
          <p:nvPr/>
        </p:nvSpPr>
        <p:spPr>
          <a:xfrm>
            <a:off x="566928" y="12618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Current</a:t>
            </a:r>
            <a:endParaRPr lang="en-US" sz="12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0AD3751-786C-F2C9-7C86-1043B82CDD88}"/>
              </a:ext>
            </a:extLst>
          </p:cNvPr>
          <p:cNvSpPr/>
          <p:nvPr/>
        </p:nvSpPr>
        <p:spPr>
          <a:xfrm>
            <a:off x="228600" y="1737360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2FF958A-817D-0CC2-F4CD-26C0DC71ADAD}"/>
              </a:ext>
            </a:extLst>
          </p:cNvPr>
          <p:cNvSpPr/>
          <p:nvPr/>
        </p:nvSpPr>
        <p:spPr>
          <a:xfrm>
            <a:off x="566928" y="1719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Visited</a:t>
            </a:r>
            <a:endParaRPr lang="en-US" sz="12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EE100A28-10F1-3AB0-AB16-3CD48B2BBED3}"/>
              </a:ext>
            </a:extLst>
          </p:cNvPr>
          <p:cNvSpPr/>
          <p:nvPr/>
        </p:nvSpPr>
        <p:spPr>
          <a:xfrm>
            <a:off x="228600" y="2194560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7308705-15F5-C4C3-11BC-7B83C11591AB}"/>
              </a:ext>
            </a:extLst>
          </p:cNvPr>
          <p:cNvSpPr/>
          <p:nvPr/>
        </p:nvSpPr>
        <p:spPr>
          <a:xfrm>
            <a:off x="566928" y="21762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Unvisited</a:t>
            </a:r>
            <a:endParaRPr lang="en-US" sz="12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9F5C945-8E9A-BDD2-CD82-69892E8DDF58}"/>
              </a:ext>
            </a:extLst>
          </p:cNvPr>
          <p:cNvSpPr/>
          <p:nvPr/>
        </p:nvSpPr>
        <p:spPr>
          <a:xfrm>
            <a:off x="228600" y="27432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Stack (memory):</a:t>
            </a:r>
            <a:endParaRPr lang="en-US" sz="13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1928666-77B3-2A96-46AF-250048C87D3F}"/>
              </a:ext>
            </a:extLst>
          </p:cNvPr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F27665C-240B-5C2D-D555-A2381E3393D7}"/>
              </a:ext>
            </a:extLst>
          </p:cNvPr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08CE4A0-79A9-A877-F7BE-BADE1B24D27F}"/>
              </a:ext>
            </a:extLst>
          </p:cNvPr>
          <p:cNvSpPr/>
          <p:nvPr/>
        </p:nvSpPr>
        <p:spPr>
          <a:xfrm>
            <a:off x="1097280" y="306324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</a:rPr>
              <a:t>← top</a:t>
            </a:r>
            <a:endParaRPr lang="en-US" sz="11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1F357EF8-CC1B-9E75-3934-B25793288784}"/>
              </a:ext>
            </a:extLst>
          </p:cNvPr>
          <p:cNvSpPr/>
          <p:nvPr/>
        </p:nvSpPr>
        <p:spPr>
          <a:xfrm>
            <a:off x="228600" y="4480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Visit order:</a:t>
            </a:r>
            <a:endParaRPr lang="en-US" sz="12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170C1AE-CA1F-4C12-0AB0-B9DA7A2F484E}"/>
              </a:ext>
            </a:extLst>
          </p:cNvPr>
          <p:cNvSpPr/>
          <p:nvPr/>
        </p:nvSpPr>
        <p:spPr>
          <a:xfrm>
            <a:off x="22860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 → B → F → D</a:t>
            </a:r>
            <a:endParaRPr lang="en-US" sz="13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3341D38B-9AC1-1F72-7ACE-3E91CE1E35E6}"/>
              </a:ext>
            </a:extLst>
          </p:cNvPr>
          <p:cNvSpPr/>
          <p:nvPr/>
        </p:nvSpPr>
        <p:spPr>
          <a:xfrm>
            <a:off x="5303520" y="1042416"/>
            <a:ext cx="5852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Dead end at B : Go back to A</a:t>
            </a:r>
            <a:endParaRPr lang="en-US" sz="1400" dirty="0"/>
          </a:p>
        </p:txBody>
      </p: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4FEB967F-BD36-4B09-B033-31DB357532ED}"/>
              </a:ext>
            </a:extLst>
          </p:cNvPr>
          <p:cNvCxnSpPr>
            <a:cxnSpLocks/>
            <a:stCxn id="15" idx="1"/>
            <a:endCxn id="11" idx="2"/>
          </p:cNvCxnSpPr>
          <p:nvPr/>
        </p:nvCxnSpPr>
        <p:spPr>
          <a:xfrm rot="5400000" flipH="1" flipV="1">
            <a:off x="3229356" y="1541214"/>
            <a:ext cx="780737" cy="1173031"/>
          </a:xfrm>
          <a:prstGeom prst="curved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99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5: Now Visit C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Pop C from stack. Visit C. Push its unvisited neighbor 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329184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737360"/>
            <a:ext cx="1280160" cy="109728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2743200" y="2834640"/>
            <a:ext cx="54864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2834640"/>
            <a:ext cx="128016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834640"/>
            <a:ext cx="45720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1335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335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24688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474720" y="24323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432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2468880"/>
            <a:ext cx="731520" cy="7315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035040" y="24323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432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7744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92608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365760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20624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75488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128016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12618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Current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8600" y="1737360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1719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Visited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28600" y="2194560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1762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Unvisited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28600" y="27432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Stack (memory):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28600" y="4480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Visit order: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2860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 → B → F → D → C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212080" y="1147572"/>
            <a:ext cx="1078992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Go to C</a:t>
            </a:r>
            <a:endParaRPr lang="en-US" sz="1400" dirty="0"/>
          </a:p>
        </p:txBody>
      </p:sp>
      <p:sp>
        <p:nvSpPr>
          <p:cNvPr id="47" name="Shape 34">
            <a:extLst>
              <a:ext uri="{FF2B5EF4-FFF2-40B4-BE49-F238E27FC236}">
                <a16:creationId xmlns:a16="http://schemas.microsoft.com/office/drawing/2014/main" id="{C5042521-877F-B246-EFFD-D4971BD62D99}"/>
              </a:ext>
            </a:extLst>
          </p:cNvPr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1F9BD82A-831F-D60C-A48B-B35F3D711825}"/>
              </a:ext>
            </a:extLst>
          </p:cNvPr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49" name="Shape 36">
            <a:extLst>
              <a:ext uri="{FF2B5EF4-FFF2-40B4-BE49-F238E27FC236}">
                <a16:creationId xmlns:a16="http://schemas.microsoft.com/office/drawing/2014/main" id="{B7D69026-A2F5-453F-B292-243812B84B0E}"/>
              </a:ext>
            </a:extLst>
          </p:cNvPr>
          <p:cNvSpPr/>
          <p:nvPr/>
        </p:nvSpPr>
        <p:spPr>
          <a:xfrm>
            <a:off x="228600" y="3410712"/>
            <a:ext cx="8229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37">
            <a:extLst>
              <a:ext uri="{FF2B5EF4-FFF2-40B4-BE49-F238E27FC236}">
                <a16:creationId xmlns:a16="http://schemas.microsoft.com/office/drawing/2014/main" id="{2AF2F1AD-E327-D99B-1E82-A4B030D98254}"/>
              </a:ext>
            </a:extLst>
          </p:cNvPr>
          <p:cNvSpPr/>
          <p:nvPr/>
        </p:nvSpPr>
        <p:spPr>
          <a:xfrm>
            <a:off x="228600" y="34107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51" name="Text 38">
            <a:extLst>
              <a:ext uri="{FF2B5EF4-FFF2-40B4-BE49-F238E27FC236}">
                <a16:creationId xmlns:a16="http://schemas.microsoft.com/office/drawing/2014/main" id="{6475CBBA-0910-6B64-23AE-1CB75AF8FE4E}"/>
              </a:ext>
            </a:extLst>
          </p:cNvPr>
          <p:cNvSpPr/>
          <p:nvPr/>
        </p:nvSpPr>
        <p:spPr>
          <a:xfrm>
            <a:off x="1097280" y="3063240"/>
            <a:ext cx="655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</a:rPr>
              <a:t>← top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6: Finally Visit E 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Pop E. Visit E. No unvisited neighbors. Stack is empty — DONE!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329184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2743200" y="2834640"/>
            <a:ext cx="54864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2834640"/>
            <a:ext cx="128016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834640"/>
            <a:ext cx="457200" cy="118872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1335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335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24688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474720" y="24323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432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24688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035040" y="24323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432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7744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92608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3657600"/>
            <a:ext cx="731520" cy="7315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49224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0624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75488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128016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12618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Current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28600" y="1737360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1719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Visited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8600" y="2194560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21762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Unvisited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28600" y="27432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Stack (memory):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28600" y="4480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Visit order: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2860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 → B → F → D → C → 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010912" y="1050798"/>
            <a:ext cx="1816608" cy="641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Go to E</a:t>
            </a:r>
            <a:endParaRPr lang="en-US" sz="1400" dirty="0"/>
          </a:p>
        </p:txBody>
      </p:sp>
      <p:sp>
        <p:nvSpPr>
          <p:cNvPr id="46" name="Shape 36">
            <a:extLst>
              <a:ext uri="{FF2B5EF4-FFF2-40B4-BE49-F238E27FC236}">
                <a16:creationId xmlns:a16="http://schemas.microsoft.com/office/drawing/2014/main" id="{C57B5794-9CD6-5312-49CB-0BEEDF94D82A}"/>
              </a:ext>
            </a:extLst>
          </p:cNvPr>
          <p:cNvSpPr/>
          <p:nvPr/>
        </p:nvSpPr>
        <p:spPr>
          <a:xfrm>
            <a:off x="228600" y="3771900"/>
            <a:ext cx="8229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34">
            <a:extLst>
              <a:ext uri="{FF2B5EF4-FFF2-40B4-BE49-F238E27FC236}">
                <a16:creationId xmlns:a16="http://schemas.microsoft.com/office/drawing/2014/main" id="{BAA565B5-1E42-8661-6E5E-F1B754AB384B}"/>
              </a:ext>
            </a:extLst>
          </p:cNvPr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D827DB87-AAF3-A423-6A64-47E6D5BBCC4B}"/>
              </a:ext>
            </a:extLst>
          </p:cNvPr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49" name="Shape 36">
            <a:extLst>
              <a:ext uri="{FF2B5EF4-FFF2-40B4-BE49-F238E27FC236}">
                <a16:creationId xmlns:a16="http://schemas.microsoft.com/office/drawing/2014/main" id="{4B3B77E9-C9E6-399D-B13C-4642D62146A5}"/>
              </a:ext>
            </a:extLst>
          </p:cNvPr>
          <p:cNvSpPr/>
          <p:nvPr/>
        </p:nvSpPr>
        <p:spPr>
          <a:xfrm>
            <a:off x="228600" y="3410712"/>
            <a:ext cx="8229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37">
            <a:extLst>
              <a:ext uri="{FF2B5EF4-FFF2-40B4-BE49-F238E27FC236}">
                <a16:creationId xmlns:a16="http://schemas.microsoft.com/office/drawing/2014/main" id="{C6A3AB23-E6EA-F9DB-DEF5-6B684B72F84E}"/>
              </a:ext>
            </a:extLst>
          </p:cNvPr>
          <p:cNvSpPr/>
          <p:nvPr/>
        </p:nvSpPr>
        <p:spPr>
          <a:xfrm>
            <a:off x="228600" y="34107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51" name="Text 38">
            <a:extLst>
              <a:ext uri="{FF2B5EF4-FFF2-40B4-BE49-F238E27FC236}">
                <a16:creationId xmlns:a16="http://schemas.microsoft.com/office/drawing/2014/main" id="{B569571C-F3BF-A82B-8B40-03C5ABEA7B17}"/>
              </a:ext>
            </a:extLst>
          </p:cNvPr>
          <p:cNvSpPr/>
          <p:nvPr/>
        </p:nvSpPr>
        <p:spPr>
          <a:xfrm>
            <a:off x="1097280" y="3063240"/>
            <a:ext cx="655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</a:rPr>
              <a:t>← top</a:t>
            </a:r>
            <a:endParaRPr lang="en-US" sz="1100" dirty="0"/>
          </a:p>
        </p:txBody>
      </p:sp>
      <p:sp>
        <p:nvSpPr>
          <p:cNvPr id="52" name="Text 37">
            <a:extLst>
              <a:ext uri="{FF2B5EF4-FFF2-40B4-BE49-F238E27FC236}">
                <a16:creationId xmlns:a16="http://schemas.microsoft.com/office/drawing/2014/main" id="{5661E498-2818-6B41-05AA-9766537B15DA}"/>
              </a:ext>
            </a:extLst>
          </p:cNvPr>
          <p:cNvSpPr/>
          <p:nvPr/>
        </p:nvSpPr>
        <p:spPr>
          <a:xfrm>
            <a:off x="228600" y="379018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37C9B2-5C99-66BD-7425-A556D56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6432F4-1099-CFDD-93CC-BE2AF8A1A8DA}"/>
              </a:ext>
            </a:extLst>
          </p:cNvPr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6: Finally Visit E 🎉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A2C72D-28AE-F485-8DEC-463A8820E9FE}"/>
              </a:ext>
            </a:extLst>
          </p:cNvPr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Pop E. Visit E. No unvisited neighbors. Stack is empty — DONE!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81CF6BC-A4BA-EEC2-A24D-D72A54271064}"/>
              </a:ext>
            </a:extLst>
          </p:cNvPr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A11834B-F6B5-EEC5-F517-8E0F95D637CD}"/>
              </a:ext>
            </a:extLst>
          </p:cNvPr>
          <p:cNvSpPr/>
          <p:nvPr/>
        </p:nvSpPr>
        <p:spPr>
          <a:xfrm flipH="1">
            <a:off x="329184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0A6E5B6-685B-B617-31BC-4E9D258B6A77}"/>
              </a:ext>
            </a:extLst>
          </p:cNvPr>
          <p:cNvSpPr/>
          <p:nvPr/>
        </p:nvSpPr>
        <p:spPr>
          <a:xfrm>
            <a:off x="457200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D1EA54-F9E7-55E3-F0B0-AC35E2BBD0D8}"/>
              </a:ext>
            </a:extLst>
          </p:cNvPr>
          <p:cNvSpPr/>
          <p:nvPr/>
        </p:nvSpPr>
        <p:spPr>
          <a:xfrm flipH="1">
            <a:off x="2743200" y="2834640"/>
            <a:ext cx="54864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A581AB6-85C2-0C9F-196B-234B9B7C6935}"/>
              </a:ext>
            </a:extLst>
          </p:cNvPr>
          <p:cNvSpPr/>
          <p:nvPr/>
        </p:nvSpPr>
        <p:spPr>
          <a:xfrm>
            <a:off x="3291840" y="2834640"/>
            <a:ext cx="128016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E79450E-B1FD-0215-C4D5-C887BEE9F339}"/>
              </a:ext>
            </a:extLst>
          </p:cNvPr>
          <p:cNvSpPr/>
          <p:nvPr/>
        </p:nvSpPr>
        <p:spPr>
          <a:xfrm>
            <a:off x="5852160" y="2834640"/>
            <a:ext cx="457200" cy="118872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715A9A9-893D-E053-5C26-DCF48E926562}"/>
              </a:ext>
            </a:extLst>
          </p:cNvPr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0057E29-0703-DDD5-B268-A7C0746AFB30}"/>
              </a:ext>
            </a:extLst>
          </p:cNvPr>
          <p:cNvSpPr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B161A5D-60D2-D3B9-FF20-7E2750915493}"/>
              </a:ext>
            </a:extLst>
          </p:cNvPr>
          <p:cNvSpPr/>
          <p:nvPr/>
        </p:nvSpPr>
        <p:spPr>
          <a:xfrm>
            <a:off x="4754880" y="1335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FC200A3-2892-E655-44FE-F5D3C0B78C90}"/>
              </a:ext>
            </a:extLst>
          </p:cNvPr>
          <p:cNvSpPr/>
          <p:nvPr/>
        </p:nvSpPr>
        <p:spPr>
          <a:xfrm>
            <a:off x="4754880" y="1335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F1F9D47-359D-9EC8-04FD-46B0DE30CFDE}"/>
              </a:ext>
            </a:extLst>
          </p:cNvPr>
          <p:cNvSpPr/>
          <p:nvPr/>
        </p:nvSpPr>
        <p:spPr>
          <a:xfrm>
            <a:off x="2926080" y="24688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CE38433-5A22-7CFD-08EF-B13884A252BD}"/>
              </a:ext>
            </a:extLst>
          </p:cNvPr>
          <p:cNvSpPr/>
          <p:nvPr/>
        </p:nvSpPr>
        <p:spPr>
          <a:xfrm>
            <a:off x="292608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4A3B811-48FF-43F5-917B-C51C29B66E6D}"/>
              </a:ext>
            </a:extLst>
          </p:cNvPr>
          <p:cNvSpPr/>
          <p:nvPr/>
        </p:nvSpPr>
        <p:spPr>
          <a:xfrm>
            <a:off x="3474720" y="24323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25FE7B6-D2CB-95DE-4BDB-C115993A7066}"/>
              </a:ext>
            </a:extLst>
          </p:cNvPr>
          <p:cNvSpPr/>
          <p:nvPr/>
        </p:nvSpPr>
        <p:spPr>
          <a:xfrm>
            <a:off x="3474720" y="2432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A050606-0E85-EB50-DF59-45355929675D}"/>
              </a:ext>
            </a:extLst>
          </p:cNvPr>
          <p:cNvSpPr/>
          <p:nvPr/>
        </p:nvSpPr>
        <p:spPr>
          <a:xfrm>
            <a:off x="5486400" y="2468880"/>
            <a:ext cx="731520" cy="731520"/>
          </a:xfrm>
          <a:prstGeom prst="ellipse">
            <a:avLst/>
          </a:prstGeom>
          <a:solidFill>
            <a:srgbClr val="7030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7928832-5BD7-5816-DD80-9D87C36618C5}"/>
              </a:ext>
            </a:extLst>
          </p:cNvPr>
          <p:cNvSpPr/>
          <p:nvPr/>
        </p:nvSpPr>
        <p:spPr>
          <a:xfrm>
            <a:off x="54864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5D1D15E-C1FF-C729-9965-C66879EF96F5}"/>
              </a:ext>
            </a:extLst>
          </p:cNvPr>
          <p:cNvSpPr/>
          <p:nvPr/>
        </p:nvSpPr>
        <p:spPr>
          <a:xfrm>
            <a:off x="6035040" y="24323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510D717-02A2-CD85-4D0F-DD3B2F53F1E8}"/>
              </a:ext>
            </a:extLst>
          </p:cNvPr>
          <p:cNvSpPr/>
          <p:nvPr/>
        </p:nvSpPr>
        <p:spPr>
          <a:xfrm>
            <a:off x="6035040" y="2432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289544D-D045-4D04-C093-53AE45B521F4}"/>
              </a:ext>
            </a:extLst>
          </p:cNvPr>
          <p:cNvSpPr/>
          <p:nvPr/>
        </p:nvSpPr>
        <p:spPr>
          <a:xfrm>
            <a:off x="237744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5C528E5-2798-E8BE-5B42-215B6E93C40C}"/>
              </a:ext>
            </a:extLst>
          </p:cNvPr>
          <p:cNvSpPr/>
          <p:nvPr/>
        </p:nvSpPr>
        <p:spPr>
          <a:xfrm>
            <a:off x="23774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69D3927-73E8-E670-2FCC-ED1C33057351}"/>
              </a:ext>
            </a:extLst>
          </p:cNvPr>
          <p:cNvSpPr/>
          <p:nvPr/>
        </p:nvSpPr>
        <p:spPr>
          <a:xfrm>
            <a:off x="292608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C0D0690-4B4A-DB9E-0486-25E3E2C11C6D}"/>
              </a:ext>
            </a:extLst>
          </p:cNvPr>
          <p:cNvSpPr/>
          <p:nvPr/>
        </p:nvSpPr>
        <p:spPr>
          <a:xfrm>
            <a:off x="29260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AEE42C6-CB46-0F27-2C9E-AB60470A0E24}"/>
              </a:ext>
            </a:extLst>
          </p:cNvPr>
          <p:cNvSpPr/>
          <p:nvPr/>
        </p:nvSpPr>
        <p:spPr>
          <a:xfrm>
            <a:off x="594360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434231F-40DA-6818-5109-4BDA392FFE39}"/>
              </a:ext>
            </a:extLst>
          </p:cNvPr>
          <p:cNvSpPr/>
          <p:nvPr/>
        </p:nvSpPr>
        <p:spPr>
          <a:xfrm>
            <a:off x="594360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7CF722A-B2B2-6764-F1A3-2887A03E007B}"/>
              </a:ext>
            </a:extLst>
          </p:cNvPr>
          <p:cNvSpPr/>
          <p:nvPr/>
        </p:nvSpPr>
        <p:spPr>
          <a:xfrm>
            <a:off x="649224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E724989-607C-D4A7-70D2-0B8B309E4883}"/>
              </a:ext>
            </a:extLst>
          </p:cNvPr>
          <p:cNvSpPr/>
          <p:nvPr/>
        </p:nvSpPr>
        <p:spPr>
          <a:xfrm>
            <a:off x="649224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FE0F685-B893-F161-6022-DACB0EA3F42A}"/>
              </a:ext>
            </a:extLst>
          </p:cNvPr>
          <p:cNvSpPr/>
          <p:nvPr/>
        </p:nvSpPr>
        <p:spPr>
          <a:xfrm>
            <a:off x="420624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0E215D2-8F39-91EC-D3E3-DFD4F2C79087}"/>
              </a:ext>
            </a:extLst>
          </p:cNvPr>
          <p:cNvSpPr/>
          <p:nvPr/>
        </p:nvSpPr>
        <p:spPr>
          <a:xfrm>
            <a:off x="42062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6500EDA1-97D4-B6AD-34FA-9694AF637A3A}"/>
              </a:ext>
            </a:extLst>
          </p:cNvPr>
          <p:cNvSpPr/>
          <p:nvPr/>
        </p:nvSpPr>
        <p:spPr>
          <a:xfrm>
            <a:off x="475488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77FC04D-6FD0-B575-989A-FC7C20B2CB4B}"/>
              </a:ext>
            </a:extLst>
          </p:cNvPr>
          <p:cNvSpPr/>
          <p:nvPr/>
        </p:nvSpPr>
        <p:spPr>
          <a:xfrm>
            <a:off x="47548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77922E3-E3E6-4791-F8F3-B0822E3FAD3D}"/>
              </a:ext>
            </a:extLst>
          </p:cNvPr>
          <p:cNvSpPr/>
          <p:nvPr/>
        </p:nvSpPr>
        <p:spPr>
          <a:xfrm>
            <a:off x="228600" y="128016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3E89D1F7-BDF7-ADEF-925D-FD05E68EDC0E}"/>
              </a:ext>
            </a:extLst>
          </p:cNvPr>
          <p:cNvSpPr/>
          <p:nvPr/>
        </p:nvSpPr>
        <p:spPr>
          <a:xfrm>
            <a:off x="566928" y="12618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Current</a:t>
            </a:r>
            <a:endParaRPr lang="en-US" sz="12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EF3584C6-853E-2326-C7D9-BA70DD6330D1}"/>
              </a:ext>
            </a:extLst>
          </p:cNvPr>
          <p:cNvSpPr/>
          <p:nvPr/>
        </p:nvSpPr>
        <p:spPr>
          <a:xfrm>
            <a:off x="228600" y="1737360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4EC4DDB-8870-87F1-EC13-D009408B8219}"/>
              </a:ext>
            </a:extLst>
          </p:cNvPr>
          <p:cNvSpPr/>
          <p:nvPr/>
        </p:nvSpPr>
        <p:spPr>
          <a:xfrm>
            <a:off x="566928" y="1719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Visited</a:t>
            </a:r>
            <a:endParaRPr lang="en-US" sz="12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5D9CE4D-D3CB-FB45-3342-FAA0D1C68D47}"/>
              </a:ext>
            </a:extLst>
          </p:cNvPr>
          <p:cNvSpPr/>
          <p:nvPr/>
        </p:nvSpPr>
        <p:spPr>
          <a:xfrm>
            <a:off x="228600" y="2194560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823FC151-0550-1367-B895-FDAAE5E3CC48}"/>
              </a:ext>
            </a:extLst>
          </p:cNvPr>
          <p:cNvSpPr/>
          <p:nvPr/>
        </p:nvSpPr>
        <p:spPr>
          <a:xfrm>
            <a:off x="566928" y="21762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Unvisited</a:t>
            </a: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1715A4C-5DBF-A0CD-CBA0-FFF445F27AD7}"/>
              </a:ext>
            </a:extLst>
          </p:cNvPr>
          <p:cNvSpPr/>
          <p:nvPr/>
        </p:nvSpPr>
        <p:spPr>
          <a:xfrm>
            <a:off x="228600" y="27432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Stack (memory):</a:t>
            </a:r>
            <a:endParaRPr lang="en-US" sz="13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F0EB32FA-C2FB-9E33-7A5C-49B94AE14182}"/>
              </a:ext>
            </a:extLst>
          </p:cNvPr>
          <p:cNvSpPr/>
          <p:nvPr/>
        </p:nvSpPr>
        <p:spPr>
          <a:xfrm>
            <a:off x="228600" y="4480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Visit order:</a:t>
            </a:r>
            <a:endParaRPr lang="en-US" sz="12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4170A53F-2039-6CA5-02D7-0E89B52D823A}"/>
              </a:ext>
            </a:extLst>
          </p:cNvPr>
          <p:cNvSpPr/>
          <p:nvPr/>
        </p:nvSpPr>
        <p:spPr>
          <a:xfrm>
            <a:off x="22860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 → B → F → D → C → E</a:t>
            </a:r>
            <a:endParaRPr lang="en-US" sz="13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5669860D-CED3-089B-88CD-B18957452B0A}"/>
              </a:ext>
            </a:extLst>
          </p:cNvPr>
          <p:cNvSpPr/>
          <p:nvPr/>
        </p:nvSpPr>
        <p:spPr>
          <a:xfrm>
            <a:off x="5120640" y="969264"/>
            <a:ext cx="5852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Dead end at E: return back to C (Backtrack)</a:t>
            </a:r>
            <a:endParaRPr lang="en-US" sz="1400" dirty="0"/>
          </a:p>
        </p:txBody>
      </p:sp>
      <p:sp>
        <p:nvSpPr>
          <p:cNvPr id="47" name="Shape 34">
            <a:extLst>
              <a:ext uri="{FF2B5EF4-FFF2-40B4-BE49-F238E27FC236}">
                <a16:creationId xmlns:a16="http://schemas.microsoft.com/office/drawing/2014/main" id="{05976441-9CB8-A44F-41AF-1650534D5629}"/>
              </a:ext>
            </a:extLst>
          </p:cNvPr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7E8A9E3B-E2E9-AB22-9608-DE07EF54D5D9}"/>
              </a:ext>
            </a:extLst>
          </p:cNvPr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49" name="Shape 36">
            <a:extLst>
              <a:ext uri="{FF2B5EF4-FFF2-40B4-BE49-F238E27FC236}">
                <a16:creationId xmlns:a16="http://schemas.microsoft.com/office/drawing/2014/main" id="{C124EF85-FCE7-5A5D-3389-2EA2DC41BFA5}"/>
              </a:ext>
            </a:extLst>
          </p:cNvPr>
          <p:cNvSpPr/>
          <p:nvPr/>
        </p:nvSpPr>
        <p:spPr>
          <a:xfrm>
            <a:off x="228600" y="3410712"/>
            <a:ext cx="8229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37">
            <a:extLst>
              <a:ext uri="{FF2B5EF4-FFF2-40B4-BE49-F238E27FC236}">
                <a16:creationId xmlns:a16="http://schemas.microsoft.com/office/drawing/2014/main" id="{20C6346F-A003-6AD4-9A62-AC7274198C4C}"/>
              </a:ext>
            </a:extLst>
          </p:cNvPr>
          <p:cNvSpPr/>
          <p:nvPr/>
        </p:nvSpPr>
        <p:spPr>
          <a:xfrm>
            <a:off x="228600" y="34107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51" name="Text 38">
            <a:extLst>
              <a:ext uri="{FF2B5EF4-FFF2-40B4-BE49-F238E27FC236}">
                <a16:creationId xmlns:a16="http://schemas.microsoft.com/office/drawing/2014/main" id="{708C72C8-B9FF-4116-1300-9B9B14325533}"/>
              </a:ext>
            </a:extLst>
          </p:cNvPr>
          <p:cNvSpPr/>
          <p:nvPr/>
        </p:nvSpPr>
        <p:spPr>
          <a:xfrm>
            <a:off x="1097280" y="3063240"/>
            <a:ext cx="655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</a:rPr>
              <a:t>← top</a:t>
            </a:r>
            <a:endParaRPr lang="en-US" sz="1100" dirty="0"/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C34E0A64-87D2-D41C-DA6B-F9969E53C8B5}"/>
              </a:ext>
            </a:extLst>
          </p:cNvPr>
          <p:cNvCxnSpPr>
            <a:cxnSpLocks/>
            <a:stCxn id="27" idx="6"/>
            <a:endCxn id="20" idx="3"/>
          </p:cNvCxnSpPr>
          <p:nvPr/>
        </p:nvCxnSpPr>
        <p:spPr>
          <a:xfrm flipH="1" flipV="1">
            <a:off x="6217920" y="2834640"/>
            <a:ext cx="457200" cy="1188720"/>
          </a:xfrm>
          <a:prstGeom prst="curvedConnector3">
            <a:avLst>
              <a:gd name="adj1" fmla="val -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572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3ED2EA-ED4A-8DD2-8996-32F907CAC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47CBA4-9436-E352-BC8E-8EF3A6DBDB5B}"/>
              </a:ext>
            </a:extLst>
          </p:cNvPr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6: Finally Visit E 🎉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C55F5A-1BF1-2FAD-026E-0EB53E993AF2}"/>
              </a:ext>
            </a:extLst>
          </p:cNvPr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Pop E. Visit E. No unvisited neighbors. Stack is empty — DONE!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1194100-0524-6236-B7C4-326198BC3EB0}"/>
              </a:ext>
            </a:extLst>
          </p:cNvPr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F6C2522-E38E-475A-FA46-56689D9A6A9A}"/>
              </a:ext>
            </a:extLst>
          </p:cNvPr>
          <p:cNvSpPr/>
          <p:nvPr/>
        </p:nvSpPr>
        <p:spPr>
          <a:xfrm flipH="1">
            <a:off x="329184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F4C1A86-3B77-3990-1F8D-3B6ABCE6ED70}"/>
              </a:ext>
            </a:extLst>
          </p:cNvPr>
          <p:cNvSpPr/>
          <p:nvPr/>
        </p:nvSpPr>
        <p:spPr>
          <a:xfrm>
            <a:off x="457200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653DD85-70B3-769B-8A75-1DDE417754AD}"/>
              </a:ext>
            </a:extLst>
          </p:cNvPr>
          <p:cNvSpPr/>
          <p:nvPr/>
        </p:nvSpPr>
        <p:spPr>
          <a:xfrm flipH="1">
            <a:off x="2743200" y="2834640"/>
            <a:ext cx="54864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F342FBD-65BA-AE75-DDE9-EE7E86B2CEFE}"/>
              </a:ext>
            </a:extLst>
          </p:cNvPr>
          <p:cNvSpPr/>
          <p:nvPr/>
        </p:nvSpPr>
        <p:spPr>
          <a:xfrm>
            <a:off x="3291840" y="2834640"/>
            <a:ext cx="128016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3F1ABD3-71B6-4694-3DDA-BBA1682FF200}"/>
              </a:ext>
            </a:extLst>
          </p:cNvPr>
          <p:cNvSpPr/>
          <p:nvPr/>
        </p:nvSpPr>
        <p:spPr>
          <a:xfrm>
            <a:off x="5852160" y="2834640"/>
            <a:ext cx="457200" cy="118872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976A956-CCED-B4B1-947E-F2941CAEC41A}"/>
              </a:ext>
            </a:extLst>
          </p:cNvPr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7030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3997F34-9F65-885B-2DA5-F0128A83762E}"/>
              </a:ext>
            </a:extLst>
          </p:cNvPr>
          <p:cNvSpPr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8D3E062-9534-E5D8-E669-9242E7220378}"/>
              </a:ext>
            </a:extLst>
          </p:cNvPr>
          <p:cNvSpPr/>
          <p:nvPr/>
        </p:nvSpPr>
        <p:spPr>
          <a:xfrm>
            <a:off x="4754880" y="1335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9570B30-02BF-507E-6247-257B4C5547CB}"/>
              </a:ext>
            </a:extLst>
          </p:cNvPr>
          <p:cNvSpPr/>
          <p:nvPr/>
        </p:nvSpPr>
        <p:spPr>
          <a:xfrm>
            <a:off x="4754880" y="1335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4652330-FA60-5430-9C9D-88AE6BBC8EFA}"/>
              </a:ext>
            </a:extLst>
          </p:cNvPr>
          <p:cNvSpPr/>
          <p:nvPr/>
        </p:nvSpPr>
        <p:spPr>
          <a:xfrm>
            <a:off x="2926080" y="24688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EA2AF0F-9F4B-0FAF-9BA6-26BAB58A59BC}"/>
              </a:ext>
            </a:extLst>
          </p:cNvPr>
          <p:cNvSpPr/>
          <p:nvPr/>
        </p:nvSpPr>
        <p:spPr>
          <a:xfrm>
            <a:off x="292608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360E58E-7D9F-9077-2F75-D666CBF3638B}"/>
              </a:ext>
            </a:extLst>
          </p:cNvPr>
          <p:cNvSpPr/>
          <p:nvPr/>
        </p:nvSpPr>
        <p:spPr>
          <a:xfrm>
            <a:off x="3474720" y="24323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7CA6F7F-E384-BF81-A8EB-50E377857BA0}"/>
              </a:ext>
            </a:extLst>
          </p:cNvPr>
          <p:cNvSpPr/>
          <p:nvPr/>
        </p:nvSpPr>
        <p:spPr>
          <a:xfrm>
            <a:off x="3474720" y="2432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4057098-E620-BBB6-572E-F236B0902863}"/>
              </a:ext>
            </a:extLst>
          </p:cNvPr>
          <p:cNvSpPr/>
          <p:nvPr/>
        </p:nvSpPr>
        <p:spPr>
          <a:xfrm>
            <a:off x="5486400" y="24688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6C04686-CC78-5196-7A7D-9E0E149509AF}"/>
              </a:ext>
            </a:extLst>
          </p:cNvPr>
          <p:cNvSpPr/>
          <p:nvPr/>
        </p:nvSpPr>
        <p:spPr>
          <a:xfrm>
            <a:off x="54864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31BAD3D-AE4E-8A5E-E023-FEB37C0F6FEB}"/>
              </a:ext>
            </a:extLst>
          </p:cNvPr>
          <p:cNvSpPr/>
          <p:nvPr/>
        </p:nvSpPr>
        <p:spPr>
          <a:xfrm>
            <a:off x="6035040" y="24323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1D5616F-955D-D627-9575-CE6384371E46}"/>
              </a:ext>
            </a:extLst>
          </p:cNvPr>
          <p:cNvSpPr/>
          <p:nvPr/>
        </p:nvSpPr>
        <p:spPr>
          <a:xfrm>
            <a:off x="6035040" y="2432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6D65FC1-58E0-D404-F33A-757097D6BD6B}"/>
              </a:ext>
            </a:extLst>
          </p:cNvPr>
          <p:cNvSpPr/>
          <p:nvPr/>
        </p:nvSpPr>
        <p:spPr>
          <a:xfrm>
            <a:off x="237744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6F89D06-9B8E-2E69-A621-44F7409C258D}"/>
              </a:ext>
            </a:extLst>
          </p:cNvPr>
          <p:cNvSpPr/>
          <p:nvPr/>
        </p:nvSpPr>
        <p:spPr>
          <a:xfrm>
            <a:off x="23774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B8638FB-2665-5E6D-4FF5-371B6143A5EF}"/>
              </a:ext>
            </a:extLst>
          </p:cNvPr>
          <p:cNvSpPr/>
          <p:nvPr/>
        </p:nvSpPr>
        <p:spPr>
          <a:xfrm>
            <a:off x="292608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A833AAE-E453-332E-5946-1F168D1E71F4}"/>
              </a:ext>
            </a:extLst>
          </p:cNvPr>
          <p:cNvSpPr/>
          <p:nvPr/>
        </p:nvSpPr>
        <p:spPr>
          <a:xfrm>
            <a:off x="29260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6F9BDDC-FC19-39A9-4998-D1D643B8CE21}"/>
              </a:ext>
            </a:extLst>
          </p:cNvPr>
          <p:cNvSpPr/>
          <p:nvPr/>
        </p:nvSpPr>
        <p:spPr>
          <a:xfrm>
            <a:off x="594360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AC27DB2-22C6-88B7-90B1-5EE4CA49F204}"/>
              </a:ext>
            </a:extLst>
          </p:cNvPr>
          <p:cNvSpPr/>
          <p:nvPr/>
        </p:nvSpPr>
        <p:spPr>
          <a:xfrm>
            <a:off x="594360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DE9A9D9-A366-6A2A-7D4C-0A9DA9A626B5}"/>
              </a:ext>
            </a:extLst>
          </p:cNvPr>
          <p:cNvSpPr/>
          <p:nvPr/>
        </p:nvSpPr>
        <p:spPr>
          <a:xfrm>
            <a:off x="649224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EC298F8-96A7-BC7B-4DC5-52153EEA798B}"/>
              </a:ext>
            </a:extLst>
          </p:cNvPr>
          <p:cNvSpPr/>
          <p:nvPr/>
        </p:nvSpPr>
        <p:spPr>
          <a:xfrm>
            <a:off x="649224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E8881E7-0E33-C58D-2F96-A75E04668852}"/>
              </a:ext>
            </a:extLst>
          </p:cNvPr>
          <p:cNvSpPr/>
          <p:nvPr/>
        </p:nvSpPr>
        <p:spPr>
          <a:xfrm>
            <a:off x="420624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B52AB4A-D98A-C32C-8936-A6B836543CA6}"/>
              </a:ext>
            </a:extLst>
          </p:cNvPr>
          <p:cNvSpPr/>
          <p:nvPr/>
        </p:nvSpPr>
        <p:spPr>
          <a:xfrm>
            <a:off x="42062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E63E35ED-A5D3-B32A-42ED-B930A2DEA131}"/>
              </a:ext>
            </a:extLst>
          </p:cNvPr>
          <p:cNvSpPr/>
          <p:nvPr/>
        </p:nvSpPr>
        <p:spPr>
          <a:xfrm>
            <a:off x="475488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CF764DD-4EAD-DEB7-372D-B3F075D53C3D}"/>
              </a:ext>
            </a:extLst>
          </p:cNvPr>
          <p:cNvSpPr/>
          <p:nvPr/>
        </p:nvSpPr>
        <p:spPr>
          <a:xfrm>
            <a:off x="47548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BFA6387F-B134-DA94-5EC9-A49952F9ED1D}"/>
              </a:ext>
            </a:extLst>
          </p:cNvPr>
          <p:cNvSpPr/>
          <p:nvPr/>
        </p:nvSpPr>
        <p:spPr>
          <a:xfrm>
            <a:off x="228600" y="128016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32AAE776-4E42-8823-A81E-B20BF43FF2DE}"/>
              </a:ext>
            </a:extLst>
          </p:cNvPr>
          <p:cNvSpPr/>
          <p:nvPr/>
        </p:nvSpPr>
        <p:spPr>
          <a:xfrm>
            <a:off x="566928" y="12618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Current</a:t>
            </a:r>
            <a:endParaRPr lang="en-US" sz="12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49C7D9B-8086-0220-DD54-53F5373675AD}"/>
              </a:ext>
            </a:extLst>
          </p:cNvPr>
          <p:cNvSpPr/>
          <p:nvPr/>
        </p:nvSpPr>
        <p:spPr>
          <a:xfrm>
            <a:off x="228600" y="1737360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AD268149-474D-AA01-6FD6-B303816810E2}"/>
              </a:ext>
            </a:extLst>
          </p:cNvPr>
          <p:cNvSpPr/>
          <p:nvPr/>
        </p:nvSpPr>
        <p:spPr>
          <a:xfrm>
            <a:off x="566928" y="1719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Visited</a:t>
            </a:r>
            <a:endParaRPr lang="en-US" sz="12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A77D0ADE-223F-9D75-434B-23898E681F3A}"/>
              </a:ext>
            </a:extLst>
          </p:cNvPr>
          <p:cNvSpPr/>
          <p:nvPr/>
        </p:nvSpPr>
        <p:spPr>
          <a:xfrm>
            <a:off x="228600" y="2194560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B8F4785-9DA0-78B7-C146-0F8EA52220B8}"/>
              </a:ext>
            </a:extLst>
          </p:cNvPr>
          <p:cNvSpPr/>
          <p:nvPr/>
        </p:nvSpPr>
        <p:spPr>
          <a:xfrm>
            <a:off x="566928" y="21762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Unvisited</a:t>
            </a: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6F417F3-38E4-E5CE-6B1F-CDC5C900C44D}"/>
              </a:ext>
            </a:extLst>
          </p:cNvPr>
          <p:cNvSpPr/>
          <p:nvPr/>
        </p:nvSpPr>
        <p:spPr>
          <a:xfrm>
            <a:off x="228600" y="27432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Stack (memory):</a:t>
            </a:r>
            <a:endParaRPr lang="en-US" sz="13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E35D0BF8-7D40-887B-99E9-139E1179EA45}"/>
              </a:ext>
            </a:extLst>
          </p:cNvPr>
          <p:cNvSpPr/>
          <p:nvPr/>
        </p:nvSpPr>
        <p:spPr>
          <a:xfrm>
            <a:off x="228600" y="4480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Visit order:</a:t>
            </a:r>
            <a:endParaRPr lang="en-US" sz="12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B91D771-1DE1-F75B-FDB4-00250AAEC573}"/>
              </a:ext>
            </a:extLst>
          </p:cNvPr>
          <p:cNvSpPr/>
          <p:nvPr/>
        </p:nvSpPr>
        <p:spPr>
          <a:xfrm>
            <a:off x="22860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 → B → F → D → C → E</a:t>
            </a:r>
            <a:endParaRPr lang="en-US" sz="13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DEE8E1B8-F3E9-6537-78CF-E52B5A600410}"/>
              </a:ext>
            </a:extLst>
          </p:cNvPr>
          <p:cNvSpPr/>
          <p:nvPr/>
        </p:nvSpPr>
        <p:spPr>
          <a:xfrm>
            <a:off x="5129784" y="1069848"/>
            <a:ext cx="3447288" cy="687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Dead end at C : Return back to A  (backtrack)</a:t>
            </a:r>
            <a:endParaRPr lang="en-US" sz="1400" dirty="0"/>
          </a:p>
        </p:txBody>
      </p:sp>
      <p:sp>
        <p:nvSpPr>
          <p:cNvPr id="47" name="Shape 34">
            <a:extLst>
              <a:ext uri="{FF2B5EF4-FFF2-40B4-BE49-F238E27FC236}">
                <a16:creationId xmlns:a16="http://schemas.microsoft.com/office/drawing/2014/main" id="{DBCAC07A-3704-1E3A-CE3F-14ED43DD67ED}"/>
              </a:ext>
            </a:extLst>
          </p:cNvPr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C2ECFBA6-CD12-6BB6-51CD-E8D892371447}"/>
              </a:ext>
            </a:extLst>
          </p:cNvPr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50" name="Text 37">
            <a:extLst>
              <a:ext uri="{FF2B5EF4-FFF2-40B4-BE49-F238E27FC236}">
                <a16:creationId xmlns:a16="http://schemas.microsoft.com/office/drawing/2014/main" id="{E82B6154-245D-CD32-59D3-BF6ABFE0B95A}"/>
              </a:ext>
            </a:extLst>
          </p:cNvPr>
          <p:cNvSpPr/>
          <p:nvPr/>
        </p:nvSpPr>
        <p:spPr>
          <a:xfrm>
            <a:off x="228600" y="34107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1" name="Text 38">
            <a:extLst>
              <a:ext uri="{FF2B5EF4-FFF2-40B4-BE49-F238E27FC236}">
                <a16:creationId xmlns:a16="http://schemas.microsoft.com/office/drawing/2014/main" id="{DEC5EC6F-7B63-6628-7216-BDAF5C2B6A1B}"/>
              </a:ext>
            </a:extLst>
          </p:cNvPr>
          <p:cNvSpPr/>
          <p:nvPr/>
        </p:nvSpPr>
        <p:spPr>
          <a:xfrm>
            <a:off x="1097280" y="3063240"/>
            <a:ext cx="655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</a:rPr>
              <a:t>← top</a:t>
            </a:r>
            <a:endParaRPr lang="en-US" sz="1100" dirty="0"/>
          </a:p>
        </p:txBody>
      </p: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90723863-01A7-ABAF-7CAE-BD6BC8B5D421}"/>
              </a:ext>
            </a:extLst>
          </p:cNvPr>
          <p:cNvCxnSpPr>
            <a:cxnSpLocks/>
            <a:stCxn id="20" idx="0"/>
            <a:endCxn id="12" idx="3"/>
          </p:cNvCxnSpPr>
          <p:nvPr/>
        </p:nvCxnSpPr>
        <p:spPr>
          <a:xfrm rot="16200000" flipV="1">
            <a:off x="5029200" y="1645920"/>
            <a:ext cx="731520" cy="914400"/>
          </a:xfrm>
          <a:prstGeom prst="curved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047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B1EF68-FEB8-3F04-40E5-691B41E5B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63F9367-EE49-35B8-83B6-7FE8997F3B3C}"/>
              </a:ext>
            </a:extLst>
          </p:cNvPr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6: Finally Visit E 🎉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3648E28-7B31-0FE4-3CAC-D414151CFD1D}"/>
              </a:ext>
            </a:extLst>
          </p:cNvPr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Pop E. Visit E. No unvisited neighbors. Stack is empty — DONE!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05FB46C-71D9-DB4A-C77C-E4135F6D6B4B}"/>
              </a:ext>
            </a:extLst>
          </p:cNvPr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09F2993-4DCC-F058-EE28-6372B0E579A6}"/>
              </a:ext>
            </a:extLst>
          </p:cNvPr>
          <p:cNvSpPr/>
          <p:nvPr/>
        </p:nvSpPr>
        <p:spPr>
          <a:xfrm flipH="1">
            <a:off x="329184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923277D-325C-905A-CC2B-A4F97B2EA2DA}"/>
              </a:ext>
            </a:extLst>
          </p:cNvPr>
          <p:cNvSpPr/>
          <p:nvPr/>
        </p:nvSpPr>
        <p:spPr>
          <a:xfrm>
            <a:off x="4572000" y="1737360"/>
            <a:ext cx="1280160" cy="109728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8EB9BC1-4B88-7DEB-71BA-17ABE90CF40B}"/>
              </a:ext>
            </a:extLst>
          </p:cNvPr>
          <p:cNvSpPr/>
          <p:nvPr/>
        </p:nvSpPr>
        <p:spPr>
          <a:xfrm flipH="1">
            <a:off x="2743200" y="2834640"/>
            <a:ext cx="54864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4B08F2D-7EA1-6D85-B61C-FA158848910F}"/>
              </a:ext>
            </a:extLst>
          </p:cNvPr>
          <p:cNvSpPr/>
          <p:nvPr/>
        </p:nvSpPr>
        <p:spPr>
          <a:xfrm>
            <a:off x="3291840" y="2834640"/>
            <a:ext cx="128016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D035986-F79F-E979-6FDE-A4CFC5A2A4DB}"/>
              </a:ext>
            </a:extLst>
          </p:cNvPr>
          <p:cNvSpPr/>
          <p:nvPr/>
        </p:nvSpPr>
        <p:spPr>
          <a:xfrm>
            <a:off x="5852160" y="2834640"/>
            <a:ext cx="457200" cy="118872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5ED6EDE-6F2C-BB43-AC24-68804E2B2B87}"/>
              </a:ext>
            </a:extLst>
          </p:cNvPr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35C2DF7-550C-6918-457C-82A36E039BFA}"/>
              </a:ext>
            </a:extLst>
          </p:cNvPr>
          <p:cNvSpPr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348E8A0-6D3A-7264-A5C7-95A725F4069E}"/>
              </a:ext>
            </a:extLst>
          </p:cNvPr>
          <p:cNvSpPr/>
          <p:nvPr/>
        </p:nvSpPr>
        <p:spPr>
          <a:xfrm>
            <a:off x="4754880" y="1335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BD6E42F-E13E-D23B-F921-F03245C9730E}"/>
              </a:ext>
            </a:extLst>
          </p:cNvPr>
          <p:cNvSpPr/>
          <p:nvPr/>
        </p:nvSpPr>
        <p:spPr>
          <a:xfrm>
            <a:off x="4754880" y="1335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D01FFAA-2039-6ED0-F82E-5E0DC860ECD6}"/>
              </a:ext>
            </a:extLst>
          </p:cNvPr>
          <p:cNvSpPr/>
          <p:nvPr/>
        </p:nvSpPr>
        <p:spPr>
          <a:xfrm>
            <a:off x="2926080" y="24688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7281886-5199-1AEB-FFBA-31729690EE69}"/>
              </a:ext>
            </a:extLst>
          </p:cNvPr>
          <p:cNvSpPr/>
          <p:nvPr/>
        </p:nvSpPr>
        <p:spPr>
          <a:xfrm>
            <a:off x="292608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5257C54-1E1F-08E0-61CB-7B8E148BD25E}"/>
              </a:ext>
            </a:extLst>
          </p:cNvPr>
          <p:cNvSpPr/>
          <p:nvPr/>
        </p:nvSpPr>
        <p:spPr>
          <a:xfrm>
            <a:off x="3474720" y="24323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2333CC6-1C50-B3CD-46BD-A24DE4DF5F82}"/>
              </a:ext>
            </a:extLst>
          </p:cNvPr>
          <p:cNvSpPr/>
          <p:nvPr/>
        </p:nvSpPr>
        <p:spPr>
          <a:xfrm>
            <a:off x="3474720" y="2432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2EEFDB5-D847-5CB2-E4B9-CEB8D9C85DDA}"/>
              </a:ext>
            </a:extLst>
          </p:cNvPr>
          <p:cNvSpPr/>
          <p:nvPr/>
        </p:nvSpPr>
        <p:spPr>
          <a:xfrm>
            <a:off x="5486400" y="24688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EE1BEBD-C0EC-0D07-36A0-675FE97D2DF6}"/>
              </a:ext>
            </a:extLst>
          </p:cNvPr>
          <p:cNvSpPr/>
          <p:nvPr/>
        </p:nvSpPr>
        <p:spPr>
          <a:xfrm>
            <a:off x="54864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C94E547-3D42-A148-E052-ADF1D565A977}"/>
              </a:ext>
            </a:extLst>
          </p:cNvPr>
          <p:cNvSpPr/>
          <p:nvPr/>
        </p:nvSpPr>
        <p:spPr>
          <a:xfrm>
            <a:off x="6035040" y="243230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2FF7227-A3E6-2FB6-B63A-9CA1B6FC4E9A}"/>
              </a:ext>
            </a:extLst>
          </p:cNvPr>
          <p:cNvSpPr/>
          <p:nvPr/>
        </p:nvSpPr>
        <p:spPr>
          <a:xfrm>
            <a:off x="6035040" y="2432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A33A2A2-6786-3367-1D87-608CAF88E11A}"/>
              </a:ext>
            </a:extLst>
          </p:cNvPr>
          <p:cNvSpPr/>
          <p:nvPr/>
        </p:nvSpPr>
        <p:spPr>
          <a:xfrm>
            <a:off x="237744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549D799-03E0-7CAB-9A1E-60310DD91073}"/>
              </a:ext>
            </a:extLst>
          </p:cNvPr>
          <p:cNvSpPr/>
          <p:nvPr/>
        </p:nvSpPr>
        <p:spPr>
          <a:xfrm>
            <a:off x="23774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1D296AE-33FD-9700-881C-32683B04D281}"/>
              </a:ext>
            </a:extLst>
          </p:cNvPr>
          <p:cNvSpPr/>
          <p:nvPr/>
        </p:nvSpPr>
        <p:spPr>
          <a:xfrm>
            <a:off x="292608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5ED15B5-DF47-5ACA-0D19-DD686EC76213}"/>
              </a:ext>
            </a:extLst>
          </p:cNvPr>
          <p:cNvSpPr/>
          <p:nvPr/>
        </p:nvSpPr>
        <p:spPr>
          <a:xfrm>
            <a:off x="29260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0318FE2-B735-0A96-16C8-6527C2CB31FD}"/>
              </a:ext>
            </a:extLst>
          </p:cNvPr>
          <p:cNvSpPr/>
          <p:nvPr/>
        </p:nvSpPr>
        <p:spPr>
          <a:xfrm>
            <a:off x="594360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7C31AC2-4F73-3677-0F50-39CC70A65332}"/>
              </a:ext>
            </a:extLst>
          </p:cNvPr>
          <p:cNvSpPr/>
          <p:nvPr/>
        </p:nvSpPr>
        <p:spPr>
          <a:xfrm>
            <a:off x="594360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BC37C6EA-4B84-7FAB-69E4-375100791202}"/>
              </a:ext>
            </a:extLst>
          </p:cNvPr>
          <p:cNvSpPr/>
          <p:nvPr/>
        </p:nvSpPr>
        <p:spPr>
          <a:xfrm>
            <a:off x="649224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EE02FC8-C16E-0424-E805-B77B8EA6A405}"/>
              </a:ext>
            </a:extLst>
          </p:cNvPr>
          <p:cNvSpPr/>
          <p:nvPr/>
        </p:nvSpPr>
        <p:spPr>
          <a:xfrm>
            <a:off x="649224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5D94375-0F41-3157-6E3D-A73884A8134F}"/>
              </a:ext>
            </a:extLst>
          </p:cNvPr>
          <p:cNvSpPr/>
          <p:nvPr/>
        </p:nvSpPr>
        <p:spPr>
          <a:xfrm>
            <a:off x="4206240" y="365760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F6A4E3E-539E-358F-EDDA-33A358C19C02}"/>
              </a:ext>
            </a:extLst>
          </p:cNvPr>
          <p:cNvSpPr/>
          <p:nvPr/>
        </p:nvSpPr>
        <p:spPr>
          <a:xfrm>
            <a:off x="420624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53D0B084-7EEB-9528-C443-BAF96B8E7564}"/>
              </a:ext>
            </a:extLst>
          </p:cNvPr>
          <p:cNvSpPr/>
          <p:nvPr/>
        </p:nvSpPr>
        <p:spPr>
          <a:xfrm>
            <a:off x="4754880" y="362102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65F9C21-FA79-BB20-6675-4A5A964503FC}"/>
              </a:ext>
            </a:extLst>
          </p:cNvPr>
          <p:cNvSpPr/>
          <p:nvPr/>
        </p:nvSpPr>
        <p:spPr>
          <a:xfrm>
            <a:off x="4754880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FC46283-FCFF-7D30-0C1B-313C58AEF023}"/>
              </a:ext>
            </a:extLst>
          </p:cNvPr>
          <p:cNvSpPr/>
          <p:nvPr/>
        </p:nvSpPr>
        <p:spPr>
          <a:xfrm>
            <a:off x="228600" y="128016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1B795E8-5556-6137-C4EC-5B05D868F0F4}"/>
              </a:ext>
            </a:extLst>
          </p:cNvPr>
          <p:cNvSpPr/>
          <p:nvPr/>
        </p:nvSpPr>
        <p:spPr>
          <a:xfrm>
            <a:off x="566928" y="12618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Current</a:t>
            </a:r>
            <a:endParaRPr lang="en-US" sz="12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0B3ADCB4-CD5D-8AFC-3275-A5A5E362B1FD}"/>
              </a:ext>
            </a:extLst>
          </p:cNvPr>
          <p:cNvSpPr/>
          <p:nvPr/>
        </p:nvSpPr>
        <p:spPr>
          <a:xfrm>
            <a:off x="228600" y="1737360"/>
            <a:ext cx="228600" cy="2286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97154738-776A-8E45-5295-AA2E71AF3741}"/>
              </a:ext>
            </a:extLst>
          </p:cNvPr>
          <p:cNvSpPr/>
          <p:nvPr/>
        </p:nvSpPr>
        <p:spPr>
          <a:xfrm>
            <a:off x="566928" y="1719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Visited</a:t>
            </a:r>
            <a:endParaRPr lang="en-US" sz="12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1E694D5E-4674-2A51-FAC5-1677C9430B3A}"/>
              </a:ext>
            </a:extLst>
          </p:cNvPr>
          <p:cNvSpPr/>
          <p:nvPr/>
        </p:nvSpPr>
        <p:spPr>
          <a:xfrm>
            <a:off x="228600" y="2194560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7738AE3E-27E3-FE4E-4F88-239BC80324F9}"/>
              </a:ext>
            </a:extLst>
          </p:cNvPr>
          <p:cNvSpPr/>
          <p:nvPr/>
        </p:nvSpPr>
        <p:spPr>
          <a:xfrm>
            <a:off x="566928" y="21762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Unvisited</a:t>
            </a: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15B84D18-B8DE-175C-2544-DCD8160143F1}"/>
              </a:ext>
            </a:extLst>
          </p:cNvPr>
          <p:cNvSpPr/>
          <p:nvPr/>
        </p:nvSpPr>
        <p:spPr>
          <a:xfrm>
            <a:off x="228600" y="27432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Stack (memory):</a:t>
            </a:r>
            <a:endParaRPr lang="en-US" sz="13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F4A40351-04A3-48C5-1368-50B4C395CE63}"/>
              </a:ext>
            </a:extLst>
          </p:cNvPr>
          <p:cNvSpPr/>
          <p:nvPr/>
        </p:nvSpPr>
        <p:spPr>
          <a:xfrm>
            <a:off x="228600" y="4480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Visit order:</a:t>
            </a:r>
            <a:endParaRPr lang="en-US" sz="12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E988EA47-7830-565E-F8E9-776D1E1EC8E3}"/>
              </a:ext>
            </a:extLst>
          </p:cNvPr>
          <p:cNvSpPr/>
          <p:nvPr/>
        </p:nvSpPr>
        <p:spPr>
          <a:xfrm>
            <a:off x="228600" y="4709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 → B → F → D → C → E</a:t>
            </a:r>
            <a:endParaRPr lang="en-US" sz="13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CC3D2DFE-53AF-E0DD-4FFB-3CEE639CF6E6}"/>
              </a:ext>
            </a:extLst>
          </p:cNvPr>
          <p:cNvSpPr/>
          <p:nvPr/>
        </p:nvSpPr>
        <p:spPr>
          <a:xfrm>
            <a:off x="5064252" y="928116"/>
            <a:ext cx="5852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Dead end at A : return . </a:t>
            </a:r>
            <a:br>
              <a:rPr lang="en-US" sz="1400" dirty="0">
                <a:solidFill>
                  <a:srgbClr val="B0C4DE"/>
                </a:solidFill>
              </a:rPr>
            </a:br>
            <a:r>
              <a:rPr lang="en-US" sz="1400" dirty="0">
                <a:solidFill>
                  <a:srgbClr val="B0C4DE"/>
                </a:solidFill>
              </a:rPr>
              <a:t>The traversal is finished.</a:t>
            </a:r>
            <a:endParaRPr lang="en-US" sz="1400" dirty="0"/>
          </a:p>
        </p:txBody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CF69C43E-C1F9-4F50-AFC0-59CC660C7EAA}"/>
              </a:ext>
            </a:extLst>
          </p:cNvPr>
          <p:cNvSpPr/>
          <p:nvPr/>
        </p:nvSpPr>
        <p:spPr>
          <a:xfrm>
            <a:off x="228600" y="30632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Empty</a:t>
            </a:r>
            <a:endParaRPr lang="en-US" sz="1300" dirty="0"/>
          </a:p>
        </p:txBody>
      </p:sp>
      <p:sp>
        <p:nvSpPr>
          <p:cNvPr id="50" name="Text 37">
            <a:extLst>
              <a:ext uri="{FF2B5EF4-FFF2-40B4-BE49-F238E27FC236}">
                <a16:creationId xmlns:a16="http://schemas.microsoft.com/office/drawing/2014/main" id="{E43C1BE2-8820-BE6A-1ED6-03448ECA05E4}"/>
              </a:ext>
            </a:extLst>
          </p:cNvPr>
          <p:cNvSpPr/>
          <p:nvPr/>
        </p:nvSpPr>
        <p:spPr>
          <a:xfrm>
            <a:off x="228600" y="34107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632310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Where is DFS Used in Real Life?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DFS isn't just a classroom concept — it powers real technology!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1862"/>
            <a:ext cx="3878580" cy="3697986"/>
          </a:xfrm>
          <a:prstGeom prst="rect">
            <a:avLst/>
          </a:prstGeom>
          <a:solidFill>
            <a:srgbClr val="0F3460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&lt;/&gt; </a:t>
            </a:r>
            <a:r>
              <a:rPr lang="en-US" sz="2000" dirty="0" err="1">
                <a:solidFill>
                  <a:schemeClr val="bg2"/>
                </a:solidFill>
              </a:rPr>
              <a:t>dfs</a:t>
            </a:r>
            <a:r>
              <a:rPr lang="en-US" sz="2000" dirty="0">
                <a:solidFill>
                  <a:schemeClr val="bg2"/>
                </a:solidFill>
              </a:rPr>
              <a:t>  code</a:t>
            </a:r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840480" cy="289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C4DE"/>
                </a:solidFill>
              </a:rPr>
              <a:t>void  </a:t>
            </a:r>
            <a:r>
              <a:rPr lang="en-US" sz="1400" b="1" dirty="0" err="1">
                <a:solidFill>
                  <a:srgbClr val="B0C4DE"/>
                </a:solidFill>
              </a:rPr>
              <a:t>dfs</a:t>
            </a:r>
            <a:r>
              <a:rPr lang="en-US" sz="1400" b="1" dirty="0">
                <a:solidFill>
                  <a:srgbClr val="B0C4DE"/>
                </a:solidFill>
              </a:rPr>
              <a:t>(int node)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B0C4DE"/>
                </a:solidFill>
              </a:rPr>
              <a:t>{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B0C4DE"/>
                </a:solidFill>
              </a:rPr>
              <a:t>	visited[node]=true;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B0C4DE"/>
                </a:solidFill>
              </a:rPr>
              <a:t>	for(auto child : graph[node])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B0C4DE"/>
                </a:solidFill>
              </a:rPr>
              <a:t>	{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B0C4DE"/>
                </a:solidFill>
              </a:rPr>
              <a:t>		if(visited[child]==false)</a:t>
            </a:r>
            <a:br>
              <a:rPr lang="en-US" sz="1400" b="1" dirty="0">
                <a:solidFill>
                  <a:srgbClr val="B0C4DE"/>
                </a:solidFill>
              </a:rPr>
            </a:br>
            <a:r>
              <a:rPr lang="en-US" sz="1400" b="1" dirty="0">
                <a:solidFill>
                  <a:srgbClr val="B0C4DE"/>
                </a:solidFill>
              </a:rPr>
              <a:t>		{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B0C4DE"/>
                </a:solidFill>
              </a:rPr>
              <a:t>			</a:t>
            </a:r>
            <a:r>
              <a:rPr lang="en-US" sz="1400" b="1" dirty="0" err="1">
                <a:solidFill>
                  <a:srgbClr val="B0C4DE"/>
                </a:solidFill>
              </a:rPr>
              <a:t>dfs</a:t>
            </a:r>
            <a:r>
              <a:rPr lang="en-US" sz="1400" b="1" dirty="0">
                <a:solidFill>
                  <a:srgbClr val="B0C4DE"/>
                </a:solidFill>
              </a:rPr>
              <a:t>(child);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B0C4DE"/>
                </a:solidFill>
              </a:rPr>
              <a:t>		}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B0C4DE"/>
                </a:solidFill>
              </a:rPr>
              <a:t>	}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B0C4DE"/>
                </a:solidFill>
              </a:rPr>
              <a:t>	return;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B0C4DE"/>
                </a:solidFill>
              </a:rPr>
              <a:t>}</a:t>
            </a:r>
          </a:p>
          <a:p>
            <a:pPr marL="0" indent="0">
              <a:buNone/>
            </a:pPr>
            <a:endParaRPr lang="en-US" sz="1400" b="1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614DDC4F-9C03-109C-768B-9F2844D3BB53}"/>
              </a:ext>
            </a:extLst>
          </p:cNvPr>
          <p:cNvSpPr/>
          <p:nvPr/>
        </p:nvSpPr>
        <p:spPr>
          <a:xfrm rot="5400000">
            <a:off x="3968498" y="1601462"/>
            <a:ext cx="335280" cy="13898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092E28-271D-217E-5D6D-B5BE782D54FB}"/>
              </a:ext>
            </a:extLst>
          </p:cNvPr>
          <p:cNvSpPr txBox="1"/>
          <p:nvPr/>
        </p:nvSpPr>
        <p:spPr>
          <a:xfrm>
            <a:off x="4922520" y="2049654"/>
            <a:ext cx="2155462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Mark Node as visited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576DF758-3A6C-1840-EF0D-E088451A5949}"/>
              </a:ext>
            </a:extLst>
          </p:cNvPr>
          <p:cNvSpPr/>
          <p:nvPr/>
        </p:nvSpPr>
        <p:spPr>
          <a:xfrm rot="5400000">
            <a:off x="4044698" y="1994761"/>
            <a:ext cx="335280" cy="1237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6B611F-A335-E545-E3E8-70900B99E5D8}"/>
              </a:ext>
            </a:extLst>
          </p:cNvPr>
          <p:cNvSpPr txBox="1"/>
          <p:nvPr/>
        </p:nvSpPr>
        <p:spPr>
          <a:xfrm>
            <a:off x="4922520" y="2445865"/>
            <a:ext cx="2155462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Check for each child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91E79A9A-B573-7E14-AF6D-CB985EDE478A}"/>
              </a:ext>
            </a:extLst>
          </p:cNvPr>
          <p:cNvSpPr/>
          <p:nvPr/>
        </p:nvSpPr>
        <p:spPr>
          <a:xfrm rot="5400000">
            <a:off x="4315970" y="2670048"/>
            <a:ext cx="335280" cy="6949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9C663E-0764-1D0A-FA71-6D48A6C661F7}"/>
              </a:ext>
            </a:extLst>
          </p:cNvPr>
          <p:cNvSpPr txBox="1"/>
          <p:nvPr/>
        </p:nvSpPr>
        <p:spPr>
          <a:xfrm>
            <a:off x="4922520" y="2849880"/>
            <a:ext cx="2152256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If child is not visited  </a:t>
            </a: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69A62CF4-ED39-1490-40C6-441FACC61FEF}"/>
              </a:ext>
            </a:extLst>
          </p:cNvPr>
          <p:cNvSpPr/>
          <p:nvPr/>
        </p:nvSpPr>
        <p:spPr>
          <a:xfrm rot="5400000">
            <a:off x="4300730" y="3062395"/>
            <a:ext cx="335280" cy="7254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EC7F86-264E-75A0-9D4B-15A8EC3E8ECB}"/>
              </a:ext>
            </a:extLst>
          </p:cNvPr>
          <p:cNvSpPr txBox="1"/>
          <p:nvPr/>
        </p:nvSpPr>
        <p:spPr>
          <a:xfrm>
            <a:off x="4925726" y="3257467"/>
            <a:ext cx="1788631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Go to child node 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2CC0F379-948D-34F3-B96A-DECCF9F6D832}"/>
              </a:ext>
            </a:extLst>
          </p:cNvPr>
          <p:cNvSpPr/>
          <p:nvPr/>
        </p:nvSpPr>
        <p:spPr>
          <a:xfrm rot="5400000">
            <a:off x="3256790" y="2628055"/>
            <a:ext cx="335280" cy="28133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69FDA9-12F3-EC36-A1E0-3172B463BD32}"/>
              </a:ext>
            </a:extLst>
          </p:cNvPr>
          <p:cNvSpPr txBox="1"/>
          <p:nvPr/>
        </p:nvSpPr>
        <p:spPr>
          <a:xfrm>
            <a:off x="4925726" y="3833015"/>
            <a:ext cx="2787045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Return to parent(Backtrack)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DF97C3-777A-FA1B-30B4-4DD23B765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C9D543-73B1-9B93-479E-8E639C538743}"/>
              </a:ext>
            </a:extLst>
          </p:cNvPr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Where is DFS Used in Real Life?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460752-092F-19CF-24F3-EBF6E03D4C2C}"/>
              </a:ext>
            </a:extLst>
          </p:cNvPr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DFS isn't just a classroom concept — it powers real technology!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4BE9CED-E385-D736-BD14-E06DF8FC9610}"/>
              </a:ext>
            </a:extLst>
          </p:cNvPr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DB78FB2-DD66-510E-B004-E6BFCE9906BA}"/>
              </a:ext>
            </a:extLst>
          </p:cNvPr>
          <p:cNvSpPr/>
          <p:nvPr/>
        </p:nvSpPr>
        <p:spPr>
          <a:xfrm>
            <a:off x="365760" y="1188720"/>
            <a:ext cx="411480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403E29D-0F88-D466-FCDF-3FB69191F8EF}"/>
              </a:ext>
            </a:extLst>
          </p:cNvPr>
          <p:cNvSpPr/>
          <p:nvPr/>
        </p:nvSpPr>
        <p:spPr>
          <a:xfrm>
            <a:off x="5029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🗺️ Maze Solving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964CFDA-8360-B91B-56E5-0C069F45A0FE}"/>
              </a:ext>
            </a:extLst>
          </p:cNvPr>
          <p:cNvSpPr/>
          <p:nvPr/>
        </p:nvSpPr>
        <p:spPr>
          <a:xfrm>
            <a:off x="502920" y="17373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Games and robots use DFS to find a path through mazes.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4BA6A52-9033-F0E2-FF13-086547FD438F}"/>
              </a:ext>
            </a:extLst>
          </p:cNvPr>
          <p:cNvSpPr/>
          <p:nvPr/>
        </p:nvSpPr>
        <p:spPr>
          <a:xfrm>
            <a:off x="4754880" y="1188720"/>
            <a:ext cx="411480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52BCF8E-53C8-FB67-2714-01FD11FFBDB2}"/>
              </a:ext>
            </a:extLst>
          </p:cNvPr>
          <p:cNvSpPr/>
          <p:nvPr/>
        </p:nvSpPr>
        <p:spPr>
          <a:xfrm>
            <a:off x="489204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🌐 Web Crawlers</a:t>
            </a:r>
            <a:endParaRPr lang="en-US" sz="17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66296C7-0800-2C7E-B704-DD337002A5C5}"/>
              </a:ext>
            </a:extLst>
          </p:cNvPr>
          <p:cNvSpPr/>
          <p:nvPr/>
        </p:nvSpPr>
        <p:spPr>
          <a:xfrm>
            <a:off x="4892040" y="17373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Search engines like Google follow links deeply to discover web pages.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E875BC7-5599-814C-E465-C876775CAEEE}"/>
              </a:ext>
            </a:extLst>
          </p:cNvPr>
          <p:cNvSpPr/>
          <p:nvPr/>
        </p:nvSpPr>
        <p:spPr>
          <a:xfrm>
            <a:off x="365760" y="2834640"/>
            <a:ext cx="411480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8D78A19-FE1D-B985-645B-30232B4DAEE0}"/>
              </a:ext>
            </a:extLst>
          </p:cNvPr>
          <p:cNvSpPr/>
          <p:nvPr/>
        </p:nvSpPr>
        <p:spPr>
          <a:xfrm>
            <a:off x="50292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🧩 Puzzle Solving</a:t>
            </a:r>
            <a:endParaRPr lang="en-US" sz="17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6BA3DF-B10A-D43B-065A-C37678ABECA7}"/>
              </a:ext>
            </a:extLst>
          </p:cNvPr>
          <p:cNvSpPr/>
          <p:nvPr/>
        </p:nvSpPr>
        <p:spPr>
          <a:xfrm>
            <a:off x="502920" y="33832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Sudoku and chess engines explore moves deeply before evaluating.</a:t>
            </a:r>
            <a:endParaRPr lang="en-US" sz="13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AD05559-1AC5-241F-7134-91ECEE8EDD97}"/>
              </a:ext>
            </a:extLst>
          </p:cNvPr>
          <p:cNvSpPr/>
          <p:nvPr/>
        </p:nvSpPr>
        <p:spPr>
          <a:xfrm>
            <a:off x="4754880" y="2834640"/>
            <a:ext cx="411480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D1215DF-58A0-696D-3C38-0889611E98F8}"/>
              </a:ext>
            </a:extLst>
          </p:cNvPr>
          <p:cNvSpPr/>
          <p:nvPr/>
        </p:nvSpPr>
        <p:spPr>
          <a:xfrm>
            <a:off x="489204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📁 File Systems</a:t>
            </a:r>
            <a:endParaRPr lang="en-US" sz="17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5018395-05C7-32B7-505C-9B9B9F2C8F18}"/>
              </a:ext>
            </a:extLst>
          </p:cNvPr>
          <p:cNvSpPr/>
          <p:nvPr/>
        </p:nvSpPr>
        <p:spPr>
          <a:xfrm>
            <a:off x="4892040" y="33832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Your computer uses DFS to search through nested folders.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649669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0"/>
            <a:ext cx="3200400" cy="3200400"/>
          </a:xfrm>
          <a:prstGeom prst="ellipse">
            <a:avLst/>
          </a:prstGeom>
          <a:solidFill>
            <a:srgbClr val="0F3460">
              <a:alpha val="50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You now know DFS! 🚀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83080" y="161848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</a:rPr>
              <a:t>DFS stands for Depth-First Search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2240280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221284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</a:rPr>
              <a:t>It explores a graph by going as deep as possible first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2834640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280720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</a:rPr>
              <a:t>When stuck, it backtracks to try another path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429000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340156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</a:rPr>
              <a:t>It uses a stack to remember where to go next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4023360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399592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</a:rPr>
              <a:t>DFS visits every node exactly once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71600" y="4572000"/>
            <a:ext cx="640080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45720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Our DFS order was:  A → B → F → D → C → 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1238</Words>
  <Application>Microsoft Office PowerPoint</Application>
  <PresentationFormat>On-screen Show (16:9)</PresentationFormat>
  <Paragraphs>366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DFS Works</dc:title>
  <dc:subject>PptxGenJS Presentation</dc:subject>
  <dc:creator>PptxGenJS</dc:creator>
  <cp:lastModifiedBy>Md Shohag Showdagor</cp:lastModifiedBy>
  <cp:revision>4</cp:revision>
  <dcterms:created xsi:type="dcterms:W3CDTF">2026-02-22T11:43:41Z</dcterms:created>
  <dcterms:modified xsi:type="dcterms:W3CDTF">2026-02-22T18:21:19Z</dcterms:modified>
</cp:coreProperties>
</file>