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8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59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853"/>
    <a:srgbClr val="2E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422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0E5E4-D62E-BF8B-B05A-59AFF664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FF123-2DD8-132B-3159-F0B3B0EF4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BD4C7-E413-1C94-C273-866C6C17E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DAA7C-FCDB-BD65-B056-84416D59A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8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Breadth-First Search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2C39A"/>
                </a:solidFill>
              </a:rPr>
              <a:t>(BFS)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7589520" y="1005840"/>
            <a:ext cx="822960" cy="73152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858000" y="1005840"/>
            <a:ext cx="731520" cy="73152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731520"/>
            <a:ext cx="548640" cy="54864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731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548640" cy="5486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548640" cy="54864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First: What is a Graph?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Before BFS, let's understand what we're searching through.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110672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 graph is just: </a:t>
            </a:r>
            <a:r>
              <a:rPr lang="en-US" sz="1400" b="1" dirty="0">
                <a:solidFill>
                  <a:srgbClr val="2E86AB"/>
                </a:solidFill>
              </a:rPr>
              <a:t>Circles (Nodes)</a:t>
            </a:r>
            <a:r>
              <a:rPr lang="en-US" sz="1400" dirty="0">
                <a:solidFill>
                  <a:srgbClr val="FFFFFF"/>
                </a:solidFill>
              </a:rPr>
              <a:t> connected by </a:t>
            </a:r>
            <a:r>
              <a:rPr lang="en-US" sz="1400" b="1" dirty="0">
                <a:solidFill>
                  <a:srgbClr val="F5A623"/>
                </a:solidFill>
              </a:rPr>
              <a:t>Lines (Edges)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Think of it like a map of cities connected by roads. Each city is a </a:t>
            </a:r>
            <a:r>
              <a:rPr lang="en-US" sz="1300" b="1" dirty="0">
                <a:solidFill>
                  <a:srgbClr val="2E86AB"/>
                </a:solidFill>
              </a:rPr>
              <a:t>node</a:t>
            </a:r>
            <a:r>
              <a:rPr lang="en-US" sz="1300" dirty="0">
                <a:solidFill>
                  <a:srgbClr val="B0C4DE"/>
                </a:solidFill>
              </a:rPr>
              <a:t> and each road is an </a:t>
            </a:r>
            <a:r>
              <a:rPr lang="en-US" sz="1300" b="1" dirty="0">
                <a:solidFill>
                  <a:srgbClr val="F5A623"/>
                </a:solidFill>
              </a:rPr>
              <a:t>edge</a:t>
            </a:r>
            <a:r>
              <a:rPr lang="en-US" sz="1300" dirty="0">
                <a:solidFill>
                  <a:srgbClr val="B0C4DE"/>
                </a:solidFill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320040" cy="3200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07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= A Node (a place / item)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36576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369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= An Edge (a connection)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5610960" y="1929384"/>
            <a:ext cx="1463040" cy="77724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74000" y="1929384"/>
            <a:ext cx="1371600" cy="91440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6891120" y="1929384"/>
            <a:ext cx="182880" cy="178308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10960" y="2706624"/>
            <a:ext cx="1280160" cy="100584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891120" y="2843784"/>
            <a:ext cx="1554480" cy="86868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63488" y="2359152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3488" y="235915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26528" y="1581912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6528" y="15819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8128" y="2496312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8128" y="24963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43648" y="3364992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3648" y="3364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45200" y="4443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07D8B"/>
                </a:solidFill>
              </a:rPr>
              <a:t>Example Graph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is BFS?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Breadth-First Search = Visit ALL neighbors first, then go deeper.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Imagine you're searching a building floor by floor. BFS means: visit every room on the current floor before going up to the next. You spread outward layer by layer — never skipping a level!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BFS Algorithm 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658368" cy="658368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Enqueue &amp; Mark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70992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Add the start node to the queue and mark it as seen (so you don't add it again).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097280"/>
          </a:xfrm>
          <a:prstGeom prst="rect">
            <a:avLst/>
          </a:prstGeom>
          <a:solidFill>
            <a:srgbClr val="025A8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79192"/>
            <a:ext cx="658368" cy="658368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791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Dequeue &amp; Visit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944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Take the front node off the queue. Visit it. Add all its unvisited neighbors to the back of the queue.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7B241C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913632"/>
            <a:ext cx="658368" cy="658368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136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Repeat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1788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Keep doing step 2 until the queue is empty. Every node has been visited!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Our Example Graph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We'll trace BFS step-by-step on this graph. Start at node 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9184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743200" y="3383280"/>
            <a:ext cx="54864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3383280"/>
            <a:ext cx="4572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57200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201168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0" y="301752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0" y="301752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377440" y="416052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06240" y="416052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43600" y="416052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6888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A623"/>
                </a:solidFill>
              </a:rPr>
              <a:t>Start here! 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This graph has: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1600200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15727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6 nodes (A to F)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0756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6 edges (connections)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606040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5786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No direction — you can go either way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3291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C4DE"/>
                </a:solidFill>
              </a:rPr>
              <a:t>BFS visits nodes LEVEL by LEVEL.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0C4DE"/>
                </a:solidFill>
              </a:rPr>
              <a:t>Next slides show each step!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/>
          <p:cNvSpPr/>
          <p:nvPr/>
        </p:nvSpPr>
        <p:spPr>
          <a:xfrm>
            <a:off x="182880" y="1572768"/>
            <a:ext cx="1645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1: Start at 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Add A to the queue. Dequeue A. Visit A. Enqueue neighbors B and 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19" y="1060703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362456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783080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82258" y="1395868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8588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1572768"/>
            <a:ext cx="10972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29184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2743200" y="3383280"/>
            <a:ext cx="54864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3383280"/>
            <a:ext cx="4572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457200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2029968"/>
            <a:ext cx="694944" cy="694944"/>
          </a:xfrm>
          <a:prstGeom prst="ellipse">
            <a:avLst/>
          </a:prstGeom>
          <a:solidFill>
            <a:srgbClr val="00B0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24528" y="20299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944368" y="3035808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504688" y="3035808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395728" y="4178808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957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224528" y="4178808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245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961888" y="4178808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6188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228600" y="214884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21305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Current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" y="2551176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25328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Visited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" y="2953512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2935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 (also visited)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" y="3355848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337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28600" y="4617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28600" y="482803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37760" y="201167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Start at A and mark it as visited</a:t>
            </a:r>
            <a:endParaRPr lang="en-US" sz="1300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2F41B49E-21D8-A2F9-C35D-D6253DAAE033}"/>
              </a:ext>
            </a:extLst>
          </p:cNvPr>
          <p:cNvSpPr/>
          <p:nvPr/>
        </p:nvSpPr>
        <p:spPr>
          <a:xfrm>
            <a:off x="7607808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53"/>
                </a:solidFill>
              </a:rPr>
              <a:t>← IN (enqueue)</a:t>
            </a:r>
            <a:endParaRPr lang="en-US" sz="900" dirty="0">
              <a:solidFill>
                <a:srgbClr val="00C85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45B39-E6B0-5120-7683-BE08D984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>
            <a:extLst>
              <a:ext uri="{FF2B5EF4-FFF2-40B4-BE49-F238E27FC236}">
                <a16:creationId xmlns:a16="http://schemas.microsoft.com/office/drawing/2014/main" id="{84561D0E-0608-BF1F-454A-D865121C5406}"/>
              </a:ext>
            </a:extLst>
          </p:cNvPr>
          <p:cNvSpPr/>
          <p:nvPr/>
        </p:nvSpPr>
        <p:spPr>
          <a:xfrm>
            <a:off x="182880" y="1572768"/>
            <a:ext cx="1645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D9C4E8D-1499-4AB6-1BD7-02A9D97550D6}"/>
              </a:ext>
            </a:extLst>
          </p:cNvPr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1: Start at A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FE6C47-AEBC-E0CF-783F-46A6E16A593B}"/>
              </a:ext>
            </a:extLst>
          </p:cNvPr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Add A to the queue. Dequeue A. Visit A. Enqueue neighbors B and C.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416E3F-E8BB-0593-BB58-D0584168B7A2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7B4A7F-E416-8EB9-65C0-CD2771A95AB1}"/>
              </a:ext>
            </a:extLst>
          </p:cNvPr>
          <p:cNvSpPr/>
          <p:nvPr/>
        </p:nvSpPr>
        <p:spPr>
          <a:xfrm>
            <a:off x="45719" y="1060703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769284-34B0-ACBD-B4FA-73BD0CDDA8BC}"/>
              </a:ext>
            </a:extLst>
          </p:cNvPr>
          <p:cNvSpPr/>
          <p:nvPr/>
        </p:nvSpPr>
        <p:spPr>
          <a:xfrm>
            <a:off x="1828800" y="1362456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A2D832F-7EA9-219D-8FB3-EBC57A4EFE3D}"/>
              </a:ext>
            </a:extLst>
          </p:cNvPr>
          <p:cNvSpPr/>
          <p:nvPr/>
        </p:nvSpPr>
        <p:spPr>
          <a:xfrm>
            <a:off x="1828800" y="1783080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1FB116C-7B57-11D3-3C96-14400CD9F085}"/>
              </a:ext>
            </a:extLst>
          </p:cNvPr>
          <p:cNvSpPr/>
          <p:nvPr/>
        </p:nvSpPr>
        <p:spPr>
          <a:xfrm>
            <a:off x="182880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BCEDCB1-00E8-616A-1FB0-6B887FBAC88B}"/>
              </a:ext>
            </a:extLst>
          </p:cNvPr>
          <p:cNvSpPr/>
          <p:nvPr/>
        </p:nvSpPr>
        <p:spPr>
          <a:xfrm>
            <a:off x="758952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E2AC0B5-DB1A-F79D-0480-7013E918CBFE}"/>
              </a:ext>
            </a:extLst>
          </p:cNvPr>
          <p:cNvSpPr/>
          <p:nvPr/>
        </p:nvSpPr>
        <p:spPr>
          <a:xfrm>
            <a:off x="1298448" y="1389888"/>
            <a:ext cx="365760" cy="36576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4D3F896-7AC0-74D5-1136-7066A465CA3D}"/>
              </a:ext>
            </a:extLst>
          </p:cNvPr>
          <p:cNvSpPr/>
          <p:nvPr/>
        </p:nvSpPr>
        <p:spPr>
          <a:xfrm>
            <a:off x="1298448" y="13761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0798AAD-4E25-2071-D0AB-C6FB6A5E42E3}"/>
              </a:ext>
            </a:extLst>
          </p:cNvPr>
          <p:cNvSpPr/>
          <p:nvPr/>
        </p:nvSpPr>
        <p:spPr>
          <a:xfrm>
            <a:off x="1882258" y="1395868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9BC70A2-D386-6649-F60E-6620A151C6D3}"/>
              </a:ext>
            </a:extLst>
          </p:cNvPr>
          <p:cNvSpPr/>
          <p:nvPr/>
        </p:nvSpPr>
        <p:spPr>
          <a:xfrm>
            <a:off x="1888588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DB30E02-6A12-B9E0-2455-49D3BC7FBFC1}"/>
              </a:ext>
            </a:extLst>
          </p:cNvPr>
          <p:cNvSpPr/>
          <p:nvPr/>
        </p:nvSpPr>
        <p:spPr>
          <a:xfrm>
            <a:off x="182880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DCEBCA6-B77D-92F0-B004-036A2514FF34}"/>
              </a:ext>
            </a:extLst>
          </p:cNvPr>
          <p:cNvSpPr/>
          <p:nvPr/>
        </p:nvSpPr>
        <p:spPr>
          <a:xfrm>
            <a:off x="7589520" y="1572768"/>
            <a:ext cx="10972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5D62B6D-9A53-1FA9-7E2A-C99C328825EE}"/>
              </a:ext>
            </a:extLst>
          </p:cNvPr>
          <p:cNvSpPr/>
          <p:nvPr/>
        </p:nvSpPr>
        <p:spPr>
          <a:xfrm flipH="1">
            <a:off x="329184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E22057A-BE0D-0E72-0ACA-0667DB0AFC53}"/>
              </a:ext>
            </a:extLst>
          </p:cNvPr>
          <p:cNvSpPr/>
          <p:nvPr/>
        </p:nvSpPr>
        <p:spPr>
          <a:xfrm>
            <a:off x="457200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B88F54A-E213-252D-05A2-70F964128EEE}"/>
              </a:ext>
            </a:extLst>
          </p:cNvPr>
          <p:cNvSpPr/>
          <p:nvPr/>
        </p:nvSpPr>
        <p:spPr>
          <a:xfrm flipH="1">
            <a:off x="2743200" y="3383280"/>
            <a:ext cx="54864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03F596D-4476-E53D-BD8A-36D7436421A1}"/>
              </a:ext>
            </a:extLst>
          </p:cNvPr>
          <p:cNvSpPr/>
          <p:nvPr/>
        </p:nvSpPr>
        <p:spPr>
          <a:xfrm>
            <a:off x="329184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2801450-651B-1F94-EC4E-5B1DEA2EE425}"/>
              </a:ext>
            </a:extLst>
          </p:cNvPr>
          <p:cNvSpPr/>
          <p:nvPr/>
        </p:nvSpPr>
        <p:spPr>
          <a:xfrm>
            <a:off x="5852160" y="3383280"/>
            <a:ext cx="4572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7A76D2B-4206-0C5A-4260-AC6B1D55A5AD}"/>
              </a:ext>
            </a:extLst>
          </p:cNvPr>
          <p:cNvSpPr/>
          <p:nvPr/>
        </p:nvSpPr>
        <p:spPr>
          <a:xfrm flipH="1">
            <a:off x="457200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2BF3752-8B59-EED4-F3C3-2C9811B9FACA}"/>
              </a:ext>
            </a:extLst>
          </p:cNvPr>
          <p:cNvSpPr/>
          <p:nvPr/>
        </p:nvSpPr>
        <p:spPr>
          <a:xfrm>
            <a:off x="4224528" y="2029968"/>
            <a:ext cx="694944" cy="69494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ABA7F42-A586-ED2A-EF90-6F7A00FD1E83}"/>
              </a:ext>
            </a:extLst>
          </p:cNvPr>
          <p:cNvSpPr/>
          <p:nvPr/>
        </p:nvSpPr>
        <p:spPr>
          <a:xfrm>
            <a:off x="4224528" y="20299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FE2F0B8-413A-8098-4F79-A0C7BD426CA1}"/>
              </a:ext>
            </a:extLst>
          </p:cNvPr>
          <p:cNvSpPr/>
          <p:nvPr/>
        </p:nvSpPr>
        <p:spPr>
          <a:xfrm>
            <a:off x="4745736" y="199522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5D4EAF3-864D-7788-6749-870568610D3F}"/>
              </a:ext>
            </a:extLst>
          </p:cNvPr>
          <p:cNvSpPr/>
          <p:nvPr/>
        </p:nvSpPr>
        <p:spPr>
          <a:xfrm>
            <a:off x="4745736" y="199522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07539E3-492C-2398-E837-5B1B9C441E71}"/>
              </a:ext>
            </a:extLst>
          </p:cNvPr>
          <p:cNvSpPr/>
          <p:nvPr/>
        </p:nvSpPr>
        <p:spPr>
          <a:xfrm>
            <a:off x="2944368" y="3035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6DF359D-2327-1424-280F-C2521F1153E9}"/>
              </a:ext>
            </a:extLst>
          </p:cNvPr>
          <p:cNvSpPr/>
          <p:nvPr/>
        </p:nvSpPr>
        <p:spPr>
          <a:xfrm>
            <a:off x="294436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480A3C9-41BE-A841-3B09-6D73169C64A9}"/>
              </a:ext>
            </a:extLst>
          </p:cNvPr>
          <p:cNvSpPr/>
          <p:nvPr/>
        </p:nvSpPr>
        <p:spPr>
          <a:xfrm>
            <a:off x="5504688" y="3035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D6AEBEA-4398-5C3A-AF1F-45189815CE11}"/>
              </a:ext>
            </a:extLst>
          </p:cNvPr>
          <p:cNvSpPr/>
          <p:nvPr/>
        </p:nvSpPr>
        <p:spPr>
          <a:xfrm>
            <a:off x="550468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BD6CF1B-7933-B26B-4F74-58E5B3891532}"/>
              </a:ext>
            </a:extLst>
          </p:cNvPr>
          <p:cNvSpPr/>
          <p:nvPr/>
        </p:nvSpPr>
        <p:spPr>
          <a:xfrm>
            <a:off x="2395728" y="4178808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ADA7BCA-6F56-CE66-0520-AFEEB6752D23}"/>
              </a:ext>
            </a:extLst>
          </p:cNvPr>
          <p:cNvSpPr/>
          <p:nvPr/>
        </p:nvSpPr>
        <p:spPr>
          <a:xfrm>
            <a:off x="23957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EA8DE0A-0A77-C9AE-A378-CEA78C549D58}"/>
              </a:ext>
            </a:extLst>
          </p:cNvPr>
          <p:cNvSpPr/>
          <p:nvPr/>
        </p:nvSpPr>
        <p:spPr>
          <a:xfrm>
            <a:off x="4224528" y="4178808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B1D1D92-C3E5-0349-CCB3-AE81EB004B54}"/>
              </a:ext>
            </a:extLst>
          </p:cNvPr>
          <p:cNvSpPr/>
          <p:nvPr/>
        </p:nvSpPr>
        <p:spPr>
          <a:xfrm>
            <a:off x="42245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4AFF2A4-FF28-125F-4709-BDD9F919F99A}"/>
              </a:ext>
            </a:extLst>
          </p:cNvPr>
          <p:cNvSpPr/>
          <p:nvPr/>
        </p:nvSpPr>
        <p:spPr>
          <a:xfrm>
            <a:off x="5961888" y="4178808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29AC606-5B3E-3AC4-B7A6-F82B20EE8206}"/>
              </a:ext>
            </a:extLst>
          </p:cNvPr>
          <p:cNvSpPr/>
          <p:nvPr/>
        </p:nvSpPr>
        <p:spPr>
          <a:xfrm>
            <a:off x="596188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188F03C-9A42-C799-B971-981BBD14772F}"/>
              </a:ext>
            </a:extLst>
          </p:cNvPr>
          <p:cNvSpPr/>
          <p:nvPr/>
        </p:nvSpPr>
        <p:spPr>
          <a:xfrm>
            <a:off x="228600" y="214884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67720AC-22F8-C8DE-FC7E-CCED0D91EA9A}"/>
              </a:ext>
            </a:extLst>
          </p:cNvPr>
          <p:cNvSpPr/>
          <p:nvPr/>
        </p:nvSpPr>
        <p:spPr>
          <a:xfrm>
            <a:off x="530352" y="21305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Current</a:t>
            </a:r>
            <a:endParaRPr lang="en-US" sz="11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55413AF-BEE7-912C-0975-11E1C3DC8254}"/>
              </a:ext>
            </a:extLst>
          </p:cNvPr>
          <p:cNvSpPr/>
          <p:nvPr/>
        </p:nvSpPr>
        <p:spPr>
          <a:xfrm>
            <a:off x="228600" y="2551176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57A5EB5-3566-E24B-3E9E-E757F50D263F}"/>
              </a:ext>
            </a:extLst>
          </p:cNvPr>
          <p:cNvSpPr/>
          <p:nvPr/>
        </p:nvSpPr>
        <p:spPr>
          <a:xfrm>
            <a:off x="530352" y="25328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Visited</a:t>
            </a:r>
            <a:endParaRPr lang="en-US" sz="11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99B0CDF-B1E5-98AB-6668-503813A9E533}"/>
              </a:ext>
            </a:extLst>
          </p:cNvPr>
          <p:cNvSpPr/>
          <p:nvPr/>
        </p:nvSpPr>
        <p:spPr>
          <a:xfrm>
            <a:off x="228600" y="2953512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AA32BF7-EC1D-BA60-F6AC-B4BF19938672}"/>
              </a:ext>
            </a:extLst>
          </p:cNvPr>
          <p:cNvSpPr/>
          <p:nvPr/>
        </p:nvSpPr>
        <p:spPr>
          <a:xfrm>
            <a:off x="530352" y="2935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 (Also visited)</a:t>
            </a:r>
            <a:endParaRPr lang="en-US" sz="11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6640994-C21A-3641-8AC0-7A54C0A41158}"/>
              </a:ext>
            </a:extLst>
          </p:cNvPr>
          <p:cNvSpPr/>
          <p:nvPr/>
        </p:nvSpPr>
        <p:spPr>
          <a:xfrm>
            <a:off x="228600" y="3355848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3D1FBC7-1075-F049-86A4-54F01CABDC28}"/>
              </a:ext>
            </a:extLst>
          </p:cNvPr>
          <p:cNvSpPr/>
          <p:nvPr/>
        </p:nvSpPr>
        <p:spPr>
          <a:xfrm>
            <a:off x="530352" y="3337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ABFB9D6-8321-2FFA-3FFF-0C73A809233D}"/>
              </a:ext>
            </a:extLst>
          </p:cNvPr>
          <p:cNvSpPr/>
          <p:nvPr/>
        </p:nvSpPr>
        <p:spPr>
          <a:xfrm>
            <a:off x="228600" y="4617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85642E0-ACE5-469B-9364-A90655AA0560}"/>
              </a:ext>
            </a:extLst>
          </p:cNvPr>
          <p:cNvSpPr/>
          <p:nvPr/>
        </p:nvSpPr>
        <p:spPr>
          <a:xfrm>
            <a:off x="228600" y="482803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</a:t>
            </a:r>
            <a:endParaRPr lang="en-US" sz="130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73AF201A-184A-002A-9A10-95377958BF05}"/>
              </a:ext>
            </a:extLst>
          </p:cNvPr>
          <p:cNvSpPr/>
          <p:nvPr/>
        </p:nvSpPr>
        <p:spPr>
          <a:xfrm>
            <a:off x="2354228" y="1394461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9ED3F4B6-8693-62E8-D49E-CC9C694D772D}"/>
              </a:ext>
            </a:extLst>
          </p:cNvPr>
          <p:cNvSpPr/>
          <p:nvPr/>
        </p:nvSpPr>
        <p:spPr>
          <a:xfrm>
            <a:off x="2347898" y="140360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CEEFDA99-8777-D0B9-DE8B-5B622A555592}"/>
              </a:ext>
            </a:extLst>
          </p:cNvPr>
          <p:cNvSpPr/>
          <p:nvPr/>
        </p:nvSpPr>
        <p:spPr>
          <a:xfrm>
            <a:off x="7607808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53"/>
                </a:solidFill>
              </a:rPr>
              <a:t>← IN (enqueue)</a:t>
            </a:r>
            <a:endParaRPr lang="en-US" sz="900" dirty="0">
              <a:solidFill>
                <a:srgbClr val="00C8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57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182880" y="1572768"/>
            <a:ext cx="1645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2: Visit B (Level 1)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Dequeue B from the front. Visit B. Enqueue its unvisited neighbors: D, 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1" y="102659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362456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783080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20371" y="1375821"/>
            <a:ext cx="365760" cy="36576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9383" y="1408175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6723" y="140325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95728" y="1389888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4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572768"/>
            <a:ext cx="10972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291840" y="2377440"/>
            <a:ext cx="1280160" cy="100584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2743200" y="3383280"/>
            <a:ext cx="54864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3383280"/>
            <a:ext cx="4572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457200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24528" y="202996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24528" y="20299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45736" y="199522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199522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44368" y="3035808"/>
            <a:ext cx="694944" cy="69494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465576" y="3001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3001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04688" y="3035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395728" y="4178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957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224528" y="4178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45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961888" y="4178808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6188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228600" y="214884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21305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Current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" y="2551176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25328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Visited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" y="2953512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2935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 (Also visited)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3355848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337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28600" y="4617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28600" y="482803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</a:t>
            </a:r>
            <a:endParaRPr lang="en-US" sz="130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F3DDC4D6-839E-78D3-16DF-C5274DB504FF}"/>
              </a:ext>
            </a:extLst>
          </p:cNvPr>
          <p:cNvSpPr/>
          <p:nvPr/>
        </p:nvSpPr>
        <p:spPr>
          <a:xfrm>
            <a:off x="2834640" y="1397204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3F1CE644-6916-E9B4-7A54-0B4E79381D56}"/>
              </a:ext>
            </a:extLst>
          </p:cNvPr>
          <p:cNvSpPr/>
          <p:nvPr/>
        </p:nvSpPr>
        <p:spPr>
          <a:xfrm>
            <a:off x="2822682" y="137411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</a:t>
            </a:r>
            <a:endParaRPr lang="en-US" sz="120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36C73E04-608C-1FFD-95EC-3A05C1118CF6}"/>
              </a:ext>
            </a:extLst>
          </p:cNvPr>
          <p:cNvSpPr/>
          <p:nvPr/>
        </p:nvSpPr>
        <p:spPr>
          <a:xfrm>
            <a:off x="7607808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53"/>
                </a:solidFill>
              </a:rPr>
              <a:t>← IN (enqueue)</a:t>
            </a:r>
            <a:endParaRPr lang="en-US" sz="900" dirty="0">
              <a:solidFill>
                <a:srgbClr val="00C85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182880" y="1572768"/>
            <a:ext cx="1645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3: Visit C (Level 1)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Dequeue C. Visit C. Enqueue its unvisited neighbors: E. (F already enqueued!)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372" y="99212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362456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783080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20372" y="1376171"/>
            <a:ext cx="365760" cy="36576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37617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1389888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80944" y="1389888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572768"/>
            <a:ext cx="10972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29184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377440"/>
            <a:ext cx="1280160" cy="100584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2743200" y="3383280"/>
            <a:ext cx="54864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3383280"/>
            <a:ext cx="4572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457200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24528" y="202996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24528" y="20299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45736" y="199522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199522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44368" y="3035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465576" y="3001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3001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04688" y="3035808"/>
            <a:ext cx="694944" cy="69494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025896" y="3001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25896" y="3001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95728" y="4178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957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224528" y="4178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961888" y="4178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6188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228600" y="214884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21305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Current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" y="2551176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25328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Visited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2953512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2935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 (Also visited)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8600" y="3355848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3337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28600" y="4617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28600" y="482803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C</a:t>
            </a:r>
            <a:endParaRPr lang="en-US" sz="1300" dirty="0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1B910680-299D-D4D6-15C3-9873F8312D4F}"/>
              </a:ext>
            </a:extLst>
          </p:cNvPr>
          <p:cNvSpPr/>
          <p:nvPr/>
        </p:nvSpPr>
        <p:spPr>
          <a:xfrm>
            <a:off x="1951891" y="1399032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F6EC637C-6DF2-F9DE-9DF0-907E7CFC2B8B}"/>
              </a:ext>
            </a:extLst>
          </p:cNvPr>
          <p:cNvSpPr/>
          <p:nvPr/>
        </p:nvSpPr>
        <p:spPr>
          <a:xfrm>
            <a:off x="1951890" y="1387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B6C2FA0B-62C5-75CB-D5CF-117A6CE9B8FA}"/>
              </a:ext>
            </a:extLst>
          </p:cNvPr>
          <p:cNvSpPr/>
          <p:nvPr/>
        </p:nvSpPr>
        <p:spPr>
          <a:xfrm>
            <a:off x="7607808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53"/>
                </a:solidFill>
              </a:rPr>
              <a:t>← IN (enqueue)</a:t>
            </a:r>
            <a:endParaRPr lang="en-US" sz="900" dirty="0">
              <a:solidFill>
                <a:srgbClr val="00C85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10">
            <a:extLst>
              <a:ext uri="{FF2B5EF4-FFF2-40B4-BE49-F238E27FC236}">
                <a16:creationId xmlns:a16="http://schemas.microsoft.com/office/drawing/2014/main" id="{B2E6CD11-C6E8-565B-8160-2180A411B1D9}"/>
              </a:ext>
            </a:extLst>
          </p:cNvPr>
          <p:cNvSpPr/>
          <p:nvPr/>
        </p:nvSpPr>
        <p:spPr>
          <a:xfrm>
            <a:off x="1901952" y="1387427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572768"/>
            <a:ext cx="1645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4: Visit D (Level 2)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Dequeue D. Visit D. D's only neighbor (B) is already visited. Nothing new to enqueue.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74" y="99036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362456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783080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" y="1397274"/>
            <a:ext cx="365760" cy="36576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13835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1389888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1572768"/>
            <a:ext cx="10972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329184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2743200" y="3383280"/>
            <a:ext cx="548640" cy="114300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3383280"/>
            <a:ext cx="4572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457200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24528" y="202996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24528" y="20299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45736" y="199522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199522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44368" y="3035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465576" y="3001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3001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04688" y="3035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025896" y="3001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25896" y="3001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95728" y="4178808"/>
            <a:ext cx="694944" cy="69494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957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2916936" y="4144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16936" y="4144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24528" y="4178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961888" y="4178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6188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228600" y="214884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21305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Current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" y="2551176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25328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Visited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2953512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2935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Queue(Also visited)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8600" y="3355848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3337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28600" y="4617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28600" y="482803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C → 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093208" y="2167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Go to D</a:t>
            </a:r>
            <a:endParaRPr lang="en-US" sz="1300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183D2E99-814D-97B4-540B-D3201D483430}"/>
              </a:ext>
            </a:extLst>
          </p:cNvPr>
          <p:cNvSpPr/>
          <p:nvPr/>
        </p:nvSpPr>
        <p:spPr>
          <a:xfrm>
            <a:off x="1889290" y="138777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</a:t>
            </a:r>
            <a:endParaRPr lang="en-US" sz="12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4594143C-DE0A-4E15-1C08-513D324E72E6}"/>
              </a:ext>
            </a:extLst>
          </p:cNvPr>
          <p:cNvSpPr/>
          <p:nvPr/>
        </p:nvSpPr>
        <p:spPr>
          <a:xfrm>
            <a:off x="7607808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53"/>
                </a:solidFill>
              </a:rPr>
              <a:t>← IN (enqueue)</a:t>
            </a:r>
            <a:endParaRPr lang="en-US" sz="900" dirty="0">
              <a:solidFill>
                <a:srgbClr val="00C85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182880" y="1572768"/>
            <a:ext cx="1645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5: Visit F (Level 2)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Dequeue F. Visit F. F's neighbors (B, C) are already visited. Nothing new to enqueue.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74" y="9829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362456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783080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6764" y="1362456"/>
            <a:ext cx="365760" cy="36576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76764" y="136913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572768"/>
            <a:ext cx="10972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329184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2743200" y="3383280"/>
            <a:ext cx="54864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3383280"/>
            <a:ext cx="1280160" cy="114300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3383280"/>
            <a:ext cx="4572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457200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202996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20299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45736" y="199522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199522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44368" y="3035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436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65576" y="3001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5576" y="3001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04688" y="3035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025896" y="3001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25896" y="3001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95728" y="4178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957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916936" y="4144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16936" y="4144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24528" y="4178808"/>
            <a:ext cx="694944" cy="69494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45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745736" y="4144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45736" y="4144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61888" y="4178808"/>
            <a:ext cx="694944" cy="694944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6188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228600" y="214884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21305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Current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" y="2551176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25328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Visited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2953512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2935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B0C4DE"/>
                </a:solidFill>
              </a:rPr>
              <a:t>In Queue (Also visited)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8600" y="3355848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3337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28600" y="4617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28600" y="482803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C → D → F</a:t>
            </a:r>
            <a:endParaRPr lang="en-US" sz="1300" dirty="0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45D437B3-A990-4429-BD6A-84B252BDDFF8}"/>
              </a:ext>
            </a:extLst>
          </p:cNvPr>
          <p:cNvSpPr/>
          <p:nvPr/>
        </p:nvSpPr>
        <p:spPr>
          <a:xfrm>
            <a:off x="1932196" y="1401143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7FD64DCA-454D-DA1A-3876-600CDC32620A}"/>
              </a:ext>
            </a:extLst>
          </p:cNvPr>
          <p:cNvSpPr/>
          <p:nvPr/>
        </p:nvSpPr>
        <p:spPr>
          <a:xfrm>
            <a:off x="1929385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66A00ACB-6211-071E-AF61-A37B8B225E01}"/>
              </a:ext>
            </a:extLst>
          </p:cNvPr>
          <p:cNvSpPr/>
          <p:nvPr/>
        </p:nvSpPr>
        <p:spPr>
          <a:xfrm>
            <a:off x="7607808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53"/>
                </a:solidFill>
              </a:rPr>
              <a:t>← IN (enqueue)</a:t>
            </a:r>
            <a:endParaRPr lang="en-US" sz="900" dirty="0">
              <a:solidFill>
                <a:srgbClr val="00C85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6: Visit E — Done! 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Dequeue E. Visit E. Queue is now empty. All nodes visited!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1" y="101498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362456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783080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62456"/>
            <a:ext cx="0" cy="420624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362456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07D8B"/>
                </a:solidFill>
              </a:rPr>
              <a:t>( empty 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1572768"/>
            <a:ext cx="1645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89520" y="1572768"/>
            <a:ext cx="10972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329184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2743200" y="3383280"/>
            <a:ext cx="54864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3383280"/>
            <a:ext cx="457200" cy="114300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457200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4528" y="202996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24528" y="20299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45736" y="199522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199522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44368" y="3035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4436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465576" y="3001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5576" y="3001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04688" y="3035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3035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25896" y="3001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3001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95728" y="4178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957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916936" y="4144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6936" y="4144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24528" y="4178808"/>
            <a:ext cx="694944" cy="69494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2452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745736" y="4144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4144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61888" y="4178808"/>
            <a:ext cx="694944" cy="69494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4178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483096" y="4144061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83096" y="414406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214884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21305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Current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" y="2551176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25328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Visited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" y="2953512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2935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B0C4DE"/>
                </a:solidFill>
              </a:rPr>
              <a:t>In Queue (Also visited)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28600" y="3355848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3337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28600" y="4617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28600" y="482803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C → D → F → E</a:t>
            </a:r>
            <a:endParaRPr lang="en-US" sz="1300" dirty="0"/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68CA4C95-0FEB-C81D-FA3D-3300A701F608}"/>
              </a:ext>
            </a:extLst>
          </p:cNvPr>
          <p:cNvSpPr/>
          <p:nvPr/>
        </p:nvSpPr>
        <p:spPr>
          <a:xfrm>
            <a:off x="1176764" y="1362456"/>
            <a:ext cx="365760" cy="36576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790D8B5E-6867-EB6F-ABA2-D0E07AE1188A}"/>
              </a:ext>
            </a:extLst>
          </p:cNvPr>
          <p:cNvSpPr/>
          <p:nvPr/>
        </p:nvSpPr>
        <p:spPr>
          <a:xfrm>
            <a:off x="1176764" y="136913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2CCDB3AC-F2C0-BB60-6510-910D026A3FCD}"/>
              </a:ext>
            </a:extLst>
          </p:cNvPr>
          <p:cNvSpPr/>
          <p:nvPr/>
        </p:nvSpPr>
        <p:spPr>
          <a:xfrm>
            <a:off x="7607808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53"/>
                </a:solidFill>
              </a:rPr>
              <a:t>← IN (enqueue)</a:t>
            </a:r>
            <a:endParaRPr lang="en-US" sz="900" dirty="0">
              <a:solidFill>
                <a:srgbClr val="00C85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BFS Visits Level by Level 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This is the key idea — BFS is like ripples in a pond.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9184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377440"/>
            <a:ext cx="1280160" cy="100584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743200" y="3383280"/>
            <a:ext cx="54864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3383280"/>
            <a:ext cx="4572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572000" y="3383280"/>
            <a:ext cx="128016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2011680"/>
            <a:ext cx="731520" cy="731520"/>
          </a:xfrm>
          <a:prstGeom prst="ellipse">
            <a:avLst/>
          </a:prstGeom>
          <a:solidFill>
            <a:srgbClr val="7B24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21945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07D8B"/>
                </a:solidFill>
              </a:rPr>
              <a:t>L0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3017520"/>
            <a:ext cx="731520" cy="731520"/>
          </a:xfrm>
          <a:prstGeom prst="ellipse">
            <a:avLst/>
          </a:prstGeom>
          <a:solidFill>
            <a:srgbClr val="02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320778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07D8B"/>
                </a:solidFill>
              </a:rPr>
              <a:t>L1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3017520"/>
            <a:ext cx="731520" cy="731520"/>
          </a:xfrm>
          <a:prstGeom prst="ellipse">
            <a:avLst/>
          </a:prstGeom>
          <a:solidFill>
            <a:srgbClr val="02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4920" y="32232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07D8B"/>
                </a:solidFill>
              </a:rPr>
              <a:t>L1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4160520"/>
            <a:ext cx="731520" cy="7315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39815" y="43754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07D8B"/>
                </a:solidFill>
              </a:rPr>
              <a:t>L2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4160520"/>
            <a:ext cx="731520" cy="7315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77175" y="4346917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07D8B"/>
                </a:solidFill>
              </a:rPr>
              <a:t>L2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4160520"/>
            <a:ext cx="731520" cy="7315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31655" y="43388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07D8B"/>
                </a:solidFill>
              </a:rPr>
              <a:t>L2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240280"/>
            <a:ext cx="2286000" cy="384048"/>
          </a:xfrm>
          <a:prstGeom prst="rect">
            <a:avLst/>
          </a:prstGeom>
          <a:solidFill>
            <a:srgbClr val="7B2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240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Level 0: 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3246120"/>
            <a:ext cx="2286000" cy="384048"/>
          </a:xfrm>
          <a:prstGeom prst="rect">
            <a:avLst/>
          </a:prstGeom>
          <a:solidFill>
            <a:srgbClr val="02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246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Level 1: B, 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4320" y="4389120"/>
            <a:ext cx="1737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89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Level 2: D, F, 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60252" y="4817833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</a:rPr>
              <a:t>BFS order: A → B → C → D → F → 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BFS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BFS isn't just a classroom concept — it powers real technology!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0803" y="1161287"/>
            <a:ext cx="4846320" cy="3749040"/>
          </a:xfrm>
          <a:prstGeom prst="rect">
            <a:avLst/>
          </a:prstGeom>
          <a:solidFill>
            <a:srgbClr val="0D1B2A"/>
          </a:solidFill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&lt;/&gt; bfs 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2763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 bfs(int start)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796796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96596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queue&lt;int&gt; q;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13512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visited[start] = true;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30428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q.push(start);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47345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while(!q.empty())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2642616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{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281178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int node = q.front();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298094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q.pop();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315010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for(auto child : graph[node])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" y="331927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3488436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if(visited[child]==false)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365760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{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" y="382676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visited[child]=true;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99592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q.push(child);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416509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4334256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450342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" y="467258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V="1">
            <a:off x="1976511" y="1452748"/>
            <a:ext cx="3674481" cy="604639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1390580"/>
            <a:ext cx="3017520" cy="146305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1908" y="1347073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Create the queue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V="1">
            <a:off x="2693963" y="1909700"/>
            <a:ext cx="2957029" cy="312292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1829946"/>
            <a:ext cx="301752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8729" y="1836628"/>
            <a:ext cx="3017520" cy="1371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 start as seen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flipV="1">
            <a:off x="2025748" y="2083516"/>
            <a:ext cx="3643532" cy="328751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2029968"/>
            <a:ext cx="3017520" cy="118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2021970"/>
            <a:ext cx="3017520" cy="109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Add start to queue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flipV="1">
            <a:off x="2286000" y="2551176"/>
            <a:ext cx="3474720" cy="3518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2468880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24688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Loop while queue not empty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 flipV="1">
            <a:off x="2996418" y="2871214"/>
            <a:ext cx="2764302" cy="38683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60720" y="2739162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760720" y="2725622"/>
            <a:ext cx="3017520" cy="182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Take node from front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flipV="1">
            <a:off x="1927274" y="3035807"/>
            <a:ext cx="3833446" cy="36566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2990076"/>
            <a:ext cx="3017520" cy="1554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29535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Remove it from queue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 flipV="1">
            <a:off x="3727938" y="3200398"/>
            <a:ext cx="2032782" cy="54855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0" y="3170849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311810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 each neighbor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784208" y="3950208"/>
            <a:ext cx="1976511" cy="44313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779008" y="3916445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9231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 child as seen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70738" y="4090193"/>
            <a:ext cx="2508270" cy="19975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0" y="4191464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669280" y="4189359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Add child to queue</a:t>
            </a:r>
            <a:endParaRPr lang="en-US" sz="1000" dirty="0"/>
          </a:p>
        </p:txBody>
      </p:sp>
      <p:sp>
        <p:nvSpPr>
          <p:cNvPr id="62" name="Shape 54">
            <a:extLst>
              <a:ext uri="{FF2B5EF4-FFF2-40B4-BE49-F238E27FC236}">
                <a16:creationId xmlns:a16="http://schemas.microsoft.com/office/drawing/2014/main" id="{F1AD97D3-EC60-FCA1-21A0-7BC84ED86C04}"/>
              </a:ext>
            </a:extLst>
          </p:cNvPr>
          <p:cNvSpPr/>
          <p:nvPr/>
        </p:nvSpPr>
        <p:spPr>
          <a:xfrm>
            <a:off x="5760720" y="3547872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4" name="Text 55">
            <a:extLst>
              <a:ext uri="{FF2B5EF4-FFF2-40B4-BE49-F238E27FC236}">
                <a16:creationId xmlns:a16="http://schemas.microsoft.com/office/drawing/2014/main" id="{9D37FB48-1A57-8383-1817-17B205F8DEC1}"/>
              </a:ext>
            </a:extLst>
          </p:cNvPr>
          <p:cNvSpPr/>
          <p:nvPr/>
        </p:nvSpPr>
        <p:spPr>
          <a:xfrm>
            <a:off x="5669280" y="3514109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 if child is not visited</a:t>
            </a:r>
            <a:endParaRPr lang="en-US" sz="1000" dirty="0"/>
          </a:p>
        </p:txBody>
      </p:sp>
      <p:sp>
        <p:nvSpPr>
          <p:cNvPr id="65" name="Shape 48">
            <a:extLst>
              <a:ext uri="{FF2B5EF4-FFF2-40B4-BE49-F238E27FC236}">
                <a16:creationId xmlns:a16="http://schemas.microsoft.com/office/drawing/2014/main" id="{CA764191-039C-643B-FAB0-161601C35CCD}"/>
              </a:ext>
            </a:extLst>
          </p:cNvPr>
          <p:cNvSpPr/>
          <p:nvPr/>
        </p:nvSpPr>
        <p:spPr>
          <a:xfrm>
            <a:off x="3784208" y="3599570"/>
            <a:ext cx="1976512" cy="48885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Where is BFS Used in Real Life?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BFS isn't just a classroom concept — it powers real technology!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🗺️ GPS &amp; Navigation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Maps uses BFS to find the shortest route between two locations.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👥 Social Networks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Facebook's 'People You May Know' finds friends-of-friends level by level.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🎮 Puzzle &amp; Games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Shortest path in mazes, word ladders, and sliding puzzle solvers use BFS.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🌐 Web Crawlers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9204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Search engines explore all links at depth 1, then depth 2, then deeper.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BFS vs DFS — What's Different?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Same graph, different strategy.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DFS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Uses a </a:t>
            </a:r>
            <a:r>
              <a:rPr lang="en-US" sz="1400" b="1" dirty="0">
                <a:solidFill>
                  <a:srgbClr val="F5A623"/>
                </a:solidFill>
              </a:rPr>
              <a:t>Stack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Goes DEEP first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Backtracks when stuck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Like exploring a maze one path at a 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931920" cy="3566160"/>
          </a:xfrm>
          <a:prstGeom prst="rect">
            <a:avLst/>
          </a:prstGeom>
          <a:solidFill>
            <a:srgbClr val="02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BFS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Uses a </a:t>
            </a:r>
            <a:r>
              <a:rPr lang="en-US" sz="1400" b="1" dirty="0">
                <a:solidFill>
                  <a:srgbClr val="02C39A"/>
                </a:solidFill>
              </a:rPr>
              <a:t>Queue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Goes WIDE first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Visits level by level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Like ripples spreading in a pond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 Key insight: BFS always finds the SHORTEST path between two nodes!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2423160"/>
            <a:ext cx="914400" cy="91440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423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200400" cy="3200400"/>
          </a:xfrm>
          <a:prstGeom prst="ellipse">
            <a:avLst/>
          </a:prstGeom>
          <a:solidFill>
            <a:srgbClr val="025A82">
              <a:alpha val="50000"/>
            </a:srgbClr>
          </a:solidFill>
          <a:ln w="12700">
            <a:solidFill>
              <a:srgbClr val="02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You now know BFS! 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83080" y="16184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BFS stands for Breadth-First Search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24028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21284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It visits all neighbors at the current level before going deeper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83464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80720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It uses a Queue (First In, First Out) to track what to visit next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42900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40156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BFS always finds the SHORTEST path in an unweighted graph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402336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399592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BFS visits every node exactly once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solidFill>
            <a:srgbClr val="02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Our BFS order was:  A → B → C → D → F → 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1218</Words>
  <Application>Microsoft Office PowerPoint</Application>
  <PresentationFormat>On-screen Show (16:9)</PresentationFormat>
  <Paragraphs>303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BFS Works</dc:title>
  <dc:subject>PptxGenJS Presentation</dc:subject>
  <dc:creator>PptxGenJS</dc:creator>
  <cp:lastModifiedBy>Md Shohag Showdagor</cp:lastModifiedBy>
  <cp:revision>3</cp:revision>
  <dcterms:created xsi:type="dcterms:W3CDTF">2026-02-22T12:55:33Z</dcterms:created>
  <dcterms:modified xsi:type="dcterms:W3CDTF">2026-02-22T18:21:15Z</dcterms:modified>
</cp:coreProperties>
</file>