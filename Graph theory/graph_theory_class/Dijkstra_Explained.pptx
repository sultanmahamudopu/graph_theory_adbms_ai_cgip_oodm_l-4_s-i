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60" r:id="rId5"/>
    <p:sldId id="261" r:id="rId6"/>
    <p:sldId id="262" r:id="rId7"/>
    <p:sldId id="27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59" r:id="rId16"/>
    <p:sldId id="270" r:id="rId17"/>
    <p:sldId id="271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86AB"/>
    <a:srgbClr val="00C8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7" y="8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3414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04219-5625-6E62-F499-B83C10513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72097D-F146-E14B-C4CF-76EA9080E3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97B726-17F4-F101-F67F-D1B00A6079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F10F21-FF89-804D-A1D4-C1DA0A30C2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7761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32452" y="-670326"/>
            <a:ext cx="4114800" cy="4114800"/>
          </a:xfrm>
          <a:prstGeom prst="ellipse">
            <a:avLst/>
          </a:prstGeom>
          <a:solidFill>
            <a:srgbClr val="0F3460">
              <a:alpha val="60000"/>
            </a:srgbClr>
          </a:solidFill>
          <a:ln w="12700">
            <a:solidFill>
              <a:srgbClr val="0F346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6858000" y="2286000"/>
            <a:ext cx="2743200" cy="2743200"/>
          </a:xfrm>
          <a:prstGeom prst="ellipse">
            <a:avLst/>
          </a:prstGeom>
          <a:solidFill>
            <a:srgbClr val="1A5C1A">
              <a:alpha val="45000"/>
            </a:srgbClr>
          </a:solidFill>
          <a:ln w="12700">
            <a:solidFill>
              <a:srgbClr val="1A5C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36298"/>
            <a:ext cx="32777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</a:rPr>
              <a:t>Dijkstra's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2754806"/>
            <a:ext cx="32777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00C853"/>
                </a:solidFill>
              </a:rPr>
              <a:t>Algorithm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6020972" y="2950698"/>
            <a:ext cx="822960" cy="82296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5289452" y="2950698"/>
            <a:ext cx="731520" cy="91440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7860" y="3215874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7860" y="3215874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90620" y="3261594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90620" y="3261594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46652" y="2676378"/>
            <a:ext cx="548640" cy="54864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46652" y="267637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5819804" y="2383770"/>
            <a:ext cx="402336" cy="237744"/>
          </a:xfrm>
          <a:prstGeom prst="rect">
            <a:avLst/>
          </a:prstGeom>
          <a:solidFill>
            <a:srgbClr val="1A5C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19804" y="2383770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69612" y="3499338"/>
            <a:ext cx="548640" cy="548640"/>
          </a:xfrm>
          <a:prstGeom prst="ellipse">
            <a:avLst/>
          </a:prstGeom>
          <a:solidFill>
            <a:srgbClr val="00C85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69612" y="349933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642764" y="3206730"/>
            <a:ext cx="402336" cy="237744"/>
          </a:xfrm>
          <a:prstGeom prst="rect">
            <a:avLst/>
          </a:prstGeom>
          <a:solidFill>
            <a:srgbClr val="0F34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42764" y="3206730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15132" y="3590778"/>
            <a:ext cx="548640" cy="548640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15132" y="359077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088284" y="3298170"/>
            <a:ext cx="402336" cy="237744"/>
          </a:xfrm>
          <a:prstGeom prst="rect">
            <a:avLst/>
          </a:prstGeom>
          <a:solidFill>
            <a:srgbClr val="0F34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8284" y="3298170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What is a Weighted Graph?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C4DE"/>
                </a:solidFill>
              </a:rPr>
              <a:t>Like a regular graph, but edges have a COST (distance, time, price…)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16160" y="1080924"/>
            <a:ext cx="841248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8512" y="1132801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C4DE"/>
                </a:solidFill>
              </a:rPr>
              <a:t>A </a:t>
            </a:r>
            <a:r>
              <a:rPr lang="en-US" sz="1400" b="1" dirty="0">
                <a:solidFill>
                  <a:srgbClr val="00C853"/>
                </a:solidFill>
              </a:rPr>
              <a:t>weighted graph</a:t>
            </a:r>
            <a:r>
              <a:rPr lang="en-US" sz="1400" dirty="0">
                <a:solidFill>
                  <a:srgbClr val="B0C4DE"/>
                </a:solidFill>
              </a:rPr>
              <a:t> adds a number (weight) to each edge. Think of it like a road map — the circles are cities, the lines are roads, and the </a:t>
            </a:r>
            <a:r>
              <a:rPr lang="en-US" sz="1400" b="1" dirty="0">
                <a:solidFill>
                  <a:srgbClr val="F5A623"/>
                </a:solidFill>
              </a:rPr>
              <a:t>numbers are distances</a:t>
            </a:r>
            <a:r>
              <a:rPr lang="en-US" sz="1400" dirty="0">
                <a:solidFill>
                  <a:srgbClr val="B0C4DE"/>
                </a:solidFill>
              </a:rPr>
              <a:t> between them.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 flipV="1">
            <a:off x="4157280" y="2043684"/>
            <a:ext cx="1645920" cy="68580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15648" y="2240280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15648" y="2240280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03200" y="2043684"/>
            <a:ext cx="1645920" cy="68580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61568" y="2240280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61568" y="2240280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57280" y="2729484"/>
            <a:ext cx="0" cy="137160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92688" y="3268980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992688" y="3268980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6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57280" y="4101084"/>
            <a:ext cx="3291840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38608" y="3954780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38608" y="3954780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49120" y="2729484"/>
            <a:ext cx="0" cy="137160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84528" y="3268980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84528" y="3268980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 flipH="1">
            <a:off x="4157280" y="2043684"/>
            <a:ext cx="1645920" cy="205740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15648" y="2926080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15648" y="2926080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809808" y="2382012"/>
            <a:ext cx="694944" cy="694944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09808" y="2382012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455728" y="1696212"/>
            <a:ext cx="694944" cy="694944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55728" y="1696212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101648" y="2382012"/>
            <a:ext cx="694944" cy="694944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01648" y="2382012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3809808" y="3753612"/>
            <a:ext cx="694944" cy="694944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09808" y="3753612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7101648" y="3753612"/>
            <a:ext cx="694944" cy="694944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01648" y="3753612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517200" y="472569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07D8B"/>
                </a:solidFill>
              </a:rPr>
              <a:t>Example: Weighted Graph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2011680"/>
            <a:ext cx="320040" cy="32004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2011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●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77240" y="20482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</a:rPr>
              <a:t>Nodes = cities / places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65760" y="2514600"/>
            <a:ext cx="320040" cy="3200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25146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—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77240" y="255117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</a:rPr>
              <a:t>Edges = roads / connections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65760" y="3017520"/>
            <a:ext cx="320040" cy="320040"/>
          </a:xfrm>
          <a:prstGeom prst="ellipse">
            <a:avLst/>
          </a:prstGeom>
          <a:solidFill>
            <a:srgbClr val="00C85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017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77240" y="3054096"/>
            <a:ext cx="20116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</a:rPr>
              <a:t>Numbers = cost to travel that edge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What is Dijkstra's Algorithm?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C4DE"/>
                </a:solidFill>
              </a:rPr>
              <a:t>Find the cheapest path from one node to all other nodes.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</a:rPr>
              <a:t>Imagine you're a GPS. You want the shortest route from your starting city to every other city. Dijkstra's algorithm does exactly that — it always picks the closest unvisited city next, guaranteeing the shortest path!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27538" y="2057400"/>
            <a:ext cx="2489982" cy="2261382"/>
          </a:xfrm>
          <a:prstGeom prst="roundRect">
            <a:avLst>
              <a:gd name="adj" fmla="val 3448"/>
            </a:avLst>
          </a:prstGeom>
          <a:solidFill>
            <a:srgbClr val="0F3460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7320" y="2148840"/>
            <a:ext cx="640080" cy="64008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28803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Start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130062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0C4DE"/>
                </a:solidFill>
              </a:rPr>
              <a:t>Set start node distance = 0. All others = ∞ (unknown).Push the start node in a minimum priority queue with distance.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70738" y="2057400"/>
            <a:ext cx="2627142" cy="2261382"/>
          </a:xfrm>
          <a:prstGeom prst="roundRect">
            <a:avLst>
              <a:gd name="adj" fmla="val 3448"/>
            </a:avLst>
          </a:prstGeom>
          <a:solidFill>
            <a:srgbClr val="025A82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2148840"/>
            <a:ext cx="640080" cy="64008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246120" y="28803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Pick Nearest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37560" y="3130062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0C4DE"/>
                </a:solidFill>
              </a:rPr>
              <a:t>Always pick the front node with the smallest known distance.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42538" y="2037353"/>
            <a:ext cx="2535702" cy="2261382"/>
          </a:xfrm>
          <a:prstGeom prst="roundRect">
            <a:avLst>
              <a:gd name="adj" fmla="val 3448"/>
            </a:avLst>
          </a:prstGeom>
          <a:solidFill>
            <a:srgbClr val="1A5C1A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85074" y="2148840"/>
            <a:ext cx="640080" cy="64008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7804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126480" y="28803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Relax &amp; Repeat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217920" y="3120215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0C4DE"/>
                </a:solidFill>
              </a:rPr>
              <a:t>Update neighbors' distances and push them in priority queue if a shorter path is found. Repeat!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Key Idea: Edge Relaxation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C4DE"/>
                </a:solidFill>
              </a:rPr>
              <a:t>Whenever we visit a node, we check if we found a shorter path to its neighbors.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53"/>
                </a:solidFill>
              </a:rPr>
              <a:t>"Relaxing" an edge</a:t>
            </a:r>
            <a:r>
              <a:rPr lang="en-US" sz="1400" dirty="0">
                <a:solidFill>
                  <a:srgbClr val="B0C4DE"/>
                </a:solidFill>
              </a:rPr>
              <a:t> means asking: "Is the path through ME shorter than what you currently know?" If yes — update!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3840480" cy="2461846"/>
          </a:xfrm>
          <a:prstGeom prst="rect">
            <a:avLst/>
          </a:prstGeom>
          <a:solidFill>
            <a:srgbClr val="0F1B2D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7373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07D8B"/>
                </a:solidFill>
              </a:rPr>
              <a:t>BEFORE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554480" y="2834640"/>
            <a:ext cx="1828800" cy="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04288" y="2688336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04288" y="268833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188720" y="246888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353312" y="2176272"/>
            <a:ext cx="402336" cy="237744"/>
          </a:xfrm>
          <a:prstGeom prst="rect">
            <a:avLst/>
          </a:prstGeom>
          <a:solidFill>
            <a:srgbClr val="0F34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53312" y="2176272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017520" y="2468880"/>
            <a:ext cx="731520" cy="731520"/>
          </a:xfrm>
          <a:prstGeom prst="ellipse">
            <a:avLst/>
          </a:prstGeom>
          <a:solidFill>
            <a:srgbClr val="00C85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3182112" y="2176272"/>
            <a:ext cx="402336" cy="237744"/>
          </a:xfrm>
          <a:prstGeom prst="rect">
            <a:avLst/>
          </a:prstGeom>
          <a:solidFill>
            <a:srgbClr val="2A2A3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82112" y="2176272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7D8B"/>
                </a:solidFill>
              </a:rPr>
              <a:t>∞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3832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C4DE"/>
                </a:solidFill>
              </a:rPr>
              <a:t>A has dist=3. B is unknown (∞).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B0C4DE"/>
                </a:solidFill>
              </a:rPr>
              <a:t>Can we reach B via A?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15968" y="2743200"/>
            <a:ext cx="502920" cy="347472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15968" y="2743200"/>
            <a:ext cx="502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2E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251960" y="319407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53"/>
                </a:solidFill>
              </a:rPr>
              <a:t>relax!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37760" y="1737360"/>
            <a:ext cx="3840480" cy="2461846"/>
          </a:xfrm>
          <a:prstGeom prst="rect">
            <a:avLst/>
          </a:prstGeom>
          <a:solidFill>
            <a:srgbClr val="0A1F0A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17373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C853"/>
                </a:solidFill>
              </a:rPr>
              <a:t>AFTER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126480" y="2834640"/>
            <a:ext cx="1828800" cy="0"/>
          </a:xfrm>
          <a:prstGeom prst="line">
            <a:avLst/>
          </a:prstGeom>
          <a:noFill/>
          <a:ln w="31750">
            <a:solidFill>
              <a:srgbClr val="00C85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76288" y="2688336"/>
            <a:ext cx="329184" cy="2926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76288" y="268833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4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760720" y="246888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6072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5925312" y="2176272"/>
            <a:ext cx="402336" cy="237744"/>
          </a:xfrm>
          <a:prstGeom prst="rect">
            <a:avLst/>
          </a:prstGeom>
          <a:solidFill>
            <a:srgbClr val="0F34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25312" y="2176272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589520" y="2468880"/>
            <a:ext cx="731520" cy="731520"/>
          </a:xfrm>
          <a:prstGeom prst="ellipse">
            <a:avLst/>
          </a:prstGeom>
          <a:solidFill>
            <a:srgbClr val="00C85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8952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7754112" y="2176272"/>
            <a:ext cx="402336" cy="237744"/>
          </a:xfrm>
          <a:prstGeom prst="rect">
            <a:avLst/>
          </a:prstGeom>
          <a:solidFill>
            <a:srgbClr val="0F34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54112" y="2176272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0" y="33832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53"/>
                </a:solidFill>
              </a:rPr>
              <a:t>3 + 4 = 7 &lt; ∞  ✓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C853"/>
                </a:solidFill>
              </a:rPr>
              <a:t>Update B's distance to 7!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04684" y="4367315"/>
            <a:ext cx="8725487" cy="347472"/>
          </a:xfrm>
          <a:prstGeom prst="rect">
            <a:avLst/>
          </a:prstGeom>
          <a:solidFill>
            <a:srgbClr val="0F3460"/>
          </a:solidFill>
          <a:ln w="12700">
            <a:solidFill>
              <a:srgbClr val="00C85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-63305" y="4367315"/>
            <a:ext cx="920730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Formula:  new_dist = dist[A] + weight(A→B)  →  if new_dist &lt; dist[B]  then  dist[B] = new_dist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Our Example Graph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C4DE"/>
                </a:solidFill>
              </a:rPr>
              <a:t>We'll find the shortest path from A to every other node.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4233672" y="1874520"/>
            <a:ext cx="1371600" cy="118872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0" y="2322576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232257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05272" y="1874520"/>
            <a:ext cx="1371600" cy="118872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2322576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232257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flipH="1">
            <a:off x="3685032" y="3063240"/>
            <a:ext cx="548640" cy="114300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94760" y="3488436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348843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33672" y="3063240"/>
            <a:ext cx="1371600" cy="114300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3488436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348843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10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 flipH="1">
            <a:off x="5605272" y="3063240"/>
            <a:ext cx="1371600" cy="114300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3488436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348843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76872" y="3063240"/>
            <a:ext cx="1097280" cy="114300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60920" y="3488436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60920" y="348843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7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85032" y="4206240"/>
            <a:ext cx="1920240" cy="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80560" y="4059936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0" y="405993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605272" y="4206240"/>
            <a:ext cx="2468880" cy="0"/>
          </a:xfrm>
          <a:prstGeom prst="line">
            <a:avLst/>
          </a:prstGeom>
          <a:noFill/>
          <a:ln w="31750">
            <a:solidFill>
              <a:srgbClr val="607D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75120" y="4059936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0" y="405993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1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239512" y="1508760"/>
            <a:ext cx="731520" cy="731520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39512" y="1508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071616" y="1715203"/>
            <a:ext cx="402336" cy="237744"/>
          </a:xfrm>
          <a:prstGeom prst="rect">
            <a:avLst/>
          </a:prstGeom>
          <a:solidFill>
            <a:srgbClr val="1A5C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89904" y="1709576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867912" y="2697480"/>
            <a:ext cx="731520" cy="731520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67912" y="2697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3296412" y="2875085"/>
            <a:ext cx="402336" cy="237744"/>
          </a:xfrm>
          <a:prstGeom prst="rect">
            <a:avLst/>
          </a:prstGeom>
          <a:solidFill>
            <a:srgbClr val="2A2A3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2865941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7D8B"/>
                </a:solidFill>
              </a:rPr>
              <a:t>∞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611112" y="2697480"/>
            <a:ext cx="731520" cy="731520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11112" y="2686929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7507224" y="2886691"/>
            <a:ext cx="402336" cy="237744"/>
          </a:xfrm>
          <a:prstGeom prst="rect">
            <a:avLst/>
          </a:prstGeom>
          <a:solidFill>
            <a:srgbClr val="2A2A3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07224" y="2879305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7D8B"/>
                </a:solidFill>
              </a:rPr>
              <a:t>∞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319272" y="3840480"/>
            <a:ext cx="731520" cy="731520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19272" y="3840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2788920" y="4114800"/>
            <a:ext cx="402336" cy="237744"/>
          </a:xfrm>
          <a:prstGeom prst="rect">
            <a:avLst/>
          </a:prstGeom>
          <a:solidFill>
            <a:srgbClr val="2A2A3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88920" y="4107766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7D8B"/>
                </a:solidFill>
              </a:rPr>
              <a:t>∞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239512" y="3840480"/>
            <a:ext cx="731520" cy="731520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39512" y="3840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5404104" y="3438496"/>
            <a:ext cx="416052" cy="237744"/>
          </a:xfrm>
          <a:prstGeom prst="rect">
            <a:avLst/>
          </a:prstGeom>
          <a:solidFill>
            <a:srgbClr val="2A2A3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17820" y="3438495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7D8B"/>
                </a:solidFill>
              </a:rPr>
              <a:t>∞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708392" y="3840480"/>
            <a:ext cx="731520" cy="731520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708392" y="38404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8540496" y="4114800"/>
            <a:ext cx="402336" cy="237744"/>
          </a:xfrm>
          <a:prstGeom prst="rect">
            <a:avLst/>
          </a:prstGeom>
          <a:solidFill>
            <a:srgbClr val="2A2A3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40496" y="4114800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7D8B"/>
                </a:solidFill>
              </a:rPr>
              <a:t>∞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3977640" y="168935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A623"/>
                </a:solidFill>
              </a:rPr>
              <a:t>Start here! →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82880" y="1106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This graph has: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274320" y="1508760"/>
            <a:ext cx="182880" cy="18288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" y="1481328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</a:rPr>
              <a:t>6 nodes (A to F)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274320" y="1984248"/>
            <a:ext cx="182880" cy="18288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8640" y="1956816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</a:rPr>
              <a:t>8 weighted edges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274320" y="2459736"/>
            <a:ext cx="182880" cy="18288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8640" y="2432304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</a:rPr>
              <a:t>Start node: A (dist = 0)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274320" y="2935224"/>
            <a:ext cx="182880" cy="18288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8640" y="2907792"/>
            <a:ext cx="2194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</a:rPr>
              <a:t>All others start at ∞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146304" y="3181057"/>
            <a:ext cx="2322576" cy="4593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0C4DE"/>
                </a:solidFill>
              </a:rPr>
              <a:t>Dijkstra will find the shortest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B0C4DE"/>
                </a:solidFill>
              </a:rPr>
              <a:t>distance from A to every node.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4"/>
          <p:cNvSpPr/>
          <p:nvPr/>
        </p:nvSpPr>
        <p:spPr>
          <a:xfrm>
            <a:off x="182880" y="1572768"/>
            <a:ext cx="173736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Step 1: Process A (dist = 0)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C4DE"/>
                </a:solidFill>
              </a:rPr>
              <a:t>Pop A from priority queue. Relax edges A→B and A→C.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-822959" y="1307592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</a:rPr>
              <a:t>Priority</a:t>
            </a:r>
            <a:endParaRPr lang="en-US" sz="1100" dirty="0"/>
          </a:p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</a:rPr>
              <a:t>Queue: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920240" y="1335024"/>
            <a:ext cx="5760720" cy="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920240" y="1936769"/>
            <a:ext cx="5760720" cy="1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7274" y="1346279"/>
            <a:ext cx="0" cy="553212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0" y="1335024"/>
            <a:ext cx="0" cy="553212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84776" y="1380744"/>
            <a:ext cx="384048" cy="384048"/>
          </a:xfrm>
          <a:prstGeom prst="ellipse">
            <a:avLst/>
          </a:prstGeom>
          <a:solidFill>
            <a:srgbClr val="00C85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85655" y="13941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82880" y="1769364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A623"/>
                </a:solidFill>
              </a:rPr>
              <a:t>← POP min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680960" y="1572768"/>
            <a:ext cx="1005840" cy="0"/>
          </a:xfrm>
          <a:prstGeom prst="line">
            <a:avLst/>
          </a:prstGeom>
          <a:noFill/>
          <a:ln w="25400">
            <a:solidFill>
              <a:srgbClr val="00C8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0" y="1663153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00" b="1" dirty="0">
                <a:solidFill>
                  <a:srgbClr val="F5A623"/>
                </a:solidFill>
              </a:rPr>
              <a:t>← Push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 flipH="1">
            <a:off x="3156087" y="2372869"/>
            <a:ext cx="1371600" cy="118872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77295" y="2820925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77295" y="2820925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27687" y="2372869"/>
            <a:ext cx="1371600" cy="118872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48895" y="2820925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48895" y="2820925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 flipH="1">
            <a:off x="2607447" y="3561589"/>
            <a:ext cx="548640" cy="114300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17175" y="3986785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17175" y="3986785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156087" y="3561589"/>
            <a:ext cx="1371600" cy="114300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77295" y="3986785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77295" y="3986785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 flipH="1">
            <a:off x="4527687" y="3561589"/>
            <a:ext cx="1371600" cy="114300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48895" y="3986785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48895" y="3986785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3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899287" y="3561589"/>
            <a:ext cx="1097280" cy="114300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83335" y="3986785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83335" y="3986785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7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607447" y="4704589"/>
            <a:ext cx="1920240" cy="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02975" y="4558285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02975" y="4558285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2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27687" y="4704589"/>
            <a:ext cx="2468880" cy="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597535" y="4558285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97535" y="4558285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1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161927" y="2007109"/>
            <a:ext cx="731520" cy="731520"/>
          </a:xfrm>
          <a:prstGeom prst="ellipse">
            <a:avLst/>
          </a:prstGeom>
          <a:solidFill>
            <a:srgbClr val="00C85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43639" y="2007109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2790327" y="3195829"/>
            <a:ext cx="731520" cy="731520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90327" y="3195829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5533527" y="3195829"/>
            <a:ext cx="731520" cy="731520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33527" y="3195829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2241687" y="4338829"/>
            <a:ext cx="731520" cy="731520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241687" y="4338829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2406279" y="4046221"/>
            <a:ext cx="402336" cy="237744"/>
          </a:xfrm>
          <a:prstGeom prst="rect">
            <a:avLst/>
          </a:prstGeom>
          <a:solidFill>
            <a:srgbClr val="2A2A3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406279" y="4046221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7D8B"/>
                </a:solidFill>
              </a:rPr>
              <a:t>∞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161927" y="4338829"/>
            <a:ext cx="731520" cy="731520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61927" y="4338829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4326519" y="4046221"/>
            <a:ext cx="402336" cy="237744"/>
          </a:xfrm>
          <a:prstGeom prst="rect">
            <a:avLst/>
          </a:prstGeom>
          <a:solidFill>
            <a:srgbClr val="2A2A3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326519" y="4046221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7D8B"/>
                </a:solidFill>
              </a:rPr>
              <a:t>∞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630807" y="4338829"/>
            <a:ext cx="731520" cy="731520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630807" y="4338829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6795399" y="4046221"/>
            <a:ext cx="402336" cy="237744"/>
          </a:xfrm>
          <a:prstGeom prst="rect">
            <a:avLst/>
          </a:prstGeom>
          <a:solidFill>
            <a:srgbClr val="2A2A3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795399" y="4046221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7D8B"/>
                </a:solidFill>
              </a:rPr>
              <a:t>∞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28600" y="2194560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30352" y="217627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Processing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228600" y="2615184"/>
            <a:ext cx="201168" cy="20116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30352" y="259689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Settled (final)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228600" y="3035808"/>
            <a:ext cx="201168" cy="201168"/>
          </a:xfrm>
          <a:prstGeom prst="ellipse">
            <a:avLst/>
          </a:prstGeom>
          <a:solidFill>
            <a:srgbClr val="00C85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30352" y="30175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In Queue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228600" y="3456432"/>
            <a:ext cx="201168" cy="201168"/>
          </a:xfrm>
          <a:prstGeom prst="ellipse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30352" y="3438144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Unvisited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8092440" y="1943101"/>
            <a:ext cx="822960" cy="292608"/>
          </a:xfrm>
          <a:prstGeom prst="rect">
            <a:avLst/>
          </a:prstGeom>
          <a:solidFill>
            <a:srgbClr val="0F3460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092440" y="1943101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Node | Dist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8092440" y="2235709"/>
            <a:ext cx="822960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92440" y="2235709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  A     0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8092440" y="2510029"/>
            <a:ext cx="822960" cy="27432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092440" y="2510029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  B     4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8092440" y="2784349"/>
            <a:ext cx="822960" cy="27432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092440" y="2784349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  C     2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8092440" y="3058669"/>
            <a:ext cx="822960" cy="27432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092440" y="3058669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  D     ∞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8092440" y="3332989"/>
            <a:ext cx="822960" cy="27432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092440" y="3332989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  F     ∞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8092440" y="3607309"/>
            <a:ext cx="822960" cy="27432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092440" y="3607309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  E     ∞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61897" y="3762756"/>
            <a:ext cx="2335238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0C4DE"/>
                </a:solidFill>
              </a:rPr>
              <a:t>A→B: 0+4=4 ✓  |  A→C: 0+2=2 ✓  |A is settled.</a:t>
            </a:r>
            <a:endParaRPr lang="en-US" sz="1200" dirty="0"/>
          </a:p>
        </p:txBody>
      </p:sp>
      <p:sp>
        <p:nvSpPr>
          <p:cNvPr id="92" name="Text 13">
            <a:extLst>
              <a:ext uri="{FF2B5EF4-FFF2-40B4-BE49-F238E27FC236}">
                <a16:creationId xmlns:a16="http://schemas.microsoft.com/office/drawing/2014/main" id="{8D336FD9-06A6-9C1E-65D4-B12408CB1B96}"/>
              </a:ext>
            </a:extLst>
          </p:cNvPr>
          <p:cNvSpPr/>
          <p:nvPr/>
        </p:nvSpPr>
        <p:spPr>
          <a:xfrm>
            <a:off x="1928681" y="1768778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853"/>
                </a:solidFill>
              </a:rPr>
              <a:t>d=0</a:t>
            </a:r>
            <a:endParaRPr lang="en-US" sz="800" dirty="0"/>
          </a:p>
        </p:txBody>
      </p:sp>
      <p:sp>
        <p:nvSpPr>
          <p:cNvPr id="93" name="Text 12">
            <a:extLst>
              <a:ext uri="{FF2B5EF4-FFF2-40B4-BE49-F238E27FC236}">
                <a16:creationId xmlns:a16="http://schemas.microsoft.com/office/drawing/2014/main" id="{778D7EE6-465B-519C-56DF-AFE23CC60ADB}"/>
              </a:ext>
            </a:extLst>
          </p:cNvPr>
          <p:cNvSpPr/>
          <p:nvPr/>
        </p:nvSpPr>
        <p:spPr>
          <a:xfrm>
            <a:off x="2549065" y="1364331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98" name="Shape 56">
            <a:extLst>
              <a:ext uri="{FF2B5EF4-FFF2-40B4-BE49-F238E27FC236}">
                <a16:creationId xmlns:a16="http://schemas.microsoft.com/office/drawing/2014/main" id="{4846EA92-C5F8-9C89-C6B8-96FD2B5C156E}"/>
              </a:ext>
            </a:extLst>
          </p:cNvPr>
          <p:cNvSpPr/>
          <p:nvPr/>
        </p:nvSpPr>
        <p:spPr>
          <a:xfrm>
            <a:off x="2790327" y="2825967"/>
            <a:ext cx="402336" cy="237744"/>
          </a:xfrm>
          <a:prstGeom prst="rect">
            <a:avLst/>
          </a:prstGeom>
          <a:solidFill>
            <a:srgbClr val="2A2A3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99" name="Text 57">
            <a:extLst>
              <a:ext uri="{FF2B5EF4-FFF2-40B4-BE49-F238E27FC236}">
                <a16:creationId xmlns:a16="http://schemas.microsoft.com/office/drawing/2014/main" id="{8F316850-7C12-F9CF-6EA2-5D04DB23E241}"/>
              </a:ext>
            </a:extLst>
          </p:cNvPr>
          <p:cNvSpPr/>
          <p:nvPr/>
        </p:nvSpPr>
        <p:spPr>
          <a:xfrm>
            <a:off x="2762895" y="2809495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7D8B"/>
                </a:solidFill>
              </a:rPr>
              <a:t>∞</a:t>
            </a:r>
            <a:endParaRPr lang="en-US" sz="1100" dirty="0"/>
          </a:p>
        </p:txBody>
      </p:sp>
      <p:sp>
        <p:nvSpPr>
          <p:cNvPr id="100" name="Shape 56">
            <a:extLst>
              <a:ext uri="{FF2B5EF4-FFF2-40B4-BE49-F238E27FC236}">
                <a16:creationId xmlns:a16="http://schemas.microsoft.com/office/drawing/2014/main" id="{EFFB25D2-70F0-A29B-0FB0-1EF0D60DF9C4}"/>
              </a:ext>
            </a:extLst>
          </p:cNvPr>
          <p:cNvSpPr/>
          <p:nvPr/>
        </p:nvSpPr>
        <p:spPr>
          <a:xfrm>
            <a:off x="6016050" y="2865240"/>
            <a:ext cx="402336" cy="237744"/>
          </a:xfrm>
          <a:prstGeom prst="rect">
            <a:avLst/>
          </a:prstGeom>
          <a:solidFill>
            <a:srgbClr val="2A2A3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01" name="Text 57">
            <a:extLst>
              <a:ext uri="{FF2B5EF4-FFF2-40B4-BE49-F238E27FC236}">
                <a16:creationId xmlns:a16="http://schemas.microsoft.com/office/drawing/2014/main" id="{C4DDB3B3-BC8B-D5FD-68C4-E2430EB76530}"/>
              </a:ext>
            </a:extLst>
          </p:cNvPr>
          <p:cNvSpPr/>
          <p:nvPr/>
        </p:nvSpPr>
        <p:spPr>
          <a:xfrm>
            <a:off x="6023083" y="2856213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7D8B"/>
                </a:solidFill>
              </a:rPr>
              <a:t>∞</a:t>
            </a:r>
            <a:endParaRPr lang="en-US" sz="1100" dirty="0"/>
          </a:p>
        </p:txBody>
      </p:sp>
      <p:sp>
        <p:nvSpPr>
          <p:cNvPr id="102" name="Shape 44">
            <a:extLst>
              <a:ext uri="{FF2B5EF4-FFF2-40B4-BE49-F238E27FC236}">
                <a16:creationId xmlns:a16="http://schemas.microsoft.com/office/drawing/2014/main" id="{AACA57B0-1AB3-4191-400D-454680951109}"/>
              </a:ext>
            </a:extLst>
          </p:cNvPr>
          <p:cNvSpPr/>
          <p:nvPr/>
        </p:nvSpPr>
        <p:spPr>
          <a:xfrm>
            <a:off x="4958862" y="2161151"/>
            <a:ext cx="402336" cy="237744"/>
          </a:xfrm>
          <a:prstGeom prst="rect">
            <a:avLst/>
          </a:prstGeom>
          <a:solidFill>
            <a:srgbClr val="1A5C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3" name="Text 45">
            <a:extLst>
              <a:ext uri="{FF2B5EF4-FFF2-40B4-BE49-F238E27FC236}">
                <a16:creationId xmlns:a16="http://schemas.microsoft.com/office/drawing/2014/main" id="{B072E9EB-F54C-615A-F47A-36DCD8A41010}"/>
              </a:ext>
            </a:extLst>
          </p:cNvPr>
          <p:cNvSpPr/>
          <p:nvPr/>
        </p:nvSpPr>
        <p:spPr>
          <a:xfrm>
            <a:off x="4975743" y="2128796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33ABB8-E504-54F1-CF22-A7EEEDFA3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4">
            <a:extLst>
              <a:ext uri="{FF2B5EF4-FFF2-40B4-BE49-F238E27FC236}">
                <a16:creationId xmlns:a16="http://schemas.microsoft.com/office/drawing/2014/main" id="{CA7BCC9B-2035-BA21-C30B-4CAC8FA7B6BE}"/>
              </a:ext>
            </a:extLst>
          </p:cNvPr>
          <p:cNvSpPr/>
          <p:nvPr/>
        </p:nvSpPr>
        <p:spPr>
          <a:xfrm>
            <a:off x="182880" y="1572768"/>
            <a:ext cx="173736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AB012057-BC0E-D488-74CF-73A9699ED37F}"/>
              </a:ext>
            </a:extLst>
          </p:cNvPr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Step 1: Process A (dist = 0)</a:t>
            </a:r>
            <a:endParaRPr lang="en-US" sz="3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0303113-DE9B-1E25-22F0-B284CA4AA445}"/>
              </a:ext>
            </a:extLst>
          </p:cNvPr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C4DE"/>
                </a:solidFill>
              </a:rPr>
              <a:t>Pop A from priority queue. Relax edges A→B and A→C.</a:t>
            </a:r>
            <a:endParaRPr lang="en-US" sz="15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246CB29-74A2-5B9D-B0A2-05FE2E8EBE9E}"/>
              </a:ext>
            </a:extLst>
          </p:cNvPr>
          <p:cNvSpPr/>
          <p:nvPr/>
        </p:nvSpPr>
        <p:spPr>
          <a:xfrm>
            <a:off x="365760" y="1005840"/>
            <a:ext cx="841248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019ACDE-623D-37D9-5FB8-F8EE91B8645A}"/>
              </a:ext>
            </a:extLst>
          </p:cNvPr>
          <p:cNvSpPr/>
          <p:nvPr/>
        </p:nvSpPr>
        <p:spPr>
          <a:xfrm>
            <a:off x="-822959" y="1307592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</a:rPr>
              <a:t>Priority</a:t>
            </a:r>
            <a:endParaRPr lang="en-US" sz="1100" dirty="0"/>
          </a:p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</a:rPr>
              <a:t>Queue:</a:t>
            </a:r>
            <a:endParaRPr lang="en-US" sz="11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315C125-5E30-B2BD-1B1D-B16791107563}"/>
              </a:ext>
            </a:extLst>
          </p:cNvPr>
          <p:cNvSpPr/>
          <p:nvPr/>
        </p:nvSpPr>
        <p:spPr>
          <a:xfrm>
            <a:off x="1920240" y="1335024"/>
            <a:ext cx="5760720" cy="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6847FAC-08B8-4E0D-D2D6-60188FFD5658}"/>
              </a:ext>
            </a:extLst>
          </p:cNvPr>
          <p:cNvSpPr/>
          <p:nvPr/>
        </p:nvSpPr>
        <p:spPr>
          <a:xfrm flipV="1">
            <a:off x="1920240" y="1936769"/>
            <a:ext cx="5760720" cy="1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1A451A3-F8BE-43E4-4304-4BCDA9789A72}"/>
              </a:ext>
            </a:extLst>
          </p:cNvPr>
          <p:cNvSpPr/>
          <p:nvPr/>
        </p:nvSpPr>
        <p:spPr>
          <a:xfrm>
            <a:off x="1927274" y="1346279"/>
            <a:ext cx="0" cy="553212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F2DCD39-9FA7-28A2-120D-B75AEAD04104}"/>
              </a:ext>
            </a:extLst>
          </p:cNvPr>
          <p:cNvSpPr/>
          <p:nvPr/>
        </p:nvSpPr>
        <p:spPr>
          <a:xfrm>
            <a:off x="7680960" y="1335024"/>
            <a:ext cx="0" cy="553212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5A25F89-A08A-078D-2810-859DA2681B50}"/>
              </a:ext>
            </a:extLst>
          </p:cNvPr>
          <p:cNvSpPr/>
          <p:nvPr/>
        </p:nvSpPr>
        <p:spPr>
          <a:xfrm>
            <a:off x="1293701" y="1371600"/>
            <a:ext cx="384048" cy="384048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68371C3-16DE-641D-A539-8007764C01B8}"/>
              </a:ext>
            </a:extLst>
          </p:cNvPr>
          <p:cNvSpPr/>
          <p:nvPr/>
        </p:nvSpPr>
        <p:spPr>
          <a:xfrm>
            <a:off x="1283854" y="13659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</a:t>
            </a:r>
            <a:endParaRPr lang="en-US" sz="13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95AB681-648D-BC13-0B79-CD0A2E3B9412}"/>
              </a:ext>
            </a:extLst>
          </p:cNvPr>
          <p:cNvSpPr/>
          <p:nvPr/>
        </p:nvSpPr>
        <p:spPr>
          <a:xfrm>
            <a:off x="1229693" y="1801368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A623"/>
                </a:solidFill>
              </a:rPr>
              <a:t>d=0</a:t>
            </a:r>
            <a:endParaRPr lang="en-US" sz="8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5555F0C-C128-9A10-EE88-40B2BBB7A07C}"/>
              </a:ext>
            </a:extLst>
          </p:cNvPr>
          <p:cNvSpPr/>
          <p:nvPr/>
        </p:nvSpPr>
        <p:spPr>
          <a:xfrm>
            <a:off x="1984776" y="1380744"/>
            <a:ext cx="384048" cy="384048"/>
          </a:xfrm>
          <a:prstGeom prst="ellipse">
            <a:avLst/>
          </a:prstGeom>
          <a:solidFill>
            <a:srgbClr val="00C85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3259C31-5F38-A6F0-FF6B-AB06BB11F510}"/>
              </a:ext>
            </a:extLst>
          </p:cNvPr>
          <p:cNvSpPr/>
          <p:nvPr/>
        </p:nvSpPr>
        <p:spPr>
          <a:xfrm>
            <a:off x="1985655" y="13941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E74F6A4-D3CF-96CE-7C0B-3BFD79ED0B18}"/>
              </a:ext>
            </a:extLst>
          </p:cNvPr>
          <p:cNvSpPr/>
          <p:nvPr/>
        </p:nvSpPr>
        <p:spPr>
          <a:xfrm>
            <a:off x="2451296" y="1769364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853"/>
                </a:solidFill>
              </a:rPr>
              <a:t>d=4</a:t>
            </a:r>
            <a:endParaRPr lang="en-US" sz="8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8B3C1B7-AF8D-6085-9D1F-75B50C81C78A}"/>
              </a:ext>
            </a:extLst>
          </p:cNvPr>
          <p:cNvSpPr/>
          <p:nvPr/>
        </p:nvSpPr>
        <p:spPr>
          <a:xfrm>
            <a:off x="182880" y="1769364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A623"/>
                </a:solidFill>
              </a:rPr>
              <a:t>← POP min</a:t>
            </a:r>
            <a:endParaRPr lang="en-US" sz="9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C7061720-CC6E-5782-7C15-8B27D042980F}"/>
              </a:ext>
            </a:extLst>
          </p:cNvPr>
          <p:cNvSpPr/>
          <p:nvPr/>
        </p:nvSpPr>
        <p:spPr>
          <a:xfrm>
            <a:off x="7680960" y="1572768"/>
            <a:ext cx="1005840" cy="0"/>
          </a:xfrm>
          <a:prstGeom prst="line">
            <a:avLst/>
          </a:prstGeom>
          <a:noFill/>
          <a:ln w="25400">
            <a:solidFill>
              <a:srgbClr val="00C853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0D1474A9-BB54-7B2A-5E04-9CF693823FF5}"/>
              </a:ext>
            </a:extLst>
          </p:cNvPr>
          <p:cNvSpPr/>
          <p:nvPr/>
        </p:nvSpPr>
        <p:spPr>
          <a:xfrm>
            <a:off x="7680960" y="1663153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00" b="1" dirty="0">
                <a:solidFill>
                  <a:srgbClr val="F5A623"/>
                </a:solidFill>
              </a:rPr>
              <a:t>← Push</a:t>
            </a:r>
            <a:endParaRPr lang="en-US" sz="9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D957CAF5-3BE6-3998-88F3-32A2BFB03D9A}"/>
              </a:ext>
            </a:extLst>
          </p:cNvPr>
          <p:cNvSpPr/>
          <p:nvPr/>
        </p:nvSpPr>
        <p:spPr>
          <a:xfrm flipH="1">
            <a:off x="3156087" y="2372869"/>
            <a:ext cx="1371600" cy="118872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34EEFEF1-8FF5-E18C-A043-5AA4B35BF72B}"/>
              </a:ext>
            </a:extLst>
          </p:cNvPr>
          <p:cNvSpPr/>
          <p:nvPr/>
        </p:nvSpPr>
        <p:spPr>
          <a:xfrm>
            <a:off x="3677295" y="2820925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7AD7FE9-20E7-134E-D216-B56EADF3C7DE}"/>
              </a:ext>
            </a:extLst>
          </p:cNvPr>
          <p:cNvSpPr/>
          <p:nvPr/>
        </p:nvSpPr>
        <p:spPr>
          <a:xfrm>
            <a:off x="3677295" y="2820925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D8FDC7C6-53B6-69F3-D3C9-07DC97492417}"/>
              </a:ext>
            </a:extLst>
          </p:cNvPr>
          <p:cNvSpPr/>
          <p:nvPr/>
        </p:nvSpPr>
        <p:spPr>
          <a:xfrm>
            <a:off x="4527687" y="2372869"/>
            <a:ext cx="1371600" cy="118872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1B5EC5E0-492D-4302-0DA9-695AF1335AA7}"/>
              </a:ext>
            </a:extLst>
          </p:cNvPr>
          <p:cNvSpPr/>
          <p:nvPr/>
        </p:nvSpPr>
        <p:spPr>
          <a:xfrm>
            <a:off x="5048895" y="2820925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98A941BA-C074-5B82-F189-810150D8BF1C}"/>
              </a:ext>
            </a:extLst>
          </p:cNvPr>
          <p:cNvSpPr/>
          <p:nvPr/>
        </p:nvSpPr>
        <p:spPr>
          <a:xfrm>
            <a:off x="5048895" y="2820925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2</a:t>
            </a:r>
            <a:endParaRPr lang="en-US" sz="11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2870D456-31E3-0102-C365-4398B6278F29}"/>
              </a:ext>
            </a:extLst>
          </p:cNvPr>
          <p:cNvSpPr/>
          <p:nvPr/>
        </p:nvSpPr>
        <p:spPr>
          <a:xfrm flipH="1">
            <a:off x="2607447" y="3561589"/>
            <a:ext cx="548640" cy="114300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A3EDFF11-F46F-7225-37EE-E2BF688BD9FB}"/>
              </a:ext>
            </a:extLst>
          </p:cNvPr>
          <p:cNvSpPr/>
          <p:nvPr/>
        </p:nvSpPr>
        <p:spPr>
          <a:xfrm>
            <a:off x="2717175" y="3986785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917EA055-31F0-3558-5A42-E96579295828}"/>
              </a:ext>
            </a:extLst>
          </p:cNvPr>
          <p:cNvSpPr/>
          <p:nvPr/>
        </p:nvSpPr>
        <p:spPr>
          <a:xfrm>
            <a:off x="2717175" y="3986785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5</a:t>
            </a:r>
            <a:endParaRPr lang="en-US" sz="1100" dirty="0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B4BA1D17-2787-F817-D6BD-17888176DFE9}"/>
              </a:ext>
            </a:extLst>
          </p:cNvPr>
          <p:cNvSpPr/>
          <p:nvPr/>
        </p:nvSpPr>
        <p:spPr>
          <a:xfrm>
            <a:off x="3156087" y="3561589"/>
            <a:ext cx="1371600" cy="114300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179875AB-3571-0CB7-0BAC-E6B7A795851C}"/>
              </a:ext>
            </a:extLst>
          </p:cNvPr>
          <p:cNvSpPr/>
          <p:nvPr/>
        </p:nvSpPr>
        <p:spPr>
          <a:xfrm>
            <a:off x="3677295" y="3986785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461D9851-1ECD-94E4-E53D-8FC58AEF8D10}"/>
              </a:ext>
            </a:extLst>
          </p:cNvPr>
          <p:cNvSpPr/>
          <p:nvPr/>
        </p:nvSpPr>
        <p:spPr>
          <a:xfrm>
            <a:off x="3677295" y="3986785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10</a:t>
            </a:r>
            <a:endParaRPr lang="en-US" sz="11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B6863A18-E057-314E-0CF5-365BDB06AF9A}"/>
              </a:ext>
            </a:extLst>
          </p:cNvPr>
          <p:cNvSpPr/>
          <p:nvPr/>
        </p:nvSpPr>
        <p:spPr>
          <a:xfrm flipH="1">
            <a:off x="4527687" y="3561589"/>
            <a:ext cx="1371600" cy="114300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7C1CB968-5E57-DEA9-5F45-4A21950D6D78}"/>
              </a:ext>
            </a:extLst>
          </p:cNvPr>
          <p:cNvSpPr/>
          <p:nvPr/>
        </p:nvSpPr>
        <p:spPr>
          <a:xfrm>
            <a:off x="5048895" y="3986785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234B8543-1ADD-25E1-AB04-175CE5DC2451}"/>
              </a:ext>
            </a:extLst>
          </p:cNvPr>
          <p:cNvSpPr/>
          <p:nvPr/>
        </p:nvSpPr>
        <p:spPr>
          <a:xfrm>
            <a:off x="5048895" y="3986785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3</a:t>
            </a:r>
            <a:endParaRPr lang="en-US" sz="1100" dirty="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49E88219-A9E3-44C4-C36F-0DB350D4AA38}"/>
              </a:ext>
            </a:extLst>
          </p:cNvPr>
          <p:cNvSpPr/>
          <p:nvPr/>
        </p:nvSpPr>
        <p:spPr>
          <a:xfrm>
            <a:off x="5899287" y="3561589"/>
            <a:ext cx="1097280" cy="114300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3616625F-D5C5-8216-C49A-6397537D1A5D}"/>
              </a:ext>
            </a:extLst>
          </p:cNvPr>
          <p:cNvSpPr/>
          <p:nvPr/>
        </p:nvSpPr>
        <p:spPr>
          <a:xfrm>
            <a:off x="6283335" y="3986785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6F903EB9-32D3-35BD-6AF8-EE4352412E02}"/>
              </a:ext>
            </a:extLst>
          </p:cNvPr>
          <p:cNvSpPr/>
          <p:nvPr/>
        </p:nvSpPr>
        <p:spPr>
          <a:xfrm>
            <a:off x="6283335" y="3986785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7</a:t>
            </a:r>
            <a:endParaRPr lang="en-US" sz="11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90AF628A-538D-96A5-2F96-95D42F5FA233}"/>
              </a:ext>
            </a:extLst>
          </p:cNvPr>
          <p:cNvSpPr/>
          <p:nvPr/>
        </p:nvSpPr>
        <p:spPr>
          <a:xfrm>
            <a:off x="2607447" y="4704589"/>
            <a:ext cx="1920240" cy="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E403A6D1-7487-845E-62B4-B35EFFAA8074}"/>
              </a:ext>
            </a:extLst>
          </p:cNvPr>
          <p:cNvSpPr/>
          <p:nvPr/>
        </p:nvSpPr>
        <p:spPr>
          <a:xfrm>
            <a:off x="3402975" y="4558285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C9BCDDE9-6F79-F731-9C9B-5B6A22260BC3}"/>
              </a:ext>
            </a:extLst>
          </p:cNvPr>
          <p:cNvSpPr/>
          <p:nvPr/>
        </p:nvSpPr>
        <p:spPr>
          <a:xfrm>
            <a:off x="3402975" y="4558285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2</a:t>
            </a:r>
            <a:endParaRPr lang="en-US" sz="110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F1DB90AE-7AF7-C9BD-8396-0A8E6A01346A}"/>
              </a:ext>
            </a:extLst>
          </p:cNvPr>
          <p:cNvSpPr/>
          <p:nvPr/>
        </p:nvSpPr>
        <p:spPr>
          <a:xfrm>
            <a:off x="4527687" y="4704589"/>
            <a:ext cx="2468880" cy="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67998C15-E4A4-0BBF-961B-5970E6DBF12E}"/>
              </a:ext>
            </a:extLst>
          </p:cNvPr>
          <p:cNvSpPr/>
          <p:nvPr/>
        </p:nvSpPr>
        <p:spPr>
          <a:xfrm>
            <a:off x="5597535" y="4558285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113C6C8F-F932-EC0D-2A0D-E1C866D09AFA}"/>
              </a:ext>
            </a:extLst>
          </p:cNvPr>
          <p:cNvSpPr/>
          <p:nvPr/>
        </p:nvSpPr>
        <p:spPr>
          <a:xfrm>
            <a:off x="5597535" y="4558285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1</a:t>
            </a:r>
            <a:endParaRPr lang="en-US" sz="1100" dirty="0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A2D0B0DD-48C6-6582-D882-D0BD57B60E44}"/>
              </a:ext>
            </a:extLst>
          </p:cNvPr>
          <p:cNvSpPr/>
          <p:nvPr/>
        </p:nvSpPr>
        <p:spPr>
          <a:xfrm>
            <a:off x="4161927" y="2007109"/>
            <a:ext cx="731520" cy="731520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A4448A25-5836-676A-B6C2-B4359E8851C8}"/>
              </a:ext>
            </a:extLst>
          </p:cNvPr>
          <p:cNvSpPr/>
          <p:nvPr/>
        </p:nvSpPr>
        <p:spPr>
          <a:xfrm>
            <a:off x="4143639" y="2007109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43F892B6-9BF2-2C97-A34C-08CC3CAC3F0C}"/>
              </a:ext>
            </a:extLst>
          </p:cNvPr>
          <p:cNvSpPr/>
          <p:nvPr/>
        </p:nvSpPr>
        <p:spPr>
          <a:xfrm>
            <a:off x="4958862" y="2161151"/>
            <a:ext cx="402336" cy="237744"/>
          </a:xfrm>
          <a:prstGeom prst="rect">
            <a:avLst/>
          </a:prstGeom>
          <a:solidFill>
            <a:srgbClr val="1A5C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F02C3D1C-84F4-9AB7-8C80-2100BF373196}"/>
              </a:ext>
            </a:extLst>
          </p:cNvPr>
          <p:cNvSpPr/>
          <p:nvPr/>
        </p:nvSpPr>
        <p:spPr>
          <a:xfrm>
            <a:off x="4975743" y="2128796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29929EE6-98D5-615F-72B9-36DD4B88E5ED}"/>
              </a:ext>
            </a:extLst>
          </p:cNvPr>
          <p:cNvSpPr/>
          <p:nvPr/>
        </p:nvSpPr>
        <p:spPr>
          <a:xfrm>
            <a:off x="2790327" y="3195829"/>
            <a:ext cx="731520" cy="731520"/>
          </a:xfrm>
          <a:prstGeom prst="ellipse">
            <a:avLst/>
          </a:prstGeom>
          <a:solidFill>
            <a:srgbClr val="00C85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AFFF9602-E180-EE0A-08F0-A5914BB5AEDF}"/>
              </a:ext>
            </a:extLst>
          </p:cNvPr>
          <p:cNvSpPr/>
          <p:nvPr/>
        </p:nvSpPr>
        <p:spPr>
          <a:xfrm>
            <a:off x="2790327" y="3195829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50" name="Shape 48">
            <a:extLst>
              <a:ext uri="{FF2B5EF4-FFF2-40B4-BE49-F238E27FC236}">
                <a16:creationId xmlns:a16="http://schemas.microsoft.com/office/drawing/2014/main" id="{29FF712B-59DA-0022-9190-78E83EAD7C40}"/>
              </a:ext>
            </a:extLst>
          </p:cNvPr>
          <p:cNvSpPr/>
          <p:nvPr/>
        </p:nvSpPr>
        <p:spPr>
          <a:xfrm>
            <a:off x="2954919" y="2903221"/>
            <a:ext cx="402336" cy="237744"/>
          </a:xfrm>
          <a:prstGeom prst="rect">
            <a:avLst/>
          </a:prstGeom>
          <a:solidFill>
            <a:srgbClr val="0F34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E6049F94-CF16-B49C-3B89-A9CEE55F9818}"/>
              </a:ext>
            </a:extLst>
          </p:cNvPr>
          <p:cNvSpPr/>
          <p:nvPr/>
        </p:nvSpPr>
        <p:spPr>
          <a:xfrm>
            <a:off x="2954919" y="2903221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52" name="Shape 50">
            <a:extLst>
              <a:ext uri="{FF2B5EF4-FFF2-40B4-BE49-F238E27FC236}">
                <a16:creationId xmlns:a16="http://schemas.microsoft.com/office/drawing/2014/main" id="{AB39FD59-7C01-7D98-7E44-4277BC08D3B4}"/>
              </a:ext>
            </a:extLst>
          </p:cNvPr>
          <p:cNvSpPr/>
          <p:nvPr/>
        </p:nvSpPr>
        <p:spPr>
          <a:xfrm>
            <a:off x="5533527" y="3195829"/>
            <a:ext cx="731520" cy="731520"/>
          </a:xfrm>
          <a:prstGeom prst="ellipse">
            <a:avLst/>
          </a:prstGeom>
          <a:solidFill>
            <a:srgbClr val="00C85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94127F7B-5EB9-DB35-4F86-27FDD2917E9F}"/>
              </a:ext>
            </a:extLst>
          </p:cNvPr>
          <p:cNvSpPr/>
          <p:nvPr/>
        </p:nvSpPr>
        <p:spPr>
          <a:xfrm>
            <a:off x="5533527" y="3195829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54" name="Shape 52">
            <a:extLst>
              <a:ext uri="{FF2B5EF4-FFF2-40B4-BE49-F238E27FC236}">
                <a16:creationId xmlns:a16="http://schemas.microsoft.com/office/drawing/2014/main" id="{67D07692-A399-A595-C002-B037B1E4EF9C}"/>
              </a:ext>
            </a:extLst>
          </p:cNvPr>
          <p:cNvSpPr/>
          <p:nvPr/>
        </p:nvSpPr>
        <p:spPr>
          <a:xfrm>
            <a:off x="5698119" y="2903221"/>
            <a:ext cx="402336" cy="237744"/>
          </a:xfrm>
          <a:prstGeom prst="rect">
            <a:avLst/>
          </a:prstGeom>
          <a:solidFill>
            <a:srgbClr val="0F34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>
            <a:extLst>
              <a:ext uri="{FF2B5EF4-FFF2-40B4-BE49-F238E27FC236}">
                <a16:creationId xmlns:a16="http://schemas.microsoft.com/office/drawing/2014/main" id="{8D702F15-D2FE-DB37-DFED-ADEF2A2C2EA7}"/>
              </a:ext>
            </a:extLst>
          </p:cNvPr>
          <p:cNvSpPr/>
          <p:nvPr/>
        </p:nvSpPr>
        <p:spPr>
          <a:xfrm>
            <a:off x="5698119" y="2903221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B01DDC22-5A48-BDDA-5B7A-E4467D0ACC28}"/>
              </a:ext>
            </a:extLst>
          </p:cNvPr>
          <p:cNvSpPr/>
          <p:nvPr/>
        </p:nvSpPr>
        <p:spPr>
          <a:xfrm>
            <a:off x="2241687" y="4338829"/>
            <a:ext cx="731520" cy="731520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7" name="Text 55">
            <a:extLst>
              <a:ext uri="{FF2B5EF4-FFF2-40B4-BE49-F238E27FC236}">
                <a16:creationId xmlns:a16="http://schemas.microsoft.com/office/drawing/2014/main" id="{C37073CE-2FE9-5BF1-DD5C-0C45E7E7911A}"/>
              </a:ext>
            </a:extLst>
          </p:cNvPr>
          <p:cNvSpPr/>
          <p:nvPr/>
        </p:nvSpPr>
        <p:spPr>
          <a:xfrm>
            <a:off x="2241687" y="4338829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F52D77EB-10DC-A4B7-9029-71A8940AE531}"/>
              </a:ext>
            </a:extLst>
          </p:cNvPr>
          <p:cNvSpPr/>
          <p:nvPr/>
        </p:nvSpPr>
        <p:spPr>
          <a:xfrm>
            <a:off x="2406279" y="4046221"/>
            <a:ext cx="402336" cy="237744"/>
          </a:xfrm>
          <a:prstGeom prst="rect">
            <a:avLst/>
          </a:prstGeom>
          <a:solidFill>
            <a:srgbClr val="2A2A3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AA1BE872-856E-3308-4FBE-998B192D5694}"/>
              </a:ext>
            </a:extLst>
          </p:cNvPr>
          <p:cNvSpPr/>
          <p:nvPr/>
        </p:nvSpPr>
        <p:spPr>
          <a:xfrm>
            <a:off x="2406279" y="4046221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7D8B"/>
                </a:solidFill>
              </a:rPr>
              <a:t>∞</a:t>
            </a:r>
            <a:endParaRPr lang="en-US" sz="1100" dirty="0"/>
          </a:p>
        </p:txBody>
      </p:sp>
      <p:sp>
        <p:nvSpPr>
          <p:cNvPr id="60" name="Shape 58">
            <a:extLst>
              <a:ext uri="{FF2B5EF4-FFF2-40B4-BE49-F238E27FC236}">
                <a16:creationId xmlns:a16="http://schemas.microsoft.com/office/drawing/2014/main" id="{686D383B-24B7-EDA1-BAC6-B38A959EE05B}"/>
              </a:ext>
            </a:extLst>
          </p:cNvPr>
          <p:cNvSpPr/>
          <p:nvPr/>
        </p:nvSpPr>
        <p:spPr>
          <a:xfrm>
            <a:off x="4161927" y="4338829"/>
            <a:ext cx="731520" cy="731520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A8A9A754-D114-892B-89A5-DE95224C40E1}"/>
              </a:ext>
            </a:extLst>
          </p:cNvPr>
          <p:cNvSpPr/>
          <p:nvPr/>
        </p:nvSpPr>
        <p:spPr>
          <a:xfrm>
            <a:off x="4161927" y="4338829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</a:t>
            </a:r>
            <a:endParaRPr lang="en-US" sz="1800" dirty="0"/>
          </a:p>
        </p:txBody>
      </p:sp>
      <p:sp>
        <p:nvSpPr>
          <p:cNvPr id="62" name="Shape 60">
            <a:extLst>
              <a:ext uri="{FF2B5EF4-FFF2-40B4-BE49-F238E27FC236}">
                <a16:creationId xmlns:a16="http://schemas.microsoft.com/office/drawing/2014/main" id="{F5AFFFF4-D724-3DFE-CE87-B5F923B7DC88}"/>
              </a:ext>
            </a:extLst>
          </p:cNvPr>
          <p:cNvSpPr/>
          <p:nvPr/>
        </p:nvSpPr>
        <p:spPr>
          <a:xfrm>
            <a:off x="4326519" y="4046221"/>
            <a:ext cx="402336" cy="237744"/>
          </a:xfrm>
          <a:prstGeom prst="rect">
            <a:avLst/>
          </a:prstGeom>
          <a:solidFill>
            <a:srgbClr val="2A2A3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61E0B106-B349-2316-1921-6990353F262E}"/>
              </a:ext>
            </a:extLst>
          </p:cNvPr>
          <p:cNvSpPr/>
          <p:nvPr/>
        </p:nvSpPr>
        <p:spPr>
          <a:xfrm>
            <a:off x="4326519" y="4046221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7D8B"/>
                </a:solidFill>
              </a:rPr>
              <a:t>∞</a:t>
            </a:r>
            <a:endParaRPr lang="en-US" sz="1100" dirty="0"/>
          </a:p>
        </p:txBody>
      </p:sp>
      <p:sp>
        <p:nvSpPr>
          <p:cNvPr id="64" name="Shape 62">
            <a:extLst>
              <a:ext uri="{FF2B5EF4-FFF2-40B4-BE49-F238E27FC236}">
                <a16:creationId xmlns:a16="http://schemas.microsoft.com/office/drawing/2014/main" id="{108B895C-5563-A6DC-131C-6E003400EA4C}"/>
              </a:ext>
            </a:extLst>
          </p:cNvPr>
          <p:cNvSpPr/>
          <p:nvPr/>
        </p:nvSpPr>
        <p:spPr>
          <a:xfrm>
            <a:off x="6630807" y="4338829"/>
            <a:ext cx="731520" cy="731520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5" name="Text 63">
            <a:extLst>
              <a:ext uri="{FF2B5EF4-FFF2-40B4-BE49-F238E27FC236}">
                <a16:creationId xmlns:a16="http://schemas.microsoft.com/office/drawing/2014/main" id="{8D1C6B53-53D0-62B3-6C71-D2E891EFE75A}"/>
              </a:ext>
            </a:extLst>
          </p:cNvPr>
          <p:cNvSpPr/>
          <p:nvPr/>
        </p:nvSpPr>
        <p:spPr>
          <a:xfrm>
            <a:off x="6630807" y="4338829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</a:t>
            </a:r>
            <a:endParaRPr lang="en-US" sz="1800" dirty="0"/>
          </a:p>
        </p:txBody>
      </p:sp>
      <p:sp>
        <p:nvSpPr>
          <p:cNvPr id="66" name="Shape 64">
            <a:extLst>
              <a:ext uri="{FF2B5EF4-FFF2-40B4-BE49-F238E27FC236}">
                <a16:creationId xmlns:a16="http://schemas.microsoft.com/office/drawing/2014/main" id="{025813D8-760B-F25E-313C-DE67C45405B9}"/>
              </a:ext>
            </a:extLst>
          </p:cNvPr>
          <p:cNvSpPr/>
          <p:nvPr/>
        </p:nvSpPr>
        <p:spPr>
          <a:xfrm>
            <a:off x="6795399" y="4046221"/>
            <a:ext cx="402336" cy="237744"/>
          </a:xfrm>
          <a:prstGeom prst="rect">
            <a:avLst/>
          </a:prstGeom>
          <a:solidFill>
            <a:srgbClr val="2A2A3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67" name="Text 65">
            <a:extLst>
              <a:ext uri="{FF2B5EF4-FFF2-40B4-BE49-F238E27FC236}">
                <a16:creationId xmlns:a16="http://schemas.microsoft.com/office/drawing/2014/main" id="{E48659D5-526E-6001-BCFB-54FDBEBB3759}"/>
              </a:ext>
            </a:extLst>
          </p:cNvPr>
          <p:cNvSpPr/>
          <p:nvPr/>
        </p:nvSpPr>
        <p:spPr>
          <a:xfrm>
            <a:off x="6795399" y="4046221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7D8B"/>
                </a:solidFill>
              </a:rPr>
              <a:t>∞</a:t>
            </a:r>
            <a:endParaRPr lang="en-US" sz="1100" dirty="0"/>
          </a:p>
        </p:txBody>
      </p:sp>
      <p:sp>
        <p:nvSpPr>
          <p:cNvPr id="68" name="Shape 66">
            <a:extLst>
              <a:ext uri="{FF2B5EF4-FFF2-40B4-BE49-F238E27FC236}">
                <a16:creationId xmlns:a16="http://schemas.microsoft.com/office/drawing/2014/main" id="{37DBB8BF-E630-C9D0-4145-1AA8829C7DAE}"/>
              </a:ext>
            </a:extLst>
          </p:cNvPr>
          <p:cNvSpPr/>
          <p:nvPr/>
        </p:nvSpPr>
        <p:spPr>
          <a:xfrm>
            <a:off x="228600" y="2194560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Text 67">
            <a:extLst>
              <a:ext uri="{FF2B5EF4-FFF2-40B4-BE49-F238E27FC236}">
                <a16:creationId xmlns:a16="http://schemas.microsoft.com/office/drawing/2014/main" id="{C128031E-CF03-DA33-2F1D-5EE7222F138F}"/>
              </a:ext>
            </a:extLst>
          </p:cNvPr>
          <p:cNvSpPr/>
          <p:nvPr/>
        </p:nvSpPr>
        <p:spPr>
          <a:xfrm>
            <a:off x="530352" y="217627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Processing</a:t>
            </a:r>
            <a:endParaRPr lang="en-US" sz="1100" dirty="0"/>
          </a:p>
        </p:txBody>
      </p:sp>
      <p:sp>
        <p:nvSpPr>
          <p:cNvPr id="70" name="Shape 68">
            <a:extLst>
              <a:ext uri="{FF2B5EF4-FFF2-40B4-BE49-F238E27FC236}">
                <a16:creationId xmlns:a16="http://schemas.microsoft.com/office/drawing/2014/main" id="{50E19E6C-2998-2EFB-5E58-17DD92CBB037}"/>
              </a:ext>
            </a:extLst>
          </p:cNvPr>
          <p:cNvSpPr/>
          <p:nvPr/>
        </p:nvSpPr>
        <p:spPr>
          <a:xfrm>
            <a:off x="228600" y="2615184"/>
            <a:ext cx="201168" cy="20116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Text 69">
            <a:extLst>
              <a:ext uri="{FF2B5EF4-FFF2-40B4-BE49-F238E27FC236}">
                <a16:creationId xmlns:a16="http://schemas.microsoft.com/office/drawing/2014/main" id="{5A1540E5-068B-98DB-F7AC-9A319A8EE99E}"/>
              </a:ext>
            </a:extLst>
          </p:cNvPr>
          <p:cNvSpPr/>
          <p:nvPr/>
        </p:nvSpPr>
        <p:spPr>
          <a:xfrm>
            <a:off x="530352" y="259689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Settled (final)</a:t>
            </a:r>
            <a:endParaRPr lang="en-US" sz="1100" dirty="0"/>
          </a:p>
        </p:txBody>
      </p:sp>
      <p:sp>
        <p:nvSpPr>
          <p:cNvPr id="72" name="Shape 70">
            <a:extLst>
              <a:ext uri="{FF2B5EF4-FFF2-40B4-BE49-F238E27FC236}">
                <a16:creationId xmlns:a16="http://schemas.microsoft.com/office/drawing/2014/main" id="{2F1D944A-4AAF-67BC-DADD-11A78542D149}"/>
              </a:ext>
            </a:extLst>
          </p:cNvPr>
          <p:cNvSpPr/>
          <p:nvPr/>
        </p:nvSpPr>
        <p:spPr>
          <a:xfrm>
            <a:off x="228600" y="3035808"/>
            <a:ext cx="201168" cy="201168"/>
          </a:xfrm>
          <a:prstGeom prst="ellipse">
            <a:avLst/>
          </a:prstGeom>
          <a:solidFill>
            <a:srgbClr val="00C85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Text 71">
            <a:extLst>
              <a:ext uri="{FF2B5EF4-FFF2-40B4-BE49-F238E27FC236}">
                <a16:creationId xmlns:a16="http://schemas.microsoft.com/office/drawing/2014/main" id="{B58650A8-F055-52FA-1032-86B085718060}"/>
              </a:ext>
            </a:extLst>
          </p:cNvPr>
          <p:cNvSpPr/>
          <p:nvPr/>
        </p:nvSpPr>
        <p:spPr>
          <a:xfrm>
            <a:off x="530352" y="30175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In Queue</a:t>
            </a:r>
            <a:endParaRPr lang="en-US" sz="1100" dirty="0"/>
          </a:p>
        </p:txBody>
      </p:sp>
      <p:sp>
        <p:nvSpPr>
          <p:cNvPr id="74" name="Shape 72">
            <a:extLst>
              <a:ext uri="{FF2B5EF4-FFF2-40B4-BE49-F238E27FC236}">
                <a16:creationId xmlns:a16="http://schemas.microsoft.com/office/drawing/2014/main" id="{76AB3DF8-A221-6991-4EB5-42E9A56EFEBE}"/>
              </a:ext>
            </a:extLst>
          </p:cNvPr>
          <p:cNvSpPr/>
          <p:nvPr/>
        </p:nvSpPr>
        <p:spPr>
          <a:xfrm>
            <a:off x="228600" y="3456432"/>
            <a:ext cx="201168" cy="201168"/>
          </a:xfrm>
          <a:prstGeom prst="ellipse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Text 73">
            <a:extLst>
              <a:ext uri="{FF2B5EF4-FFF2-40B4-BE49-F238E27FC236}">
                <a16:creationId xmlns:a16="http://schemas.microsoft.com/office/drawing/2014/main" id="{8B3419DF-E35E-7B7B-9AFD-62B9BE697F1F}"/>
              </a:ext>
            </a:extLst>
          </p:cNvPr>
          <p:cNvSpPr/>
          <p:nvPr/>
        </p:nvSpPr>
        <p:spPr>
          <a:xfrm>
            <a:off x="530352" y="3438144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Unvisited</a:t>
            </a:r>
            <a:endParaRPr lang="en-US" sz="1100" dirty="0"/>
          </a:p>
        </p:txBody>
      </p:sp>
      <p:sp>
        <p:nvSpPr>
          <p:cNvPr id="76" name="Shape 74">
            <a:extLst>
              <a:ext uri="{FF2B5EF4-FFF2-40B4-BE49-F238E27FC236}">
                <a16:creationId xmlns:a16="http://schemas.microsoft.com/office/drawing/2014/main" id="{1925A759-152A-3D4F-987F-47C0A3C95494}"/>
              </a:ext>
            </a:extLst>
          </p:cNvPr>
          <p:cNvSpPr/>
          <p:nvPr/>
        </p:nvSpPr>
        <p:spPr>
          <a:xfrm>
            <a:off x="8092440" y="1943101"/>
            <a:ext cx="822960" cy="292608"/>
          </a:xfrm>
          <a:prstGeom prst="rect">
            <a:avLst/>
          </a:prstGeom>
          <a:solidFill>
            <a:srgbClr val="0F3460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77" name="Text 75">
            <a:extLst>
              <a:ext uri="{FF2B5EF4-FFF2-40B4-BE49-F238E27FC236}">
                <a16:creationId xmlns:a16="http://schemas.microsoft.com/office/drawing/2014/main" id="{8DA750CE-4E2D-4F2A-E940-B00C0ABAEC0B}"/>
              </a:ext>
            </a:extLst>
          </p:cNvPr>
          <p:cNvSpPr/>
          <p:nvPr/>
        </p:nvSpPr>
        <p:spPr>
          <a:xfrm>
            <a:off x="8092440" y="1943101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Node | Dist</a:t>
            </a:r>
            <a:endParaRPr lang="en-US" sz="1000" dirty="0"/>
          </a:p>
        </p:txBody>
      </p:sp>
      <p:sp>
        <p:nvSpPr>
          <p:cNvPr id="78" name="Shape 76">
            <a:extLst>
              <a:ext uri="{FF2B5EF4-FFF2-40B4-BE49-F238E27FC236}">
                <a16:creationId xmlns:a16="http://schemas.microsoft.com/office/drawing/2014/main" id="{A4C9C659-BB3E-144A-C7C1-1686493ACF63}"/>
              </a:ext>
            </a:extLst>
          </p:cNvPr>
          <p:cNvSpPr/>
          <p:nvPr/>
        </p:nvSpPr>
        <p:spPr>
          <a:xfrm>
            <a:off x="8092440" y="2235709"/>
            <a:ext cx="822960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Text 77">
            <a:extLst>
              <a:ext uri="{FF2B5EF4-FFF2-40B4-BE49-F238E27FC236}">
                <a16:creationId xmlns:a16="http://schemas.microsoft.com/office/drawing/2014/main" id="{0EB8A069-3378-9E57-AC64-9BEB0A06AE66}"/>
              </a:ext>
            </a:extLst>
          </p:cNvPr>
          <p:cNvSpPr/>
          <p:nvPr/>
        </p:nvSpPr>
        <p:spPr>
          <a:xfrm>
            <a:off x="8092440" y="2235709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  A     0</a:t>
            </a:r>
            <a:endParaRPr lang="en-US" sz="1100" dirty="0"/>
          </a:p>
        </p:txBody>
      </p:sp>
      <p:sp>
        <p:nvSpPr>
          <p:cNvPr id="80" name="Shape 78">
            <a:extLst>
              <a:ext uri="{FF2B5EF4-FFF2-40B4-BE49-F238E27FC236}">
                <a16:creationId xmlns:a16="http://schemas.microsoft.com/office/drawing/2014/main" id="{6CF8CAD1-6530-7ACC-3980-BBE3EB8BD1CA}"/>
              </a:ext>
            </a:extLst>
          </p:cNvPr>
          <p:cNvSpPr/>
          <p:nvPr/>
        </p:nvSpPr>
        <p:spPr>
          <a:xfrm>
            <a:off x="8092440" y="2510029"/>
            <a:ext cx="822960" cy="27432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1" name="Text 79">
            <a:extLst>
              <a:ext uri="{FF2B5EF4-FFF2-40B4-BE49-F238E27FC236}">
                <a16:creationId xmlns:a16="http://schemas.microsoft.com/office/drawing/2014/main" id="{B562CA8D-34A4-9ECF-B6F7-E9553DE577E2}"/>
              </a:ext>
            </a:extLst>
          </p:cNvPr>
          <p:cNvSpPr/>
          <p:nvPr/>
        </p:nvSpPr>
        <p:spPr>
          <a:xfrm>
            <a:off x="8092440" y="2510029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  B     4</a:t>
            </a:r>
            <a:endParaRPr lang="en-US" sz="1100" dirty="0"/>
          </a:p>
        </p:txBody>
      </p:sp>
      <p:sp>
        <p:nvSpPr>
          <p:cNvPr id="82" name="Shape 80">
            <a:extLst>
              <a:ext uri="{FF2B5EF4-FFF2-40B4-BE49-F238E27FC236}">
                <a16:creationId xmlns:a16="http://schemas.microsoft.com/office/drawing/2014/main" id="{7C62533F-10BC-EE55-EECC-553464AC2C30}"/>
              </a:ext>
            </a:extLst>
          </p:cNvPr>
          <p:cNvSpPr/>
          <p:nvPr/>
        </p:nvSpPr>
        <p:spPr>
          <a:xfrm>
            <a:off x="8092440" y="2784349"/>
            <a:ext cx="822960" cy="27432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3" name="Text 81">
            <a:extLst>
              <a:ext uri="{FF2B5EF4-FFF2-40B4-BE49-F238E27FC236}">
                <a16:creationId xmlns:a16="http://schemas.microsoft.com/office/drawing/2014/main" id="{6772FE5F-A1A2-3521-A39A-C796CB31CBD1}"/>
              </a:ext>
            </a:extLst>
          </p:cNvPr>
          <p:cNvSpPr/>
          <p:nvPr/>
        </p:nvSpPr>
        <p:spPr>
          <a:xfrm>
            <a:off x="8092440" y="2784349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  C     2</a:t>
            </a:r>
            <a:endParaRPr lang="en-US" sz="1100" dirty="0"/>
          </a:p>
        </p:txBody>
      </p:sp>
      <p:sp>
        <p:nvSpPr>
          <p:cNvPr id="84" name="Shape 82">
            <a:extLst>
              <a:ext uri="{FF2B5EF4-FFF2-40B4-BE49-F238E27FC236}">
                <a16:creationId xmlns:a16="http://schemas.microsoft.com/office/drawing/2014/main" id="{0F5C6119-15B7-BB74-4773-6F923CECFBC0}"/>
              </a:ext>
            </a:extLst>
          </p:cNvPr>
          <p:cNvSpPr/>
          <p:nvPr/>
        </p:nvSpPr>
        <p:spPr>
          <a:xfrm>
            <a:off x="8092440" y="3058669"/>
            <a:ext cx="822960" cy="27432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5" name="Text 83">
            <a:extLst>
              <a:ext uri="{FF2B5EF4-FFF2-40B4-BE49-F238E27FC236}">
                <a16:creationId xmlns:a16="http://schemas.microsoft.com/office/drawing/2014/main" id="{39685411-B84F-29DF-5EDD-FE5EB5C76C95}"/>
              </a:ext>
            </a:extLst>
          </p:cNvPr>
          <p:cNvSpPr/>
          <p:nvPr/>
        </p:nvSpPr>
        <p:spPr>
          <a:xfrm>
            <a:off x="8092440" y="3058669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  D     ∞</a:t>
            </a:r>
            <a:endParaRPr lang="en-US" sz="1100" dirty="0"/>
          </a:p>
        </p:txBody>
      </p:sp>
      <p:sp>
        <p:nvSpPr>
          <p:cNvPr id="86" name="Shape 84">
            <a:extLst>
              <a:ext uri="{FF2B5EF4-FFF2-40B4-BE49-F238E27FC236}">
                <a16:creationId xmlns:a16="http://schemas.microsoft.com/office/drawing/2014/main" id="{15E6F11C-8045-1ED6-3C2C-5EF6EEE139E8}"/>
              </a:ext>
            </a:extLst>
          </p:cNvPr>
          <p:cNvSpPr/>
          <p:nvPr/>
        </p:nvSpPr>
        <p:spPr>
          <a:xfrm>
            <a:off x="8092440" y="3332989"/>
            <a:ext cx="822960" cy="27432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7" name="Text 85">
            <a:extLst>
              <a:ext uri="{FF2B5EF4-FFF2-40B4-BE49-F238E27FC236}">
                <a16:creationId xmlns:a16="http://schemas.microsoft.com/office/drawing/2014/main" id="{F14BC0AC-385F-6A38-6424-77F8FC6A3150}"/>
              </a:ext>
            </a:extLst>
          </p:cNvPr>
          <p:cNvSpPr/>
          <p:nvPr/>
        </p:nvSpPr>
        <p:spPr>
          <a:xfrm>
            <a:off x="8092440" y="3332989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  F     ∞</a:t>
            </a:r>
            <a:endParaRPr lang="en-US" sz="1100" dirty="0"/>
          </a:p>
        </p:txBody>
      </p:sp>
      <p:sp>
        <p:nvSpPr>
          <p:cNvPr id="88" name="Shape 86">
            <a:extLst>
              <a:ext uri="{FF2B5EF4-FFF2-40B4-BE49-F238E27FC236}">
                <a16:creationId xmlns:a16="http://schemas.microsoft.com/office/drawing/2014/main" id="{67498258-8DC0-189E-19ED-14EACDE3C121}"/>
              </a:ext>
            </a:extLst>
          </p:cNvPr>
          <p:cNvSpPr/>
          <p:nvPr/>
        </p:nvSpPr>
        <p:spPr>
          <a:xfrm>
            <a:off x="8092440" y="3607309"/>
            <a:ext cx="822960" cy="27432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9" name="Text 87">
            <a:extLst>
              <a:ext uri="{FF2B5EF4-FFF2-40B4-BE49-F238E27FC236}">
                <a16:creationId xmlns:a16="http://schemas.microsoft.com/office/drawing/2014/main" id="{61255E67-AC53-2B8C-AAD7-334935165C9E}"/>
              </a:ext>
            </a:extLst>
          </p:cNvPr>
          <p:cNvSpPr/>
          <p:nvPr/>
        </p:nvSpPr>
        <p:spPr>
          <a:xfrm>
            <a:off x="8092440" y="3607309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  E     ∞</a:t>
            </a:r>
            <a:endParaRPr lang="en-US" sz="1100" dirty="0"/>
          </a:p>
        </p:txBody>
      </p:sp>
      <p:sp>
        <p:nvSpPr>
          <p:cNvPr id="90" name="Text 88">
            <a:extLst>
              <a:ext uri="{FF2B5EF4-FFF2-40B4-BE49-F238E27FC236}">
                <a16:creationId xmlns:a16="http://schemas.microsoft.com/office/drawing/2014/main" id="{8DF124B3-ECD7-40EB-A627-74B9176E37E9}"/>
              </a:ext>
            </a:extLst>
          </p:cNvPr>
          <p:cNvSpPr/>
          <p:nvPr/>
        </p:nvSpPr>
        <p:spPr>
          <a:xfrm>
            <a:off x="61897" y="3762756"/>
            <a:ext cx="2335238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0C4DE"/>
                </a:solidFill>
              </a:rPr>
              <a:t>A→B: 0+4=4 ✓  |  A→C: 0+2=2 ✓  |A is settled.</a:t>
            </a:r>
            <a:endParaRPr lang="en-US" sz="1200" dirty="0"/>
          </a:p>
        </p:txBody>
      </p:sp>
      <p:sp>
        <p:nvSpPr>
          <p:cNvPr id="91" name="Shape 11">
            <a:extLst>
              <a:ext uri="{FF2B5EF4-FFF2-40B4-BE49-F238E27FC236}">
                <a16:creationId xmlns:a16="http://schemas.microsoft.com/office/drawing/2014/main" id="{6B51F90C-6C82-9C78-2DFD-69307667987A}"/>
              </a:ext>
            </a:extLst>
          </p:cNvPr>
          <p:cNvSpPr/>
          <p:nvPr/>
        </p:nvSpPr>
        <p:spPr>
          <a:xfrm>
            <a:off x="2541329" y="1370897"/>
            <a:ext cx="384048" cy="384048"/>
          </a:xfrm>
          <a:prstGeom prst="ellipse">
            <a:avLst/>
          </a:prstGeom>
          <a:solidFill>
            <a:srgbClr val="00C85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2" name="Text 13">
            <a:extLst>
              <a:ext uri="{FF2B5EF4-FFF2-40B4-BE49-F238E27FC236}">
                <a16:creationId xmlns:a16="http://schemas.microsoft.com/office/drawing/2014/main" id="{B97E11B6-1FDB-9372-3213-9AAF773BA94F}"/>
              </a:ext>
            </a:extLst>
          </p:cNvPr>
          <p:cNvSpPr/>
          <p:nvPr/>
        </p:nvSpPr>
        <p:spPr>
          <a:xfrm>
            <a:off x="1928681" y="1768778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853"/>
                </a:solidFill>
              </a:rPr>
              <a:t>d=2</a:t>
            </a:r>
            <a:endParaRPr lang="en-US" sz="800" dirty="0"/>
          </a:p>
        </p:txBody>
      </p:sp>
      <p:sp>
        <p:nvSpPr>
          <p:cNvPr id="93" name="Text 12">
            <a:extLst>
              <a:ext uri="{FF2B5EF4-FFF2-40B4-BE49-F238E27FC236}">
                <a16:creationId xmlns:a16="http://schemas.microsoft.com/office/drawing/2014/main" id="{BB3BFD43-3F3C-12ED-D353-5E16627E5309}"/>
              </a:ext>
            </a:extLst>
          </p:cNvPr>
          <p:cNvSpPr/>
          <p:nvPr/>
        </p:nvSpPr>
        <p:spPr>
          <a:xfrm>
            <a:off x="2549065" y="1364331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799436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7"/>
          <p:cNvSpPr/>
          <p:nvPr/>
        </p:nvSpPr>
        <p:spPr>
          <a:xfrm>
            <a:off x="182880" y="1572768"/>
            <a:ext cx="173736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Step 2: Process C (dist = 2)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C4DE"/>
                </a:solidFill>
              </a:rPr>
              <a:t>Pop C (smallest dist=2). Relax C→F and C→E.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-713232" y="1301965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</a:rPr>
              <a:t>Priority</a:t>
            </a:r>
            <a:endParaRPr lang="en-US" sz="1100" dirty="0"/>
          </a:p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</a:rPr>
              <a:t>Queue: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920240" y="1335024"/>
            <a:ext cx="5760720" cy="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1810512"/>
            <a:ext cx="5760720" cy="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1335024"/>
            <a:ext cx="0" cy="475488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0" y="1335024"/>
            <a:ext cx="0" cy="475488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42761" y="1365973"/>
            <a:ext cx="384048" cy="384048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5881" y="1375117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79457" y="1784838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A623"/>
                </a:solidFill>
              </a:rPr>
              <a:t>d=2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88920" y="1380744"/>
            <a:ext cx="384048" cy="384048"/>
          </a:xfrm>
          <a:prstGeom prst="ellipse">
            <a:avLst/>
          </a:prstGeom>
          <a:solidFill>
            <a:srgbClr val="00C85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8920" y="13807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08735" y="1792224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853"/>
                </a:solidFill>
              </a:rPr>
              <a:t>d=5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520440" y="1380744"/>
            <a:ext cx="384048" cy="384048"/>
          </a:xfrm>
          <a:prstGeom prst="ellipse">
            <a:avLst/>
          </a:prstGeom>
          <a:solidFill>
            <a:srgbClr val="00C85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13807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56432" y="1803829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853"/>
                </a:solidFill>
              </a:rPr>
              <a:t>d=9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82880" y="184708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A623"/>
                </a:solidFill>
              </a:rPr>
              <a:t>← POP min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680960" y="1572768"/>
            <a:ext cx="1005840" cy="0"/>
          </a:xfrm>
          <a:prstGeom prst="line">
            <a:avLst/>
          </a:prstGeom>
          <a:noFill/>
          <a:ln w="25400">
            <a:solidFill>
              <a:srgbClr val="00C8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0" y="184708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C853"/>
                </a:solidFill>
              </a:rPr>
              <a:t>PUSH →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 flipH="1">
            <a:off x="2743200" y="2331720"/>
            <a:ext cx="1371600" cy="118872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64408" y="2779776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64408" y="277977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0" y="2331720"/>
            <a:ext cx="1371600" cy="118872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36008" y="2779776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36008" y="277977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 flipH="1">
            <a:off x="2194560" y="3520440"/>
            <a:ext cx="548640" cy="114300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04288" y="3945636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04288" y="394563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0" y="3520440"/>
            <a:ext cx="1371600" cy="114300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64408" y="3945636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64408" y="394563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10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 flipH="1">
            <a:off x="4114800" y="3520440"/>
            <a:ext cx="1371600" cy="1143000"/>
          </a:xfrm>
          <a:prstGeom prst="line">
            <a:avLst/>
          </a:prstGeom>
          <a:noFill/>
          <a:ln w="50800">
            <a:solidFill>
              <a:srgbClr val="F5A62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17720" y="3922776"/>
            <a:ext cx="329184" cy="2926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36008" y="394563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3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0" y="3520440"/>
            <a:ext cx="1097280" cy="1143000"/>
          </a:xfrm>
          <a:prstGeom prst="line">
            <a:avLst/>
          </a:prstGeom>
          <a:noFill/>
          <a:ln w="57150">
            <a:solidFill>
              <a:schemeClr val="accent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94560" y="4663440"/>
            <a:ext cx="1920240" cy="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990088" y="4517136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90088" y="451713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2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114800" y="4663440"/>
            <a:ext cx="2468880" cy="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184648" y="4517136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84648" y="451713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1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749040" y="196596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49040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4665551" y="2144971"/>
            <a:ext cx="402336" cy="237744"/>
          </a:xfrm>
          <a:prstGeom prst="rect">
            <a:avLst/>
          </a:prstGeom>
          <a:solidFill>
            <a:srgbClr val="1A5C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63442" y="2159391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377440" y="3154680"/>
            <a:ext cx="731520" cy="731520"/>
          </a:xfrm>
          <a:prstGeom prst="ellipse">
            <a:avLst/>
          </a:prstGeom>
          <a:solidFill>
            <a:srgbClr val="00C85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377440" y="3154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2542032" y="2862072"/>
            <a:ext cx="402336" cy="237744"/>
          </a:xfrm>
          <a:prstGeom prst="rect">
            <a:avLst/>
          </a:prstGeom>
          <a:solidFill>
            <a:srgbClr val="0F34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42032" y="2862072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120640" y="3154680"/>
            <a:ext cx="731520" cy="731520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20640" y="3154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5285232" y="2862072"/>
            <a:ext cx="402336" cy="237744"/>
          </a:xfrm>
          <a:prstGeom prst="rect">
            <a:avLst/>
          </a:prstGeom>
          <a:solidFill>
            <a:srgbClr val="0F34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85232" y="2862072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1828800" y="4297680"/>
            <a:ext cx="731520" cy="731520"/>
          </a:xfrm>
          <a:prstGeom prst="ellipse">
            <a:avLst/>
          </a:prstGeom>
          <a:solidFill>
            <a:srgbClr val="2E86A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828800" y="4297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1993392" y="4005072"/>
            <a:ext cx="402336" cy="237744"/>
          </a:xfrm>
          <a:prstGeom prst="rect">
            <a:avLst/>
          </a:prstGeom>
          <a:solidFill>
            <a:srgbClr val="2A2A3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993392" y="4005072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7D8B"/>
                </a:solidFill>
              </a:rPr>
              <a:t>∞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3749040" y="4297680"/>
            <a:ext cx="731520" cy="731520"/>
          </a:xfrm>
          <a:prstGeom prst="ellipse">
            <a:avLst/>
          </a:prstGeom>
          <a:solidFill>
            <a:srgbClr val="00C85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749040" y="4297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3913632" y="4005072"/>
            <a:ext cx="402336" cy="237744"/>
          </a:xfrm>
          <a:prstGeom prst="rect">
            <a:avLst/>
          </a:prstGeom>
          <a:solidFill>
            <a:srgbClr val="0F34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913632" y="4005072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6217920" y="4297680"/>
            <a:ext cx="731520" cy="731520"/>
          </a:xfrm>
          <a:prstGeom prst="ellipse">
            <a:avLst/>
          </a:prstGeom>
          <a:solidFill>
            <a:srgbClr val="00C85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217920" y="4297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6382512" y="4005072"/>
            <a:ext cx="402336" cy="237744"/>
          </a:xfrm>
          <a:prstGeom prst="rect">
            <a:avLst/>
          </a:prstGeom>
          <a:solidFill>
            <a:srgbClr val="0F34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382512" y="4005072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9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228600" y="2194560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30352" y="217627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Processing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228600" y="2615184"/>
            <a:ext cx="201168" cy="20116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30352" y="259689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Settled (final)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228600" y="3035808"/>
            <a:ext cx="201168" cy="201168"/>
          </a:xfrm>
          <a:prstGeom prst="ellipse">
            <a:avLst/>
          </a:prstGeom>
          <a:solidFill>
            <a:srgbClr val="00C85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30352" y="30175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In Queue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228600" y="3456432"/>
            <a:ext cx="201168" cy="201168"/>
          </a:xfrm>
          <a:prstGeom prst="ellipse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30352" y="3438144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Unvisited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8057271" y="2258568"/>
            <a:ext cx="858129" cy="292608"/>
          </a:xfrm>
          <a:prstGeom prst="rect">
            <a:avLst/>
          </a:prstGeom>
          <a:solidFill>
            <a:srgbClr val="0F3460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057271" y="2258568"/>
            <a:ext cx="85812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Node | Dist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8057271" y="2551176"/>
            <a:ext cx="858129" cy="274320"/>
          </a:xfrm>
          <a:prstGeom prst="rect">
            <a:avLst/>
          </a:prstGeom>
          <a:solidFill>
            <a:srgbClr val="1A3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057271" y="2551176"/>
            <a:ext cx="85812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  A     0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8057271" y="2825496"/>
            <a:ext cx="858129" cy="27432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057271" y="2825496"/>
            <a:ext cx="85812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  B     4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8057271" y="3099816"/>
            <a:ext cx="858129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057271" y="3099816"/>
            <a:ext cx="85812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  C     2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8057271" y="3374136"/>
            <a:ext cx="858129" cy="27432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057271" y="3374136"/>
            <a:ext cx="85812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  D     ∞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8057271" y="3648456"/>
            <a:ext cx="858129" cy="27432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057271" y="3648456"/>
            <a:ext cx="85812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  F     5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8057271" y="3922776"/>
            <a:ext cx="858129" cy="27432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057271" y="3922776"/>
            <a:ext cx="85812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  E     9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118872" y="3771900"/>
            <a:ext cx="216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0C4DE"/>
                </a:solidFill>
              </a:rPr>
              <a:t>C→F: 2+3=5 ✓  |  C→E: 2+7=9 ✓  |  C is settled.</a:t>
            </a:r>
            <a:endParaRPr lang="en-US" sz="1200" dirty="0"/>
          </a:p>
        </p:txBody>
      </p:sp>
      <p:sp>
        <p:nvSpPr>
          <p:cNvPr id="94" name="Shape 11">
            <a:extLst>
              <a:ext uri="{FF2B5EF4-FFF2-40B4-BE49-F238E27FC236}">
                <a16:creationId xmlns:a16="http://schemas.microsoft.com/office/drawing/2014/main" id="{6A2D05C3-316D-96EB-3AAC-CA81A1E57AD7}"/>
              </a:ext>
            </a:extLst>
          </p:cNvPr>
          <p:cNvSpPr/>
          <p:nvPr/>
        </p:nvSpPr>
        <p:spPr>
          <a:xfrm>
            <a:off x="2125980" y="1377931"/>
            <a:ext cx="384048" cy="384048"/>
          </a:xfrm>
          <a:prstGeom prst="ellipse">
            <a:avLst/>
          </a:prstGeom>
          <a:solidFill>
            <a:srgbClr val="00C85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8" name="Shape 34">
            <a:extLst>
              <a:ext uri="{FF2B5EF4-FFF2-40B4-BE49-F238E27FC236}">
                <a16:creationId xmlns:a16="http://schemas.microsoft.com/office/drawing/2014/main" id="{C0E678A7-8D2B-4D4F-05E6-8BEFA09E9603}"/>
              </a:ext>
            </a:extLst>
          </p:cNvPr>
          <p:cNvSpPr/>
          <p:nvPr/>
        </p:nvSpPr>
        <p:spPr>
          <a:xfrm>
            <a:off x="5870448" y="3922776"/>
            <a:ext cx="329184" cy="2926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5" name="Text 13">
            <a:extLst>
              <a:ext uri="{FF2B5EF4-FFF2-40B4-BE49-F238E27FC236}">
                <a16:creationId xmlns:a16="http://schemas.microsoft.com/office/drawing/2014/main" id="{016AF8EA-7239-CE84-3CA2-CD1843EA42A2}"/>
              </a:ext>
            </a:extLst>
          </p:cNvPr>
          <p:cNvSpPr/>
          <p:nvPr/>
        </p:nvSpPr>
        <p:spPr>
          <a:xfrm>
            <a:off x="2066544" y="1803829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853"/>
                </a:solidFill>
              </a:rPr>
              <a:t>d=4</a:t>
            </a:r>
            <a:endParaRPr lang="en-US" sz="800" dirty="0"/>
          </a:p>
        </p:txBody>
      </p:sp>
      <p:sp>
        <p:nvSpPr>
          <p:cNvPr id="96" name="Text 12">
            <a:extLst>
              <a:ext uri="{FF2B5EF4-FFF2-40B4-BE49-F238E27FC236}">
                <a16:creationId xmlns:a16="http://schemas.microsoft.com/office/drawing/2014/main" id="{F48D2F61-F6B9-5E94-8164-A24D65B7B6E7}"/>
              </a:ext>
            </a:extLst>
          </p:cNvPr>
          <p:cNvSpPr/>
          <p:nvPr/>
        </p:nvSpPr>
        <p:spPr>
          <a:xfrm>
            <a:off x="2112264" y="13853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870448" y="394563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/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17"/>
          <p:cNvSpPr/>
          <p:nvPr/>
        </p:nvSpPr>
        <p:spPr>
          <a:xfrm>
            <a:off x="182880" y="1572768"/>
            <a:ext cx="173736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Step 3: Process B (dist = 4)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C4DE"/>
                </a:solidFill>
              </a:rPr>
              <a:t>Pop B (smallest dist=4). Relax B→D and B→F.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-548639" y="1323066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</a:rPr>
              <a:t>Priority</a:t>
            </a:r>
            <a:endParaRPr lang="en-US" sz="1100" dirty="0"/>
          </a:p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</a:rPr>
              <a:t>Queue: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920240" y="1335024"/>
            <a:ext cx="5760720" cy="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1916022"/>
            <a:ext cx="5760720" cy="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1335024"/>
            <a:ext cx="0" cy="576072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0" y="1335024"/>
            <a:ext cx="0" cy="576072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14626" y="1399033"/>
            <a:ext cx="384048" cy="384048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07592" y="1417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49914" y="1792223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A623"/>
                </a:solidFill>
              </a:rPr>
              <a:t>d=4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88920" y="1380744"/>
            <a:ext cx="384048" cy="384048"/>
          </a:xfrm>
          <a:prstGeom prst="ellipse">
            <a:avLst/>
          </a:prstGeom>
          <a:solidFill>
            <a:srgbClr val="00C85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8920" y="13807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24912" y="1728216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853"/>
                </a:solidFill>
              </a:rPr>
              <a:t>d=9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520440" y="1380744"/>
            <a:ext cx="384048" cy="384048"/>
          </a:xfrm>
          <a:prstGeom prst="ellipse">
            <a:avLst/>
          </a:prstGeom>
          <a:solidFill>
            <a:srgbClr val="00C85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20440" y="13807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56432" y="1728216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853"/>
                </a:solidFill>
              </a:rPr>
              <a:t>d=9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82880" y="184708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A623"/>
                </a:solidFill>
              </a:rPr>
              <a:t>← POP min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680960" y="1572768"/>
            <a:ext cx="1005840" cy="0"/>
          </a:xfrm>
          <a:prstGeom prst="line">
            <a:avLst/>
          </a:prstGeom>
          <a:noFill/>
          <a:ln w="25400">
            <a:solidFill>
              <a:srgbClr val="00C8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0" y="184708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C853"/>
                </a:solidFill>
              </a:rPr>
              <a:t>PUSH →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 flipH="1">
            <a:off x="2743200" y="2331720"/>
            <a:ext cx="1371600" cy="118872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64408" y="2779776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64408" y="277977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0" y="2331720"/>
            <a:ext cx="1371600" cy="118872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36008" y="2779776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36008" y="277977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 flipH="1">
            <a:off x="2194560" y="3520440"/>
            <a:ext cx="548640" cy="1143000"/>
          </a:xfrm>
          <a:prstGeom prst="line">
            <a:avLst/>
          </a:prstGeom>
          <a:noFill/>
          <a:ln w="50800">
            <a:solidFill>
              <a:srgbClr val="F5A62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04288" y="3945636"/>
            <a:ext cx="329184" cy="2926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04288" y="394563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0" y="3520440"/>
            <a:ext cx="1371600" cy="114300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64408" y="3945636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64408" y="394563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10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 flipH="1">
            <a:off x="4114800" y="3520440"/>
            <a:ext cx="1371600" cy="114300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36008" y="3945636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36008" y="394563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3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0" y="3520440"/>
            <a:ext cx="1097280" cy="114300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870448" y="3945636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70448" y="394563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7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194560" y="4663440"/>
            <a:ext cx="1920240" cy="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990088" y="4517136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90088" y="451713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2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114800" y="4663440"/>
            <a:ext cx="2468880" cy="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184648" y="4517136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84648" y="451713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1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749040" y="196596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49040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4601542" y="2130552"/>
            <a:ext cx="402336" cy="237744"/>
          </a:xfrm>
          <a:prstGeom prst="rect">
            <a:avLst/>
          </a:prstGeom>
          <a:solidFill>
            <a:srgbClr val="1A5C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99432" y="2135479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377440" y="3154680"/>
            <a:ext cx="731520" cy="731520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377440" y="3154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2542032" y="2862072"/>
            <a:ext cx="402336" cy="237744"/>
          </a:xfrm>
          <a:prstGeom prst="rect">
            <a:avLst/>
          </a:prstGeom>
          <a:solidFill>
            <a:srgbClr val="0F34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542032" y="2862072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120640" y="315468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20640" y="3154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5285232" y="2862072"/>
            <a:ext cx="402336" cy="237744"/>
          </a:xfrm>
          <a:prstGeom prst="rect">
            <a:avLst/>
          </a:prstGeom>
          <a:solidFill>
            <a:srgbClr val="0F34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85232" y="2862072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1828800" y="4297680"/>
            <a:ext cx="731520" cy="731520"/>
          </a:xfrm>
          <a:prstGeom prst="ellipse">
            <a:avLst/>
          </a:prstGeom>
          <a:solidFill>
            <a:srgbClr val="00C85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828800" y="4297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1342058" y="4398264"/>
            <a:ext cx="402336" cy="237744"/>
          </a:xfrm>
          <a:prstGeom prst="rect">
            <a:avLst/>
          </a:prstGeom>
          <a:solidFill>
            <a:srgbClr val="0F34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327639" y="4398264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9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3749040" y="4297680"/>
            <a:ext cx="731520" cy="731520"/>
          </a:xfrm>
          <a:prstGeom prst="ellipse">
            <a:avLst/>
          </a:prstGeom>
          <a:solidFill>
            <a:srgbClr val="00C85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749040" y="4297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3913632" y="4005072"/>
            <a:ext cx="402336" cy="237744"/>
          </a:xfrm>
          <a:prstGeom prst="rect">
            <a:avLst/>
          </a:prstGeom>
          <a:solidFill>
            <a:srgbClr val="0F34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913632" y="4005072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6217920" y="4297680"/>
            <a:ext cx="731520" cy="731520"/>
          </a:xfrm>
          <a:prstGeom prst="ellipse">
            <a:avLst/>
          </a:prstGeom>
          <a:solidFill>
            <a:srgbClr val="00C85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217920" y="4297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6382512" y="4005072"/>
            <a:ext cx="402336" cy="237744"/>
          </a:xfrm>
          <a:prstGeom prst="rect">
            <a:avLst/>
          </a:prstGeom>
          <a:solidFill>
            <a:srgbClr val="0F34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382512" y="4005072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9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228600" y="2194560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30352" y="217627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Processing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228600" y="2615184"/>
            <a:ext cx="201168" cy="20116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30352" y="259689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Settled (final)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228600" y="3035808"/>
            <a:ext cx="201168" cy="201168"/>
          </a:xfrm>
          <a:prstGeom prst="ellipse">
            <a:avLst/>
          </a:prstGeom>
          <a:solidFill>
            <a:srgbClr val="00C85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30352" y="30175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In Queue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228600" y="3456432"/>
            <a:ext cx="201168" cy="201168"/>
          </a:xfrm>
          <a:prstGeom prst="ellipse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30352" y="3438144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Unvisited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8071338" y="2279142"/>
            <a:ext cx="844062" cy="292608"/>
          </a:xfrm>
          <a:prstGeom prst="rect">
            <a:avLst/>
          </a:prstGeom>
          <a:solidFill>
            <a:srgbClr val="0F3460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071338" y="2279142"/>
            <a:ext cx="84406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Node | Dist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8071338" y="2571750"/>
            <a:ext cx="844062" cy="274320"/>
          </a:xfrm>
          <a:prstGeom prst="rect">
            <a:avLst/>
          </a:prstGeom>
          <a:solidFill>
            <a:srgbClr val="1A3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071338" y="2571750"/>
            <a:ext cx="8440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  A     0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8071338" y="2846070"/>
            <a:ext cx="844062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071338" y="2846070"/>
            <a:ext cx="8440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  B     4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8071338" y="3120390"/>
            <a:ext cx="844062" cy="274320"/>
          </a:xfrm>
          <a:prstGeom prst="rect">
            <a:avLst/>
          </a:prstGeom>
          <a:solidFill>
            <a:srgbClr val="1A3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071338" y="3120390"/>
            <a:ext cx="8440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  C     2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8071338" y="3394710"/>
            <a:ext cx="844062" cy="27432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071338" y="3394710"/>
            <a:ext cx="8440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  D     9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8071338" y="3669030"/>
            <a:ext cx="844062" cy="27432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071338" y="3669030"/>
            <a:ext cx="8440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  F     5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8071338" y="3943350"/>
            <a:ext cx="844062" cy="27432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071338" y="3943350"/>
            <a:ext cx="84406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  E     9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228600" y="50292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0C4DE"/>
                </a:solidFill>
              </a:rPr>
              <a:t>B→D: 4+5=9 ✓  |  B→F: 4+10=14 — 14 &gt; 5 (current), skip!  |  B is settled.</a:t>
            </a:r>
            <a:endParaRPr lang="en-US" sz="1200" dirty="0"/>
          </a:p>
        </p:txBody>
      </p:sp>
      <p:sp>
        <p:nvSpPr>
          <p:cNvPr id="94" name="Shape 11">
            <a:extLst>
              <a:ext uri="{FF2B5EF4-FFF2-40B4-BE49-F238E27FC236}">
                <a16:creationId xmlns:a16="http://schemas.microsoft.com/office/drawing/2014/main" id="{61937E2F-3A64-377C-5D79-026B1D6F7511}"/>
              </a:ext>
            </a:extLst>
          </p:cNvPr>
          <p:cNvSpPr/>
          <p:nvPr/>
        </p:nvSpPr>
        <p:spPr>
          <a:xfrm>
            <a:off x="2103120" y="1370193"/>
            <a:ext cx="384048" cy="384048"/>
          </a:xfrm>
          <a:prstGeom prst="ellipse">
            <a:avLst/>
          </a:prstGeom>
          <a:solidFill>
            <a:srgbClr val="00C85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5" name="Text 13">
            <a:extLst>
              <a:ext uri="{FF2B5EF4-FFF2-40B4-BE49-F238E27FC236}">
                <a16:creationId xmlns:a16="http://schemas.microsoft.com/office/drawing/2014/main" id="{CB9EA6E6-5975-A1C7-8CDF-FCA98621B3E8}"/>
              </a:ext>
            </a:extLst>
          </p:cNvPr>
          <p:cNvSpPr/>
          <p:nvPr/>
        </p:nvSpPr>
        <p:spPr>
          <a:xfrm>
            <a:off x="2039112" y="1743690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853"/>
                </a:solidFill>
              </a:rPr>
              <a:t>d=5</a:t>
            </a:r>
            <a:endParaRPr lang="en-US" sz="800" dirty="0"/>
          </a:p>
        </p:txBody>
      </p:sp>
      <p:sp>
        <p:nvSpPr>
          <p:cNvPr id="96" name="Text 12">
            <a:extLst>
              <a:ext uri="{FF2B5EF4-FFF2-40B4-BE49-F238E27FC236}">
                <a16:creationId xmlns:a16="http://schemas.microsoft.com/office/drawing/2014/main" id="{9E8461FE-EF03-C374-F3B8-B077835B0F28}"/>
              </a:ext>
            </a:extLst>
          </p:cNvPr>
          <p:cNvSpPr/>
          <p:nvPr/>
        </p:nvSpPr>
        <p:spPr>
          <a:xfrm>
            <a:off x="2103120" y="1355599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4"/>
          <p:cNvSpPr/>
          <p:nvPr/>
        </p:nvSpPr>
        <p:spPr>
          <a:xfrm>
            <a:off x="182880" y="1572768"/>
            <a:ext cx="173736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Step 4: Process F (dist = 5)  🔑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C4DE"/>
                </a:solidFill>
              </a:rPr>
              <a:t>Pop F (dist=5). Relax F→D and F→E — BETTER paths found!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-795528" y="1295634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</a:rPr>
              <a:t>Priority</a:t>
            </a:r>
            <a:endParaRPr lang="en-US" sz="1100" dirty="0"/>
          </a:p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</a:rPr>
              <a:t>Queue: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920240" y="1335024"/>
            <a:ext cx="5760720" cy="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1810512"/>
            <a:ext cx="5760720" cy="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1335024"/>
            <a:ext cx="0" cy="475488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0" y="1335024"/>
            <a:ext cx="0" cy="475488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02436" y="1367028"/>
            <a:ext cx="384048" cy="384048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711" y="13533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24712" y="1791871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A623"/>
                </a:solidFill>
              </a:rPr>
              <a:t>d=5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88920" y="1389888"/>
            <a:ext cx="384048" cy="384048"/>
          </a:xfrm>
          <a:prstGeom prst="ellipse">
            <a:avLst/>
          </a:prstGeom>
          <a:solidFill>
            <a:srgbClr val="00C85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8920" y="13807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24912" y="1828799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853"/>
                </a:solidFill>
              </a:rPr>
              <a:t>d=7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82880" y="184708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A623"/>
                </a:solidFill>
              </a:rPr>
              <a:t>← POP min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680960" y="1572768"/>
            <a:ext cx="1005840" cy="0"/>
          </a:xfrm>
          <a:prstGeom prst="line">
            <a:avLst/>
          </a:prstGeom>
          <a:noFill/>
          <a:ln w="25400">
            <a:solidFill>
              <a:srgbClr val="00C8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0" y="184708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C853"/>
                </a:solidFill>
              </a:rPr>
              <a:t>PUSH →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 flipH="1">
            <a:off x="2743200" y="2331720"/>
            <a:ext cx="1371600" cy="118872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64408" y="2779776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64408" y="277977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0" y="2331720"/>
            <a:ext cx="1371600" cy="118872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36008" y="2779776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36008" y="277977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 flipH="1">
            <a:off x="2194560" y="3520440"/>
            <a:ext cx="548640" cy="114300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04288" y="3945636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04288" y="394563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0" y="3520440"/>
            <a:ext cx="1371600" cy="114300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64408" y="3945636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64408" y="394563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10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 flipH="1">
            <a:off x="4114800" y="3520440"/>
            <a:ext cx="1371600" cy="114300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36008" y="3945636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36008" y="394563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3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0" y="3520440"/>
            <a:ext cx="1097280" cy="114300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870448" y="3945636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70448" y="394563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7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194560" y="4663440"/>
            <a:ext cx="1920240" cy="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90088" y="4517136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90088" y="451713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2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114800" y="4663440"/>
            <a:ext cx="2468880" cy="0"/>
          </a:xfrm>
          <a:prstGeom prst="line">
            <a:avLst/>
          </a:prstGeom>
          <a:noFill/>
          <a:ln w="50800">
            <a:solidFill>
              <a:srgbClr val="F5A62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184648" y="4517136"/>
            <a:ext cx="329184" cy="2926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84648" y="451713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1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749040" y="196596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49040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3913632" y="1673352"/>
            <a:ext cx="402336" cy="237744"/>
          </a:xfrm>
          <a:prstGeom prst="rect">
            <a:avLst/>
          </a:prstGeom>
          <a:solidFill>
            <a:srgbClr val="1A5C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913632" y="1673352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377440" y="315468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377440" y="3154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2542032" y="2862072"/>
            <a:ext cx="402336" cy="237744"/>
          </a:xfrm>
          <a:prstGeom prst="rect">
            <a:avLst/>
          </a:prstGeom>
          <a:solidFill>
            <a:srgbClr val="0F34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42032" y="2862072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120640" y="315468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20640" y="3154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5285232" y="2862072"/>
            <a:ext cx="402336" cy="237744"/>
          </a:xfrm>
          <a:prstGeom prst="rect">
            <a:avLst/>
          </a:prstGeom>
          <a:solidFill>
            <a:srgbClr val="0F34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85232" y="2862072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1828800" y="4297680"/>
            <a:ext cx="731520" cy="731520"/>
          </a:xfrm>
          <a:prstGeom prst="ellipse">
            <a:avLst/>
          </a:prstGeom>
          <a:solidFill>
            <a:srgbClr val="00C85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828800" y="4297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1993392" y="4005072"/>
            <a:ext cx="402336" cy="237744"/>
          </a:xfrm>
          <a:prstGeom prst="rect">
            <a:avLst/>
          </a:prstGeom>
          <a:solidFill>
            <a:srgbClr val="0F34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993392" y="4005072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3749040" y="4297680"/>
            <a:ext cx="731520" cy="731520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749040" y="4297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3913632" y="4005072"/>
            <a:ext cx="402336" cy="237744"/>
          </a:xfrm>
          <a:prstGeom prst="rect">
            <a:avLst/>
          </a:prstGeom>
          <a:solidFill>
            <a:srgbClr val="0F34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913632" y="4005072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217920" y="4297680"/>
            <a:ext cx="731520" cy="731520"/>
          </a:xfrm>
          <a:prstGeom prst="ellipse">
            <a:avLst/>
          </a:prstGeom>
          <a:solidFill>
            <a:srgbClr val="00C85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17920" y="4297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6382512" y="4005072"/>
            <a:ext cx="402336" cy="237744"/>
          </a:xfrm>
          <a:prstGeom prst="rect">
            <a:avLst/>
          </a:prstGeom>
          <a:solidFill>
            <a:srgbClr val="0F34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82512" y="4005072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28600" y="2194560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30352" y="217627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Processing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228600" y="2615184"/>
            <a:ext cx="201168" cy="20116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30352" y="2596896"/>
            <a:ext cx="11064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Settled (final)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228600" y="3035808"/>
            <a:ext cx="201168" cy="201168"/>
          </a:xfrm>
          <a:prstGeom prst="ellipse">
            <a:avLst/>
          </a:prstGeom>
          <a:solidFill>
            <a:srgbClr val="00C85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30352" y="30175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In Queue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228600" y="3456432"/>
            <a:ext cx="201168" cy="201168"/>
          </a:xfrm>
          <a:prstGeom prst="ellipse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30352" y="3438144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Unvisited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8032652" y="2121407"/>
            <a:ext cx="801858" cy="292608"/>
          </a:xfrm>
          <a:prstGeom prst="rect">
            <a:avLst/>
          </a:prstGeom>
          <a:solidFill>
            <a:srgbClr val="0F3460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032652" y="2121407"/>
            <a:ext cx="80185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Node | Dist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8032652" y="2414015"/>
            <a:ext cx="801858" cy="274320"/>
          </a:xfrm>
          <a:prstGeom prst="rect">
            <a:avLst/>
          </a:prstGeom>
          <a:solidFill>
            <a:srgbClr val="1A3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032652" y="2414015"/>
            <a:ext cx="8018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  A     0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8032652" y="2688335"/>
            <a:ext cx="801858" cy="274320"/>
          </a:xfrm>
          <a:prstGeom prst="rect">
            <a:avLst/>
          </a:prstGeom>
          <a:solidFill>
            <a:srgbClr val="1A3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032652" y="2688335"/>
            <a:ext cx="8018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  B     4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8032652" y="2962655"/>
            <a:ext cx="801858" cy="274320"/>
          </a:xfrm>
          <a:prstGeom prst="rect">
            <a:avLst/>
          </a:prstGeom>
          <a:solidFill>
            <a:srgbClr val="1A3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032652" y="2962655"/>
            <a:ext cx="8018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  C     2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8032652" y="3236975"/>
            <a:ext cx="801858" cy="27432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032652" y="3236975"/>
            <a:ext cx="8018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  D     7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8032652" y="3511295"/>
            <a:ext cx="801858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032652" y="3511295"/>
            <a:ext cx="8018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  F     5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8032652" y="3785615"/>
            <a:ext cx="801858" cy="27432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032652" y="3785615"/>
            <a:ext cx="80185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  E     6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228600" y="50292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0C4DE"/>
                </a:solidFill>
              </a:rPr>
              <a:t>F→D: 5+2=7 &lt; 9 ✓ UPDATE!  |  F→E: 5+1=6 &lt; 9 ✓ UPDATE!  |  F is settled.</a:t>
            </a:r>
            <a:endParaRPr lang="en-US" sz="1200" dirty="0"/>
          </a:p>
        </p:txBody>
      </p:sp>
      <p:sp>
        <p:nvSpPr>
          <p:cNvPr id="92" name="Shape 11">
            <a:extLst>
              <a:ext uri="{FF2B5EF4-FFF2-40B4-BE49-F238E27FC236}">
                <a16:creationId xmlns:a16="http://schemas.microsoft.com/office/drawing/2014/main" id="{488CC02F-AB07-F65C-BA20-77B7AF7C1675}"/>
              </a:ext>
            </a:extLst>
          </p:cNvPr>
          <p:cNvSpPr/>
          <p:nvPr/>
        </p:nvSpPr>
        <p:spPr>
          <a:xfrm>
            <a:off x="2029968" y="1385315"/>
            <a:ext cx="384048" cy="384048"/>
          </a:xfrm>
          <a:prstGeom prst="ellipse">
            <a:avLst/>
          </a:prstGeom>
          <a:solidFill>
            <a:srgbClr val="00C85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1" name="Text 12">
            <a:extLst>
              <a:ext uri="{FF2B5EF4-FFF2-40B4-BE49-F238E27FC236}">
                <a16:creationId xmlns:a16="http://schemas.microsoft.com/office/drawing/2014/main" id="{E72B4998-FE9E-54F5-CCCB-CBAE9F7D86D9}"/>
              </a:ext>
            </a:extLst>
          </p:cNvPr>
          <p:cNvSpPr/>
          <p:nvPr/>
        </p:nvSpPr>
        <p:spPr>
          <a:xfrm>
            <a:off x="2039112" y="1374415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</a:t>
            </a:r>
            <a:endParaRPr lang="en-US" sz="1300" dirty="0"/>
          </a:p>
        </p:txBody>
      </p:sp>
      <p:sp>
        <p:nvSpPr>
          <p:cNvPr id="93" name="Text 13">
            <a:extLst>
              <a:ext uri="{FF2B5EF4-FFF2-40B4-BE49-F238E27FC236}">
                <a16:creationId xmlns:a16="http://schemas.microsoft.com/office/drawing/2014/main" id="{577D03D4-B1FA-9017-5B07-F959AA41884B}"/>
              </a:ext>
            </a:extLst>
          </p:cNvPr>
          <p:cNvSpPr/>
          <p:nvPr/>
        </p:nvSpPr>
        <p:spPr>
          <a:xfrm>
            <a:off x="1963850" y="1847089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853"/>
                </a:solidFill>
              </a:rPr>
              <a:t>d=6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 11"/>
          <p:cNvSpPr/>
          <p:nvPr/>
        </p:nvSpPr>
        <p:spPr>
          <a:xfrm>
            <a:off x="182880" y="1572768"/>
            <a:ext cx="173736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Step 5: Process E (dist = 6)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C4DE"/>
                </a:solidFill>
              </a:rPr>
              <a:t>Pop E (dist=6). E's neighbors C and F are already settled — nothing to do.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-649224" y="1298448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</a:rPr>
              <a:t>Priority</a:t>
            </a:r>
            <a:endParaRPr lang="en-US" sz="1100" dirty="0"/>
          </a:p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</a:rPr>
              <a:t>Queue: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920240" y="1335024"/>
            <a:ext cx="5760720" cy="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1810512"/>
            <a:ext cx="5760720" cy="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1335024"/>
            <a:ext cx="0" cy="475488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0" y="1335024"/>
            <a:ext cx="0" cy="475488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48740" y="1370897"/>
            <a:ext cx="384048" cy="384048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42761" y="1370897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78753" y="1810512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A623"/>
                </a:solidFill>
              </a:rPr>
              <a:t>d=6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82880" y="184708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A623"/>
                </a:solidFill>
              </a:rPr>
              <a:t>← POP min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680960" y="1572768"/>
            <a:ext cx="1005840" cy="0"/>
          </a:xfrm>
          <a:prstGeom prst="line">
            <a:avLst/>
          </a:prstGeom>
          <a:noFill/>
          <a:ln w="25400">
            <a:solidFill>
              <a:srgbClr val="00C8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0" y="184708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C853"/>
                </a:solidFill>
              </a:rPr>
              <a:t>PUSH →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 flipH="1">
            <a:off x="2743200" y="2331720"/>
            <a:ext cx="1371600" cy="118872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64408" y="2779776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64408" y="277977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0" y="2331720"/>
            <a:ext cx="1371600" cy="118872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36008" y="2779776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36008" y="277977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 flipH="1">
            <a:off x="2194560" y="3520440"/>
            <a:ext cx="548640" cy="114300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04288" y="3945636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04288" y="394563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5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0" y="3520440"/>
            <a:ext cx="1371600" cy="114300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64408" y="3945636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64408" y="394563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10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 flipH="1">
            <a:off x="4114800" y="3520440"/>
            <a:ext cx="1371600" cy="114300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36008" y="3945636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36008" y="394563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3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0" y="3520440"/>
            <a:ext cx="1097280" cy="114300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870448" y="3945636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70448" y="394563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7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194560" y="4663440"/>
            <a:ext cx="1920240" cy="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990088" y="4517136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90088" y="451713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2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114800" y="4663440"/>
            <a:ext cx="2468880" cy="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84648" y="4517136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84648" y="451713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1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749040" y="196596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49040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4535424" y="2093976"/>
            <a:ext cx="402336" cy="237744"/>
          </a:xfrm>
          <a:prstGeom prst="rect">
            <a:avLst/>
          </a:prstGeom>
          <a:solidFill>
            <a:srgbClr val="1A5C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36127" y="2093976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377440" y="315468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377440" y="3154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2542032" y="2862072"/>
            <a:ext cx="402336" cy="237744"/>
          </a:xfrm>
          <a:prstGeom prst="rect">
            <a:avLst/>
          </a:prstGeom>
          <a:solidFill>
            <a:srgbClr val="0F34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42032" y="2862072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120640" y="315468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20640" y="3154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5285232" y="2862072"/>
            <a:ext cx="402336" cy="237744"/>
          </a:xfrm>
          <a:prstGeom prst="rect">
            <a:avLst/>
          </a:prstGeom>
          <a:solidFill>
            <a:srgbClr val="0F34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285232" y="2862072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1828800" y="4297680"/>
            <a:ext cx="731520" cy="731520"/>
          </a:xfrm>
          <a:prstGeom prst="ellipse">
            <a:avLst/>
          </a:prstGeom>
          <a:solidFill>
            <a:srgbClr val="00C85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828800" y="4297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1993392" y="4005072"/>
            <a:ext cx="402336" cy="237744"/>
          </a:xfrm>
          <a:prstGeom prst="rect">
            <a:avLst/>
          </a:prstGeom>
          <a:solidFill>
            <a:srgbClr val="0F34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993392" y="4005072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3749040" y="429768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749040" y="4297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3913632" y="4005072"/>
            <a:ext cx="402336" cy="237744"/>
          </a:xfrm>
          <a:prstGeom prst="rect">
            <a:avLst/>
          </a:prstGeom>
          <a:solidFill>
            <a:srgbClr val="0F34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913632" y="4005072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217920" y="4297680"/>
            <a:ext cx="731520" cy="731520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17920" y="4297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6382512" y="4005072"/>
            <a:ext cx="402336" cy="237744"/>
          </a:xfrm>
          <a:prstGeom prst="rect">
            <a:avLst/>
          </a:prstGeom>
          <a:solidFill>
            <a:srgbClr val="0F34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382512" y="4005072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228600" y="2194560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30352" y="217627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Processing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228600" y="2615184"/>
            <a:ext cx="201168" cy="20116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30352" y="259689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Settled (final)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228600" y="3035808"/>
            <a:ext cx="201168" cy="201168"/>
          </a:xfrm>
          <a:prstGeom prst="ellipse">
            <a:avLst/>
          </a:prstGeom>
          <a:solidFill>
            <a:srgbClr val="00C85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30352" y="30175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In Queue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228600" y="3456432"/>
            <a:ext cx="201168" cy="201168"/>
          </a:xfrm>
          <a:prstGeom prst="ellipse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30352" y="3438144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Unvisited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8025619" y="2166425"/>
            <a:ext cx="815926" cy="292608"/>
          </a:xfrm>
          <a:prstGeom prst="rect">
            <a:avLst/>
          </a:prstGeom>
          <a:solidFill>
            <a:srgbClr val="0F3460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025619" y="2166425"/>
            <a:ext cx="81592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Node | Dist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8025619" y="2459033"/>
            <a:ext cx="815926" cy="274320"/>
          </a:xfrm>
          <a:prstGeom prst="rect">
            <a:avLst/>
          </a:prstGeom>
          <a:solidFill>
            <a:srgbClr val="1A3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8025619" y="2459033"/>
            <a:ext cx="8159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  A     0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8025619" y="2733353"/>
            <a:ext cx="815926" cy="274320"/>
          </a:xfrm>
          <a:prstGeom prst="rect">
            <a:avLst/>
          </a:prstGeom>
          <a:solidFill>
            <a:srgbClr val="1A3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025619" y="2733353"/>
            <a:ext cx="8159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  B     4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8025619" y="3007673"/>
            <a:ext cx="815926" cy="274320"/>
          </a:xfrm>
          <a:prstGeom prst="rect">
            <a:avLst/>
          </a:prstGeom>
          <a:solidFill>
            <a:srgbClr val="1A3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8025619" y="3007673"/>
            <a:ext cx="8159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  C     2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8025619" y="3281993"/>
            <a:ext cx="815926" cy="274320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025619" y="3281993"/>
            <a:ext cx="8159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  D     7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8025619" y="3556313"/>
            <a:ext cx="815926" cy="274320"/>
          </a:xfrm>
          <a:prstGeom prst="rect">
            <a:avLst/>
          </a:prstGeom>
          <a:solidFill>
            <a:srgbClr val="1A3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025619" y="3556313"/>
            <a:ext cx="8159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  F     5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8025619" y="3830633"/>
            <a:ext cx="815926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025619" y="3830633"/>
            <a:ext cx="8159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  E     6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228600" y="50292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0C4DE"/>
                </a:solidFill>
              </a:rPr>
              <a:t>All of E's neighbors already settled. E is settled.</a:t>
            </a:r>
            <a:endParaRPr lang="en-US" sz="1200" dirty="0"/>
          </a:p>
        </p:txBody>
      </p:sp>
      <p:sp>
        <p:nvSpPr>
          <p:cNvPr id="94" name="Shape 11">
            <a:extLst>
              <a:ext uri="{FF2B5EF4-FFF2-40B4-BE49-F238E27FC236}">
                <a16:creationId xmlns:a16="http://schemas.microsoft.com/office/drawing/2014/main" id="{7C47EFAB-A96E-060F-C7E4-2EDEFCCBE843}"/>
              </a:ext>
            </a:extLst>
          </p:cNvPr>
          <p:cNvSpPr/>
          <p:nvPr/>
        </p:nvSpPr>
        <p:spPr>
          <a:xfrm>
            <a:off x="2039111" y="1387602"/>
            <a:ext cx="384048" cy="384048"/>
          </a:xfrm>
          <a:prstGeom prst="ellipse">
            <a:avLst/>
          </a:prstGeom>
          <a:solidFill>
            <a:srgbClr val="00C85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8" name="Text 12">
            <a:extLst>
              <a:ext uri="{FF2B5EF4-FFF2-40B4-BE49-F238E27FC236}">
                <a16:creationId xmlns:a16="http://schemas.microsoft.com/office/drawing/2014/main" id="{E879D769-A0FF-ECA9-D6CD-356D479F4EBA}"/>
              </a:ext>
            </a:extLst>
          </p:cNvPr>
          <p:cNvSpPr/>
          <p:nvPr/>
        </p:nvSpPr>
        <p:spPr>
          <a:xfrm>
            <a:off x="2037704" y="13807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</p:txBody>
      </p:sp>
      <p:sp>
        <p:nvSpPr>
          <p:cNvPr id="89" name="Text 13">
            <a:extLst>
              <a:ext uri="{FF2B5EF4-FFF2-40B4-BE49-F238E27FC236}">
                <a16:creationId xmlns:a16="http://schemas.microsoft.com/office/drawing/2014/main" id="{10D173E4-CBAC-9EC2-9984-0166C21EA93C}"/>
              </a:ext>
            </a:extLst>
          </p:cNvPr>
          <p:cNvSpPr/>
          <p:nvPr/>
        </p:nvSpPr>
        <p:spPr>
          <a:xfrm>
            <a:off x="1963850" y="1847089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C853"/>
                </a:solidFill>
              </a:rPr>
              <a:t>d=7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Step 6: Process D (dist = 7) — Done! 🎉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C4DE"/>
                </a:solidFill>
              </a:rPr>
              <a:t>Pop D (dist=7). D's neighbors B and F are already settled. Queue empty — DONE!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-868680" y="1307592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</a:rPr>
              <a:t>Priority</a:t>
            </a:r>
            <a:endParaRPr lang="en-US" sz="1100" dirty="0"/>
          </a:p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</a:rPr>
              <a:t>Queue: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920240" y="1335024"/>
            <a:ext cx="5760720" cy="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1810512"/>
            <a:ext cx="5760720" cy="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1335024"/>
            <a:ext cx="0" cy="475488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0" y="1335024"/>
            <a:ext cx="0" cy="475488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1335024"/>
            <a:ext cx="5394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07D8B"/>
                </a:solidFill>
              </a:rPr>
              <a:t>( empty 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2880" y="1572768"/>
            <a:ext cx="173736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" y="1847088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A623"/>
                </a:solidFill>
              </a:rPr>
              <a:t>← POP min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680960" y="1572768"/>
            <a:ext cx="1005840" cy="0"/>
          </a:xfrm>
          <a:prstGeom prst="line">
            <a:avLst/>
          </a:prstGeom>
          <a:noFill/>
          <a:ln w="25400">
            <a:solidFill>
              <a:srgbClr val="00C8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0" y="1847088"/>
            <a:ext cx="1005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C853"/>
                </a:solidFill>
              </a:rPr>
              <a:t>PUSH →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 flipH="1">
            <a:off x="2743200" y="2331720"/>
            <a:ext cx="1371600" cy="118872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64408" y="2779776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64408" y="277977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0" y="2331720"/>
            <a:ext cx="1371600" cy="118872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36008" y="2779776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36008" y="277977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 flipH="1">
            <a:off x="2194560" y="3520440"/>
            <a:ext cx="548640" cy="114300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04288" y="3945636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04288" y="394563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0" y="3520440"/>
            <a:ext cx="1371600" cy="114300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64408" y="3945636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64408" y="394563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10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 flipH="1">
            <a:off x="4114800" y="3520440"/>
            <a:ext cx="1371600" cy="114300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36008" y="3945636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36008" y="394563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0" y="3520440"/>
            <a:ext cx="1097280" cy="114300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70448" y="3945636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70448" y="394563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7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194560" y="4663440"/>
            <a:ext cx="1920240" cy="0"/>
          </a:xfrm>
          <a:prstGeom prst="line">
            <a:avLst/>
          </a:prstGeom>
          <a:noFill/>
          <a:ln w="25400">
            <a:solidFill>
              <a:srgbClr val="607D8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90088" y="4517136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90088" y="451713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2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114800" y="4663440"/>
            <a:ext cx="2468880" cy="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84648" y="4517136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84648" y="451713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1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749040" y="196596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49040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4599432" y="2098547"/>
            <a:ext cx="402336" cy="237744"/>
          </a:xfrm>
          <a:prstGeom prst="rect">
            <a:avLst/>
          </a:prstGeom>
          <a:solidFill>
            <a:srgbClr val="1A5C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99432" y="2089404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2377440" y="315468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377440" y="3154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2542032" y="2862072"/>
            <a:ext cx="402336" cy="237744"/>
          </a:xfrm>
          <a:prstGeom prst="rect">
            <a:avLst/>
          </a:prstGeom>
          <a:solidFill>
            <a:srgbClr val="0F34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42032" y="2862072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120640" y="315468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20640" y="3154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5285232" y="2862072"/>
            <a:ext cx="402336" cy="237744"/>
          </a:xfrm>
          <a:prstGeom prst="rect">
            <a:avLst/>
          </a:prstGeom>
          <a:solidFill>
            <a:srgbClr val="0F34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85232" y="2862072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828800" y="4297680"/>
            <a:ext cx="731520" cy="731520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28800" y="4297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1993392" y="4005072"/>
            <a:ext cx="402336" cy="237744"/>
          </a:xfrm>
          <a:prstGeom prst="rect">
            <a:avLst/>
          </a:prstGeom>
          <a:solidFill>
            <a:srgbClr val="0F34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993392" y="4005072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749040" y="429768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749040" y="4297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3913632" y="4005072"/>
            <a:ext cx="402336" cy="237744"/>
          </a:xfrm>
          <a:prstGeom prst="rect">
            <a:avLst/>
          </a:prstGeom>
          <a:solidFill>
            <a:srgbClr val="0F34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913632" y="4005072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217920" y="429768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17920" y="4297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6382512" y="4005072"/>
            <a:ext cx="402336" cy="237744"/>
          </a:xfrm>
          <a:prstGeom prst="rect">
            <a:avLst/>
          </a:prstGeom>
          <a:solidFill>
            <a:srgbClr val="0F34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82512" y="4005072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228600" y="2194560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30352" y="217627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Processing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228600" y="2615184"/>
            <a:ext cx="201168" cy="20116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30352" y="2596896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Settled (final)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228600" y="3035808"/>
            <a:ext cx="201168" cy="201168"/>
          </a:xfrm>
          <a:prstGeom prst="ellipse">
            <a:avLst/>
          </a:prstGeom>
          <a:solidFill>
            <a:srgbClr val="00C85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30352" y="30175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In Queue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228600" y="3456432"/>
            <a:ext cx="201168" cy="201168"/>
          </a:xfrm>
          <a:prstGeom prst="ellipse">
            <a:avLst/>
          </a:prstGeom>
          <a:solidFill>
            <a:srgbClr val="2E86A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30352" y="3438144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</a:rPr>
              <a:t>Unvisited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7955280" y="2201594"/>
            <a:ext cx="829994" cy="292608"/>
          </a:xfrm>
          <a:prstGeom prst="rect">
            <a:avLst/>
          </a:prstGeom>
          <a:solidFill>
            <a:srgbClr val="0F3460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955280" y="2201594"/>
            <a:ext cx="82999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Node | Dist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7955280" y="2494202"/>
            <a:ext cx="829994" cy="274320"/>
          </a:xfrm>
          <a:prstGeom prst="rect">
            <a:avLst/>
          </a:prstGeom>
          <a:solidFill>
            <a:srgbClr val="1A3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955280" y="2494202"/>
            <a:ext cx="8299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  A     0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7955280" y="2768522"/>
            <a:ext cx="829994" cy="274320"/>
          </a:xfrm>
          <a:prstGeom prst="rect">
            <a:avLst/>
          </a:prstGeom>
          <a:solidFill>
            <a:srgbClr val="1A3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955280" y="2768522"/>
            <a:ext cx="8299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  B     4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7955280" y="3042842"/>
            <a:ext cx="829994" cy="274320"/>
          </a:xfrm>
          <a:prstGeom prst="rect">
            <a:avLst/>
          </a:prstGeom>
          <a:solidFill>
            <a:srgbClr val="1A3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955280" y="3042842"/>
            <a:ext cx="8299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  C     2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7955280" y="3317162"/>
            <a:ext cx="829994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955280" y="3317162"/>
            <a:ext cx="8299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  D     7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7955280" y="3591482"/>
            <a:ext cx="829994" cy="274320"/>
          </a:xfrm>
          <a:prstGeom prst="rect">
            <a:avLst/>
          </a:prstGeom>
          <a:solidFill>
            <a:srgbClr val="1A3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955280" y="3591482"/>
            <a:ext cx="8299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  F     5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7955280" y="3865802"/>
            <a:ext cx="829994" cy="274320"/>
          </a:xfrm>
          <a:prstGeom prst="rect">
            <a:avLst/>
          </a:prstGeom>
          <a:solidFill>
            <a:srgbClr val="1A3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955280" y="3865802"/>
            <a:ext cx="8299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  E     6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228600" y="50292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0C4DE"/>
                </a:solidFill>
              </a:rPr>
              <a:t>Queue is empty. All shortest distances from A have been found! 🎊</a:t>
            </a:r>
            <a:endParaRPr lang="en-US" sz="1200" dirty="0"/>
          </a:p>
        </p:txBody>
      </p:sp>
      <p:sp>
        <p:nvSpPr>
          <p:cNvPr id="86" name="Shape 8">
            <a:extLst>
              <a:ext uri="{FF2B5EF4-FFF2-40B4-BE49-F238E27FC236}">
                <a16:creationId xmlns:a16="http://schemas.microsoft.com/office/drawing/2014/main" id="{F6F53791-74D0-4268-7122-236BB64B6ED9}"/>
              </a:ext>
            </a:extLst>
          </p:cNvPr>
          <p:cNvSpPr/>
          <p:nvPr/>
        </p:nvSpPr>
        <p:spPr>
          <a:xfrm>
            <a:off x="1348740" y="1370897"/>
            <a:ext cx="384048" cy="384048"/>
          </a:xfrm>
          <a:prstGeom prst="ellipse">
            <a:avLst/>
          </a:prstGeom>
          <a:solidFill>
            <a:srgbClr val="F5A62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7" name="Text 9">
            <a:extLst>
              <a:ext uri="{FF2B5EF4-FFF2-40B4-BE49-F238E27FC236}">
                <a16:creationId xmlns:a16="http://schemas.microsoft.com/office/drawing/2014/main" id="{9F43C514-62AB-5211-D97E-806384419ED0}"/>
              </a:ext>
            </a:extLst>
          </p:cNvPr>
          <p:cNvSpPr/>
          <p:nvPr/>
        </p:nvSpPr>
        <p:spPr>
          <a:xfrm>
            <a:off x="1342761" y="1370897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</a:t>
            </a:r>
            <a:endParaRPr lang="en-US" sz="1300" dirty="0"/>
          </a:p>
        </p:txBody>
      </p:sp>
      <p:sp>
        <p:nvSpPr>
          <p:cNvPr id="88" name="Text 10">
            <a:extLst>
              <a:ext uri="{FF2B5EF4-FFF2-40B4-BE49-F238E27FC236}">
                <a16:creationId xmlns:a16="http://schemas.microsoft.com/office/drawing/2014/main" id="{64741A13-404A-0177-12F1-3A3106BD8D95}"/>
              </a:ext>
            </a:extLst>
          </p:cNvPr>
          <p:cNvSpPr/>
          <p:nvPr/>
        </p:nvSpPr>
        <p:spPr>
          <a:xfrm>
            <a:off x="1278753" y="1810512"/>
            <a:ext cx="512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A623"/>
                </a:solidFill>
              </a:rPr>
              <a:t>d=7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Final Shortest Distances from A 🏁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608076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C4DE"/>
                </a:solidFill>
              </a:rPr>
              <a:t>Every node now has its guaranteed shortest path cost from 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2743200" y="2331720"/>
            <a:ext cx="1371600" cy="118872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64408" y="2779776"/>
            <a:ext cx="329184" cy="2926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64408" y="277977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0" y="2331720"/>
            <a:ext cx="1371600" cy="118872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36008" y="2779776"/>
            <a:ext cx="329184" cy="2926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277977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flipH="1">
            <a:off x="2194560" y="3520440"/>
            <a:ext cx="548640" cy="1143000"/>
          </a:xfrm>
          <a:prstGeom prst="line">
            <a:avLst/>
          </a:prstGeom>
          <a:noFill/>
          <a:ln w="19050">
            <a:solidFill>
              <a:srgbClr val="607D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04288" y="3945636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04288" y="394563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0" y="3520440"/>
            <a:ext cx="1371600" cy="1143000"/>
          </a:xfrm>
          <a:prstGeom prst="line">
            <a:avLst/>
          </a:prstGeom>
          <a:noFill/>
          <a:ln w="19050">
            <a:solidFill>
              <a:srgbClr val="607D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64408" y="3945636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64408" y="394563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10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 flipH="1">
            <a:off x="4114800" y="3520440"/>
            <a:ext cx="1371600" cy="114300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36008" y="3945636"/>
            <a:ext cx="329184" cy="2926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36008" y="394563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0" y="3520440"/>
            <a:ext cx="1097280" cy="1143000"/>
          </a:xfrm>
          <a:prstGeom prst="line">
            <a:avLst/>
          </a:prstGeom>
          <a:noFill/>
          <a:ln w="19050">
            <a:solidFill>
              <a:srgbClr val="607D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70448" y="3945636"/>
            <a:ext cx="329184" cy="292608"/>
          </a:xfrm>
          <a:prstGeom prst="ellipse">
            <a:avLst/>
          </a:prstGeom>
          <a:solidFill>
            <a:srgbClr val="1E1E2E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70448" y="394563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C4DE"/>
                </a:solidFill>
              </a:rPr>
              <a:t>7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194560" y="4663440"/>
            <a:ext cx="1920240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90088" y="4517136"/>
            <a:ext cx="329184" cy="2926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90088" y="451713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114800" y="4663440"/>
            <a:ext cx="2468880" cy="0"/>
          </a:xfrm>
          <a:prstGeom prst="line">
            <a:avLst/>
          </a:prstGeom>
          <a:noFill/>
          <a:ln w="44450">
            <a:solidFill>
              <a:srgbClr val="E945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84648" y="4517136"/>
            <a:ext cx="329184" cy="29260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84648" y="4517136"/>
            <a:ext cx="329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2E"/>
                </a:solidFill>
              </a:rPr>
              <a:t>1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749040" y="196596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0" y="19659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3913632" y="1673352"/>
            <a:ext cx="402336" cy="237744"/>
          </a:xfrm>
          <a:prstGeom prst="rect">
            <a:avLst/>
          </a:prstGeom>
          <a:solidFill>
            <a:srgbClr val="1A5C1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13632" y="1673352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377440" y="315468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77440" y="3154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2542032" y="2862072"/>
            <a:ext cx="402336" cy="237744"/>
          </a:xfrm>
          <a:prstGeom prst="rect">
            <a:avLst/>
          </a:prstGeom>
          <a:solidFill>
            <a:srgbClr val="0F34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42032" y="2862072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120640" y="315468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20640" y="3154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5285232" y="2862072"/>
            <a:ext cx="402336" cy="237744"/>
          </a:xfrm>
          <a:prstGeom prst="rect">
            <a:avLst/>
          </a:prstGeom>
          <a:solidFill>
            <a:srgbClr val="0F34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85232" y="2862072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28800" y="429768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28800" y="4297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993392" y="4005072"/>
            <a:ext cx="402336" cy="237744"/>
          </a:xfrm>
          <a:prstGeom prst="rect">
            <a:avLst/>
          </a:prstGeom>
          <a:solidFill>
            <a:srgbClr val="0F34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993392" y="4005072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749040" y="429768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49040" y="4297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F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3913632" y="4005072"/>
            <a:ext cx="402336" cy="237744"/>
          </a:xfrm>
          <a:prstGeom prst="rect">
            <a:avLst/>
          </a:prstGeom>
          <a:solidFill>
            <a:srgbClr val="0F34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13632" y="4005072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217920" y="4297680"/>
            <a:ext cx="731520" cy="731520"/>
          </a:xfrm>
          <a:prstGeom prst="ellipse">
            <a:avLst/>
          </a:prstGeom>
          <a:solidFill>
            <a:srgbClr val="E9456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17920" y="42976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E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6382512" y="4005072"/>
            <a:ext cx="402336" cy="237744"/>
          </a:xfrm>
          <a:prstGeom prst="rect">
            <a:avLst/>
          </a:prstGeom>
          <a:solidFill>
            <a:srgbClr val="0F346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82512" y="4005072"/>
            <a:ext cx="4023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476979" y="1362456"/>
            <a:ext cx="1392702" cy="347472"/>
          </a:xfrm>
          <a:prstGeom prst="rect">
            <a:avLst/>
          </a:prstGeom>
          <a:solidFill>
            <a:srgbClr val="1A3A1A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476979" y="1362456"/>
            <a:ext cx="139270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53"/>
                </a:solidFill>
              </a:rPr>
              <a:t>Final Distances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476979" y="1709928"/>
            <a:ext cx="1392702" cy="310896"/>
          </a:xfrm>
          <a:prstGeom prst="rect">
            <a:avLst/>
          </a:prstGeom>
          <a:solidFill>
            <a:srgbClr val="0D1F0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476979" y="1709928"/>
            <a:ext cx="139270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  A → A   =  0 (start)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7476979" y="2020824"/>
            <a:ext cx="1392702" cy="310896"/>
          </a:xfrm>
          <a:prstGeom prst="rect">
            <a:avLst/>
          </a:prstGeom>
          <a:solidFill>
            <a:srgbClr val="0F1B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476979" y="2020824"/>
            <a:ext cx="139270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  A → B   =  4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7476979" y="2331720"/>
            <a:ext cx="1392702" cy="310896"/>
          </a:xfrm>
          <a:prstGeom prst="rect">
            <a:avLst/>
          </a:prstGeom>
          <a:solidFill>
            <a:srgbClr val="0D1F0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76979" y="2331720"/>
            <a:ext cx="139270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  A → C   =  2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7476979" y="2642616"/>
            <a:ext cx="1392702" cy="310896"/>
          </a:xfrm>
          <a:prstGeom prst="rect">
            <a:avLst/>
          </a:prstGeom>
          <a:solidFill>
            <a:srgbClr val="0F1B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476979" y="2642616"/>
            <a:ext cx="139270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  A → F   =  5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7476979" y="2953512"/>
            <a:ext cx="1392702" cy="310896"/>
          </a:xfrm>
          <a:prstGeom prst="rect">
            <a:avLst/>
          </a:prstGeom>
          <a:solidFill>
            <a:srgbClr val="0D1F0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76979" y="2953512"/>
            <a:ext cx="139270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  A → E   =  6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7476979" y="3264408"/>
            <a:ext cx="1392702" cy="310896"/>
          </a:xfrm>
          <a:prstGeom prst="rect">
            <a:avLst/>
          </a:prstGeom>
          <a:solidFill>
            <a:srgbClr val="0F1B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476979" y="3264408"/>
            <a:ext cx="139270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  A → D   =  7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274320" y="4773168"/>
            <a:ext cx="457200" cy="0"/>
          </a:xfrm>
          <a:prstGeom prst="line">
            <a:avLst/>
          </a:prstGeom>
          <a:noFill/>
          <a:ln w="38100">
            <a:solidFill>
              <a:srgbClr val="E9456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-45720" y="490118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</a:rPr>
              <a:t>= Shortest path tree (red edges)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Dijkstra's Code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C4DE"/>
                </a:solidFill>
              </a:rPr>
              <a:t>See how the algorithm maps directly to code.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43000"/>
            <a:ext cx="4937760" cy="3749040"/>
          </a:xfrm>
          <a:prstGeom prst="rect">
            <a:avLst/>
          </a:prstGeom>
          <a:solidFill>
            <a:srgbClr val="0D1B2A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344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C853"/>
                </a:solidFill>
              </a:rPr>
              <a:t>&lt;/&gt; dijkstra  code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 flipV="1">
            <a:off x="2961249" y="1818248"/>
            <a:ext cx="2820573" cy="275019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5711483" y="1703938"/>
            <a:ext cx="3017520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0" y="1738409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</a:rPr>
              <a:t>Min-heap priority queue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 flipV="1">
            <a:off x="1575582" y="2193851"/>
            <a:ext cx="4160520" cy="290499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15000" y="2000069"/>
            <a:ext cx="3017520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36102" y="1992684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</a:rPr>
              <a:t>Start node dist = 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127739" y="4000501"/>
            <a:ext cx="3678701" cy="766336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15000" y="2583882"/>
            <a:ext cx="3017520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81822" y="2564705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</a:rPr>
              <a:t>Loop while queue non-empty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 flipV="1">
            <a:off x="1772529" y="2701687"/>
            <a:ext cx="3942471" cy="111489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760720" y="2987973"/>
            <a:ext cx="3017520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60720" y="2995713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</a:rPr>
              <a:t>Pop node with smallest dist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 flipV="1">
            <a:off x="1241474" y="3081525"/>
            <a:ext cx="4519246" cy="113596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760720" y="3387851"/>
            <a:ext cx="3017520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15000" y="336569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</a:rPr>
              <a:t>Skip if outdated entry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039815" y="3343529"/>
            <a:ext cx="3696287" cy="143145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760720" y="3722658"/>
            <a:ext cx="3017520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60720" y="371491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</a:rPr>
              <a:t>Check each neighbor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278966" y="3463470"/>
            <a:ext cx="3481754" cy="321437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760720" y="4037772"/>
            <a:ext cx="3017520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60720" y="403003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</a:rPr>
              <a:t>If shorter path found…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152357" y="3682221"/>
            <a:ext cx="3608363" cy="409013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760720" y="4324402"/>
            <a:ext cx="3017520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36102" y="432440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</a:rPr>
              <a:t>Update distance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152357" y="3826484"/>
            <a:ext cx="3608363" cy="556304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781822" y="4667652"/>
            <a:ext cx="3017520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806440" y="4669056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</a:rPr>
              <a:t>Push updated to queue</a:t>
            </a:r>
            <a:endParaRPr lang="en-US" sz="10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203F005-4929-BADB-F3C0-6F8F8999BB5E}"/>
              </a:ext>
            </a:extLst>
          </p:cNvPr>
          <p:cNvSpPr txBox="1"/>
          <p:nvPr/>
        </p:nvSpPr>
        <p:spPr>
          <a:xfrm>
            <a:off x="464234" y="1494066"/>
            <a:ext cx="4519246" cy="330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void </a:t>
            </a:r>
            <a:r>
              <a:rPr lang="en-US" sz="1100" dirty="0" err="1">
                <a:solidFill>
                  <a:schemeClr val="bg1"/>
                </a:solidFill>
              </a:rPr>
              <a:t>dijkstra</a:t>
            </a:r>
            <a:r>
              <a:rPr lang="en-US" sz="1100" dirty="0">
                <a:solidFill>
                  <a:schemeClr val="bg1"/>
                </a:solidFill>
              </a:rPr>
              <a:t>(int source, int n) {</a:t>
            </a:r>
          </a:p>
          <a:p>
            <a:r>
              <a:rPr lang="en-US" sz="1100" dirty="0">
                <a:solidFill>
                  <a:schemeClr val="bg1"/>
                </a:solidFill>
              </a:rPr>
              <a:t>    for(int </a:t>
            </a:r>
            <a:r>
              <a:rPr lang="en-US" sz="1100" dirty="0" err="1">
                <a:solidFill>
                  <a:schemeClr val="bg1"/>
                </a:solidFill>
              </a:rPr>
              <a:t>i</a:t>
            </a:r>
            <a:r>
              <a:rPr lang="en-US" sz="1100" dirty="0">
                <a:solidFill>
                  <a:schemeClr val="bg1"/>
                </a:solidFill>
              </a:rPr>
              <a:t> = 1; </a:t>
            </a:r>
            <a:r>
              <a:rPr lang="en-US" sz="1100" dirty="0" err="1">
                <a:solidFill>
                  <a:schemeClr val="bg1"/>
                </a:solidFill>
              </a:rPr>
              <a:t>i</a:t>
            </a:r>
            <a:r>
              <a:rPr lang="en-US" sz="1100" dirty="0">
                <a:solidFill>
                  <a:schemeClr val="bg1"/>
                </a:solidFill>
              </a:rPr>
              <a:t> &lt;= n; </a:t>
            </a:r>
            <a:r>
              <a:rPr lang="en-US" sz="1100" dirty="0" err="1">
                <a:solidFill>
                  <a:schemeClr val="bg1"/>
                </a:solidFill>
              </a:rPr>
              <a:t>i</a:t>
            </a:r>
            <a:r>
              <a:rPr lang="en-US" sz="1100" dirty="0">
                <a:solidFill>
                  <a:schemeClr val="bg1"/>
                </a:solidFill>
              </a:rPr>
              <a:t>++)</a:t>
            </a:r>
          </a:p>
          <a:p>
            <a:r>
              <a:rPr lang="en-US" sz="1100" dirty="0">
                <a:solidFill>
                  <a:schemeClr val="bg1"/>
                </a:solidFill>
              </a:rPr>
              <a:t>        </a:t>
            </a:r>
            <a:r>
              <a:rPr lang="en-US" sz="1100" dirty="0" err="1">
                <a:solidFill>
                  <a:schemeClr val="bg1"/>
                </a:solidFill>
              </a:rPr>
              <a:t>dist</a:t>
            </a:r>
            <a:r>
              <a:rPr lang="en-US" sz="1100" dirty="0">
                <a:solidFill>
                  <a:schemeClr val="bg1"/>
                </a:solidFill>
              </a:rPr>
              <a:t>[</a:t>
            </a:r>
            <a:r>
              <a:rPr lang="en-US" sz="1100" dirty="0" err="1">
                <a:solidFill>
                  <a:schemeClr val="bg1"/>
                </a:solidFill>
              </a:rPr>
              <a:t>i</a:t>
            </a:r>
            <a:r>
              <a:rPr lang="en-US" sz="1100" dirty="0">
                <a:solidFill>
                  <a:schemeClr val="bg1"/>
                </a:solidFill>
              </a:rPr>
              <a:t>] = INF;</a:t>
            </a:r>
          </a:p>
          <a:p>
            <a:r>
              <a:rPr lang="en-US" sz="1100" dirty="0">
                <a:solidFill>
                  <a:schemeClr val="bg1"/>
                </a:solidFill>
              </a:rPr>
              <a:t>    </a:t>
            </a:r>
            <a:r>
              <a:rPr lang="en-US" sz="1100" dirty="0" err="1">
                <a:solidFill>
                  <a:schemeClr val="bg1"/>
                </a:solidFill>
              </a:rPr>
              <a:t>priority_queue</a:t>
            </a:r>
            <a:r>
              <a:rPr lang="en-US" sz="1100" dirty="0">
                <a:solidFill>
                  <a:schemeClr val="bg1"/>
                </a:solidFill>
              </a:rPr>
              <a:t>&lt;pair&lt;long </a:t>
            </a:r>
            <a:r>
              <a:rPr lang="en-US" sz="1100" dirty="0" err="1">
                <a:solidFill>
                  <a:schemeClr val="bg1"/>
                </a:solidFill>
              </a:rPr>
              <a:t>long,int</a:t>
            </a:r>
            <a:r>
              <a:rPr lang="en-US" sz="1100" dirty="0">
                <a:solidFill>
                  <a:schemeClr val="bg1"/>
                </a:solidFill>
              </a:rPr>
              <a:t>&gt;, vector&lt;pair&lt;long </a:t>
            </a:r>
            <a:r>
              <a:rPr lang="en-US" sz="1100" dirty="0" err="1">
                <a:solidFill>
                  <a:schemeClr val="bg1"/>
                </a:solidFill>
              </a:rPr>
              <a:t>long,int</a:t>
            </a:r>
            <a:r>
              <a:rPr lang="en-US" sz="1100" dirty="0">
                <a:solidFill>
                  <a:schemeClr val="bg1"/>
                </a:solidFill>
              </a:rPr>
              <a:t>&gt;&gt;</a:t>
            </a:r>
          </a:p>
          <a:p>
            <a:r>
              <a:rPr lang="en-US" sz="1100" dirty="0">
                <a:solidFill>
                  <a:schemeClr val="bg1"/>
                </a:solidFill>
              </a:rPr>
              <a:t>    , greater&lt;pair&lt;long </a:t>
            </a:r>
            <a:r>
              <a:rPr lang="en-US" sz="1100" dirty="0" err="1">
                <a:solidFill>
                  <a:schemeClr val="bg1"/>
                </a:solidFill>
              </a:rPr>
              <a:t>long,int</a:t>
            </a:r>
            <a:r>
              <a:rPr lang="en-US" sz="1100" dirty="0">
                <a:solidFill>
                  <a:schemeClr val="bg1"/>
                </a:solidFill>
              </a:rPr>
              <a:t>&gt;&gt;&gt; </a:t>
            </a:r>
            <a:r>
              <a:rPr lang="en-US" sz="1100" dirty="0" err="1">
                <a:solidFill>
                  <a:schemeClr val="bg1"/>
                </a:solidFill>
              </a:rPr>
              <a:t>pq</a:t>
            </a:r>
            <a:r>
              <a:rPr lang="en-US" sz="1100" dirty="0">
                <a:solidFill>
                  <a:schemeClr val="bg1"/>
                </a:solidFill>
              </a:rPr>
              <a:t>;</a:t>
            </a:r>
          </a:p>
          <a:p>
            <a:r>
              <a:rPr lang="en-US" sz="1100" dirty="0">
                <a:solidFill>
                  <a:schemeClr val="bg1"/>
                </a:solidFill>
              </a:rPr>
              <a:t>    </a:t>
            </a:r>
            <a:r>
              <a:rPr lang="en-US" sz="1100" dirty="0" err="1">
                <a:solidFill>
                  <a:schemeClr val="bg1"/>
                </a:solidFill>
              </a:rPr>
              <a:t>dist</a:t>
            </a:r>
            <a:r>
              <a:rPr lang="en-US" sz="1100" dirty="0">
                <a:solidFill>
                  <a:schemeClr val="bg1"/>
                </a:solidFill>
              </a:rPr>
              <a:t>[source] = 0;</a:t>
            </a:r>
          </a:p>
          <a:p>
            <a:r>
              <a:rPr lang="en-US" sz="1100" dirty="0">
                <a:solidFill>
                  <a:schemeClr val="bg1"/>
                </a:solidFill>
              </a:rPr>
              <a:t>    </a:t>
            </a:r>
            <a:r>
              <a:rPr lang="en-US" sz="1100" dirty="0" err="1">
                <a:solidFill>
                  <a:schemeClr val="bg1"/>
                </a:solidFill>
              </a:rPr>
              <a:t>pq.push</a:t>
            </a:r>
            <a:r>
              <a:rPr lang="en-US" sz="1100" dirty="0">
                <a:solidFill>
                  <a:schemeClr val="bg1"/>
                </a:solidFill>
              </a:rPr>
              <a:t>({0, source});</a:t>
            </a:r>
          </a:p>
          <a:p>
            <a:r>
              <a:rPr lang="en-US" sz="1100" dirty="0">
                <a:solidFill>
                  <a:schemeClr val="bg1"/>
                </a:solidFill>
              </a:rPr>
              <a:t>    while(!</a:t>
            </a:r>
            <a:r>
              <a:rPr lang="en-US" sz="1100" dirty="0" err="1">
                <a:solidFill>
                  <a:schemeClr val="bg1"/>
                </a:solidFill>
              </a:rPr>
              <a:t>pq.empty</a:t>
            </a:r>
            <a:r>
              <a:rPr lang="en-US" sz="1100" dirty="0">
                <a:solidFill>
                  <a:schemeClr val="bg1"/>
                </a:solidFill>
              </a:rPr>
              <a:t>()) {</a:t>
            </a:r>
          </a:p>
          <a:p>
            <a:r>
              <a:rPr lang="en-US" sz="1100" dirty="0">
                <a:solidFill>
                  <a:schemeClr val="bg1"/>
                </a:solidFill>
              </a:rPr>
              <a:t>        auto [d, u] = </a:t>
            </a:r>
            <a:r>
              <a:rPr lang="en-US" sz="1100" dirty="0" err="1">
                <a:solidFill>
                  <a:schemeClr val="bg1"/>
                </a:solidFill>
              </a:rPr>
              <a:t>pq.top</a:t>
            </a:r>
            <a:r>
              <a:rPr lang="en-US" sz="1100" dirty="0">
                <a:solidFill>
                  <a:schemeClr val="bg1"/>
                </a:solidFill>
              </a:rPr>
              <a:t>();</a:t>
            </a:r>
          </a:p>
          <a:p>
            <a:r>
              <a:rPr lang="en-US" sz="1100" dirty="0">
                <a:solidFill>
                  <a:schemeClr val="bg1"/>
                </a:solidFill>
              </a:rPr>
              <a:t>        </a:t>
            </a:r>
            <a:r>
              <a:rPr lang="en-US" sz="1100" dirty="0" err="1">
                <a:solidFill>
                  <a:schemeClr val="bg1"/>
                </a:solidFill>
              </a:rPr>
              <a:t>pq.pop</a:t>
            </a:r>
            <a:r>
              <a:rPr lang="en-US" sz="1100" dirty="0">
                <a:solidFill>
                  <a:schemeClr val="bg1"/>
                </a:solidFill>
              </a:rPr>
              <a:t>();</a:t>
            </a:r>
          </a:p>
          <a:p>
            <a:r>
              <a:rPr lang="en-US" sz="1100" dirty="0">
                <a:solidFill>
                  <a:schemeClr val="bg1"/>
                </a:solidFill>
              </a:rPr>
              <a:t>        if(d &gt; </a:t>
            </a:r>
            <a:r>
              <a:rPr lang="en-US" sz="1100" dirty="0" err="1">
                <a:solidFill>
                  <a:schemeClr val="bg1"/>
                </a:solidFill>
              </a:rPr>
              <a:t>dist</a:t>
            </a:r>
            <a:r>
              <a:rPr lang="en-US" sz="1100" dirty="0">
                <a:solidFill>
                  <a:schemeClr val="bg1"/>
                </a:solidFill>
              </a:rPr>
              <a:t>[u]) continue;</a:t>
            </a:r>
          </a:p>
          <a:p>
            <a:r>
              <a:rPr lang="en-US" sz="1100" dirty="0">
                <a:solidFill>
                  <a:schemeClr val="bg1"/>
                </a:solidFill>
              </a:rPr>
              <a:t>        for(auto [v, w] : graph[u]) {</a:t>
            </a:r>
          </a:p>
          <a:p>
            <a:r>
              <a:rPr lang="en-US" sz="1100" dirty="0">
                <a:solidFill>
                  <a:schemeClr val="bg1"/>
                </a:solidFill>
              </a:rPr>
              <a:t>            if(</a:t>
            </a:r>
            <a:r>
              <a:rPr lang="en-US" sz="1100" dirty="0" err="1">
                <a:solidFill>
                  <a:schemeClr val="bg1"/>
                </a:solidFill>
              </a:rPr>
              <a:t>dist</a:t>
            </a:r>
            <a:r>
              <a:rPr lang="en-US" sz="1100" dirty="0">
                <a:solidFill>
                  <a:schemeClr val="bg1"/>
                </a:solidFill>
              </a:rPr>
              <a:t>[u] + w &lt; </a:t>
            </a:r>
            <a:r>
              <a:rPr lang="en-US" sz="1100" dirty="0" err="1">
                <a:solidFill>
                  <a:schemeClr val="bg1"/>
                </a:solidFill>
              </a:rPr>
              <a:t>dist</a:t>
            </a:r>
            <a:r>
              <a:rPr lang="en-US" sz="1100" dirty="0">
                <a:solidFill>
                  <a:schemeClr val="bg1"/>
                </a:solidFill>
              </a:rPr>
              <a:t>[v]) {</a:t>
            </a:r>
          </a:p>
          <a:p>
            <a:r>
              <a:rPr lang="en-US" sz="1100" dirty="0">
                <a:solidFill>
                  <a:schemeClr val="bg1"/>
                </a:solidFill>
              </a:rPr>
              <a:t>                </a:t>
            </a:r>
            <a:r>
              <a:rPr lang="en-US" sz="1100" dirty="0" err="1">
                <a:solidFill>
                  <a:schemeClr val="bg1"/>
                </a:solidFill>
              </a:rPr>
              <a:t>dist</a:t>
            </a:r>
            <a:r>
              <a:rPr lang="en-US" sz="1100" dirty="0">
                <a:solidFill>
                  <a:schemeClr val="bg1"/>
                </a:solidFill>
              </a:rPr>
              <a:t>[v] = </a:t>
            </a:r>
            <a:r>
              <a:rPr lang="en-US" sz="1100" dirty="0" err="1">
                <a:solidFill>
                  <a:schemeClr val="bg1"/>
                </a:solidFill>
              </a:rPr>
              <a:t>dist</a:t>
            </a:r>
            <a:r>
              <a:rPr lang="en-US" sz="1100" dirty="0">
                <a:solidFill>
                  <a:schemeClr val="bg1"/>
                </a:solidFill>
              </a:rPr>
              <a:t>[u] + w;</a:t>
            </a:r>
          </a:p>
          <a:p>
            <a:r>
              <a:rPr lang="en-US" sz="1100" dirty="0">
                <a:solidFill>
                  <a:schemeClr val="bg1"/>
                </a:solidFill>
              </a:rPr>
              <a:t>                </a:t>
            </a:r>
            <a:r>
              <a:rPr lang="en-US" sz="1100" dirty="0" err="1">
                <a:solidFill>
                  <a:schemeClr val="bg1"/>
                </a:solidFill>
              </a:rPr>
              <a:t>pq.push</a:t>
            </a:r>
            <a:r>
              <a:rPr lang="en-US" sz="1100" dirty="0">
                <a:solidFill>
                  <a:schemeClr val="bg1"/>
                </a:solidFill>
              </a:rPr>
              <a:t>({</a:t>
            </a:r>
            <a:r>
              <a:rPr lang="en-US" sz="1100" dirty="0" err="1">
                <a:solidFill>
                  <a:schemeClr val="bg1"/>
                </a:solidFill>
              </a:rPr>
              <a:t>dist</a:t>
            </a:r>
            <a:r>
              <a:rPr lang="en-US" sz="1100" dirty="0">
                <a:solidFill>
                  <a:schemeClr val="bg1"/>
                </a:solidFill>
              </a:rPr>
              <a:t>[v], v});</a:t>
            </a:r>
          </a:p>
          <a:p>
            <a:r>
              <a:rPr lang="en-US" sz="1100" dirty="0">
                <a:solidFill>
                  <a:schemeClr val="bg1"/>
                </a:solidFill>
              </a:rPr>
              <a:t>            }</a:t>
            </a:r>
          </a:p>
          <a:p>
            <a:r>
              <a:rPr lang="en-US" sz="1100" dirty="0">
                <a:solidFill>
                  <a:schemeClr val="bg1"/>
                </a:solidFill>
              </a:rPr>
              <a:t>        }</a:t>
            </a:r>
          </a:p>
          <a:p>
            <a:r>
              <a:rPr lang="en-US" sz="1100" dirty="0">
                <a:solidFill>
                  <a:schemeClr val="bg1"/>
                </a:solidFill>
              </a:rPr>
              <a:t>    }</a:t>
            </a:r>
          </a:p>
          <a:p>
            <a:r>
              <a:rPr lang="en-US" sz="1100" dirty="0">
                <a:solidFill>
                  <a:schemeClr val="bg1"/>
                </a:solidFill>
              </a:rPr>
              <a:t>}</a:t>
            </a:r>
          </a:p>
        </p:txBody>
      </p:sp>
      <p:sp>
        <p:nvSpPr>
          <p:cNvPr id="33" name="Shape 31"/>
          <p:cNvSpPr/>
          <p:nvPr/>
        </p:nvSpPr>
        <p:spPr>
          <a:xfrm flipV="1">
            <a:off x="1856935" y="2368298"/>
            <a:ext cx="3914336" cy="297171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11483" y="2275100"/>
            <a:ext cx="3017520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655212" y="228247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1A2E"/>
                </a:solidFill>
              </a:rPr>
              <a:t>Push {dist, node}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Dijkstra vs BFS vs DFS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C4DE"/>
                </a:solidFill>
              </a:rPr>
              <a:t>All three search graphs — but for different goals.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2743200" cy="3657600"/>
          </a:xfrm>
          <a:prstGeom prst="rect">
            <a:avLst/>
          </a:prstGeom>
          <a:solidFill>
            <a:srgbClr val="0F3460"/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DFS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2743200" cy="32004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91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Uses: Stack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148840"/>
            <a:ext cx="201168" cy="20116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10312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</a:rPr>
              <a:t>Goes DEEP first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807208"/>
            <a:ext cx="201168" cy="20116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76148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</a:rPr>
              <a:t>Finds A path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</a:rPr>
              <a:t>(not necessarily shortest)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465576"/>
            <a:ext cx="201168" cy="201168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419856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</a:rPr>
              <a:t>No edge weights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46120" y="1188720"/>
            <a:ext cx="2743200" cy="3657600"/>
          </a:xfrm>
          <a:prstGeom prst="rect">
            <a:avLst/>
          </a:prstGeom>
          <a:solidFill>
            <a:srgbClr val="025A82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11887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BFS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246120" y="1691640"/>
            <a:ext cx="2743200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1691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Uses: Queue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83280" y="214884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210312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</a:rPr>
              <a:t>Goes WIDE first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83280" y="2807208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276148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</a:rPr>
              <a:t>Shortest path 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</a:rPr>
              <a:t>unweighted graphs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83280" y="3465576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3419856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</a:rPr>
              <a:t>All edges cost the same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26480" y="1188720"/>
            <a:ext cx="2743200" cy="3657600"/>
          </a:xfrm>
          <a:prstGeom prst="rect">
            <a:avLst/>
          </a:prstGeom>
          <a:solidFill>
            <a:srgbClr val="1A5C1A"/>
          </a:solidFill>
          <a:ln w="25400">
            <a:solidFill>
              <a:srgbClr val="00C8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118872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Dijkstra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126480" y="1691640"/>
            <a:ext cx="2743200" cy="32004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1691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</a:rPr>
              <a:t>Uses: Priority Queue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63640" y="2148840"/>
            <a:ext cx="201168" cy="201168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210312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</a:rPr>
              <a:t>Picks CLOSEST first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63640" y="2807208"/>
            <a:ext cx="201168" cy="201168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2761488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</a:rPr>
              <a:t>Shortest path 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</a:rPr>
              <a:t>weighted graphs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63640" y="3465576"/>
            <a:ext cx="201168" cy="201168"/>
          </a:xfrm>
          <a:prstGeom prst="ellipse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37960" y="3419856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</a:rPr>
              <a:t>Handles different edge costs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4760507"/>
            <a:ext cx="8321040" cy="320040"/>
          </a:xfrm>
          <a:prstGeom prst="rect">
            <a:avLst/>
          </a:prstGeom>
          <a:solidFill>
            <a:srgbClr val="1A3A1A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67618" y="4771761"/>
            <a:ext cx="68087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💡  Use Dijkstra when edges have different costs and you need the SHORTEST / CHEAPEST path!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Where is Dijkstra Used in Real Life?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365760" y="7132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C4DE"/>
                </a:solidFill>
              </a:rPr>
              <a:t>It's everywhere — you use it every single day!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2743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4114800" cy="1463040"/>
          </a:xfrm>
          <a:prstGeom prst="rect">
            <a:avLst/>
          </a:prstGeom>
          <a:solidFill>
            <a:srgbClr val="0F3460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🗺️ GPS &amp; Navigation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</a:rPr>
              <a:t>Google Maps &amp; Waze find the shortest route using Dijkstra (or variants of it).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114800" cy="1463040"/>
          </a:xfrm>
          <a:prstGeom prst="rect">
            <a:avLst/>
          </a:prstGeom>
          <a:solidFill>
            <a:srgbClr val="0F3460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280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🌐 Internet Routing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892040" y="173736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</a:rPr>
              <a:t>Routers use it to find the shortest data path across the internet (OSPF protocol).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834640"/>
            <a:ext cx="4114800" cy="1463040"/>
          </a:xfrm>
          <a:prstGeom prst="rect">
            <a:avLst/>
          </a:prstGeom>
          <a:solidFill>
            <a:srgbClr val="0F3460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9260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✈️ Flight Path Planning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02920" y="338328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</a:rPr>
              <a:t>Airlines optimize flight routes by cost, time, or fuel — Dijkstra finds the minimum.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2834640"/>
            <a:ext cx="4114800" cy="1463040"/>
          </a:xfrm>
          <a:prstGeom prst="rect">
            <a:avLst/>
          </a:prstGeom>
          <a:solidFill>
            <a:srgbClr val="0F3460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9260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🎮 Game AI Pathfinding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892040" y="338328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C4DE"/>
                </a:solidFill>
              </a:rPr>
              <a:t>NPC characters in games find shortest movement paths using Dijkstra or A*.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3200400"/>
            <a:ext cx="2926080" cy="2926080"/>
          </a:xfrm>
          <a:prstGeom prst="ellipse">
            <a:avLst/>
          </a:prstGeom>
          <a:solidFill>
            <a:srgbClr val="1A3A1A">
              <a:alpha val="50000"/>
            </a:srgbClr>
          </a:solidFill>
          <a:ln w="12700">
            <a:solidFill>
              <a:srgbClr val="1A3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94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You now know Dijkstra! 🚀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371600" y="1627632"/>
            <a:ext cx="256032" cy="256032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83080" y="160020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</a:rPr>
              <a:t>Dijkstra finds the SHORTEST PATH in a weighted graph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2221992"/>
            <a:ext cx="256032" cy="256032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83080" y="219456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</a:rPr>
              <a:t>It always picks the closest unvisited node next (greedy!)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371600" y="2816352"/>
            <a:ext cx="256032" cy="256032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83080" y="278892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</a:rPr>
              <a:t>Uses a Priority Queue — smallest distance is popped first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371600" y="3410712"/>
            <a:ext cx="256032" cy="256032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83080" y="338328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</a:rPr>
              <a:t>It 'relaxes' edges — updates distance if a shorter path is found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371600" y="4005072"/>
            <a:ext cx="256032" cy="256032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83080" y="3977640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C4DE"/>
                </a:solidFill>
              </a:rPr>
              <a:t>Gives shortest distances from the start node to ALL other nodes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371600" y="4617720"/>
            <a:ext cx="6400800" cy="411480"/>
          </a:xfrm>
          <a:prstGeom prst="rect">
            <a:avLst/>
          </a:prstGeom>
          <a:solidFill>
            <a:srgbClr val="1A3A1A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461772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Final distances from A:  B=4  C=2  D=7  E=6  F=5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</TotalTime>
  <Words>1845</Words>
  <Application>Microsoft Office PowerPoint</Application>
  <PresentationFormat>On-screen Show (16:9)</PresentationFormat>
  <Paragraphs>515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Dijkstra's Algorithm</dc:title>
  <dc:subject>PptxGenJS Presentation</dc:subject>
  <dc:creator>PptxGenJS</dc:creator>
  <cp:lastModifiedBy>Md Shohag Showdagor</cp:lastModifiedBy>
  <cp:revision>4</cp:revision>
  <dcterms:created xsi:type="dcterms:W3CDTF">2026-02-22T14:06:13Z</dcterms:created>
  <dcterms:modified xsi:type="dcterms:W3CDTF">2026-02-23T13:51:21Z</dcterms:modified>
</cp:coreProperties>
</file>