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CC71"/>
    <a:srgbClr val="1A1D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814" y="-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82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8AF0-60CF-1E89-C05C-57E6C6C6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0F358-D78F-8CB8-79B5-5A957889D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4EA08-FCD2-2FB8-83F5-5B498D243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62037-D04C-1358-9026-D4BCB39AC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85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A2800">
              <a:alpha val="50000"/>
            </a:srgbClr>
          </a:solidFill>
          <a:ln w="12700">
            <a:solidFill>
              <a:srgbClr val="4A280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2A1800">
              <a:alpha val="50000"/>
            </a:srgbClr>
          </a:solidFill>
          <a:ln w="12700">
            <a:solidFill>
              <a:srgbClr val="2A180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14400"/>
            <a:ext cx="822960" cy="91440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99832" y="12161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99832" y="12161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6766560" y="914400"/>
            <a:ext cx="822960" cy="91440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76872" y="12161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6872" y="12161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7589520" y="1828800"/>
            <a:ext cx="822960" cy="91440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9832" y="21305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9832" y="21305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 flipV="1">
            <a:off x="6766560" y="1828800"/>
            <a:ext cx="822960" cy="914400"/>
          </a:xfrm>
          <a:prstGeom prst="line">
            <a:avLst/>
          </a:prstGeom>
          <a:noFill/>
          <a:ln w="12700">
            <a:solidFill>
              <a:srgbClr val="4444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51776" y="676656"/>
            <a:ext cx="475488" cy="475488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51776" y="676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74736" y="1591056"/>
            <a:ext cx="475488" cy="475488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51776" y="2505456"/>
            <a:ext cx="475488" cy="475488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28816" y="1591056"/>
            <a:ext cx="475488" cy="475488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128016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Minimum Spanning Tree — connect all nodes with the least total cost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266E8-96DF-C941-155D-41ECD183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26">
            <a:extLst>
              <a:ext uri="{FF2B5EF4-FFF2-40B4-BE49-F238E27FC236}">
                <a16:creationId xmlns:a16="http://schemas.microsoft.com/office/drawing/2014/main" id="{A61DD92A-CDFE-4F95-04B9-F1EECE83F660}"/>
              </a:ext>
            </a:extLst>
          </p:cNvPr>
          <p:cNvSpPr/>
          <p:nvPr/>
        </p:nvSpPr>
        <p:spPr>
          <a:xfrm flipH="1">
            <a:off x="6489427" y="2152358"/>
            <a:ext cx="1042416" cy="1944154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CC9A747-4B7D-0F67-9E78-22595443BBD2}"/>
              </a:ext>
            </a:extLst>
          </p:cNvPr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Spanning Tree?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BD690B-F1A0-AE32-272A-ACAD352A83A2}"/>
              </a:ext>
            </a:extLst>
          </p:cNvPr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AC7224-C154-7190-D05D-BDCCCC6D4A46}"/>
              </a:ext>
            </a:extLst>
          </p:cNvPr>
          <p:cNvSpPr/>
          <p:nvPr/>
        </p:nvSpPr>
        <p:spPr>
          <a:xfrm>
            <a:off x="274320" y="64219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of a graph is a subgraph that: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Connects ALL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Has NO cycles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Uses exactly N-1 edges (N = number of nodes)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86450AB-9AB3-0A59-D780-1D3E16300504}"/>
              </a:ext>
            </a:extLst>
          </p:cNvPr>
          <p:cNvSpPr/>
          <p:nvPr/>
        </p:nvSpPr>
        <p:spPr>
          <a:xfrm>
            <a:off x="1301261" y="2084832"/>
            <a:ext cx="15544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C65E1A8-0917-B393-F168-ECF69AFEEEBE}"/>
              </a:ext>
            </a:extLst>
          </p:cNvPr>
          <p:cNvSpPr/>
          <p:nvPr/>
        </p:nvSpPr>
        <p:spPr>
          <a:xfrm>
            <a:off x="1877333" y="192938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5F932D8-E276-69B4-7DE7-C19AF20B9ECF}"/>
              </a:ext>
            </a:extLst>
          </p:cNvPr>
          <p:cNvSpPr/>
          <p:nvPr/>
        </p:nvSpPr>
        <p:spPr>
          <a:xfrm>
            <a:off x="1877333" y="192938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3758987-D0E2-7225-11DA-A9D8AAC975F2}"/>
              </a:ext>
            </a:extLst>
          </p:cNvPr>
          <p:cNvSpPr/>
          <p:nvPr/>
        </p:nvSpPr>
        <p:spPr>
          <a:xfrm flipH="1">
            <a:off x="386861" y="2084832"/>
            <a:ext cx="914400" cy="13716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FBCF2C7-F674-E346-2008-2697654293D9}"/>
              </a:ext>
            </a:extLst>
          </p:cNvPr>
          <p:cNvSpPr/>
          <p:nvPr/>
        </p:nvSpPr>
        <p:spPr>
          <a:xfrm>
            <a:off x="642893" y="261518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B83964C-1A35-D447-B470-D3135A7C7E4B}"/>
              </a:ext>
            </a:extLst>
          </p:cNvPr>
          <p:cNvSpPr/>
          <p:nvPr/>
        </p:nvSpPr>
        <p:spPr>
          <a:xfrm>
            <a:off x="642893" y="261518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BB0A50B-E880-D4AF-97BD-9A84643081F2}"/>
              </a:ext>
            </a:extLst>
          </p:cNvPr>
          <p:cNvSpPr/>
          <p:nvPr/>
        </p:nvSpPr>
        <p:spPr>
          <a:xfrm>
            <a:off x="2855741" y="2084832"/>
            <a:ext cx="731520" cy="13716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2D8CC92-0E15-59C5-8074-0613076EE7CF}"/>
              </a:ext>
            </a:extLst>
          </p:cNvPr>
          <p:cNvSpPr/>
          <p:nvPr/>
        </p:nvSpPr>
        <p:spPr>
          <a:xfrm>
            <a:off x="3020333" y="261518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0BD60D-8BCD-7B2D-0AD6-76BD86E8CBD0}"/>
              </a:ext>
            </a:extLst>
          </p:cNvPr>
          <p:cNvSpPr/>
          <p:nvPr/>
        </p:nvSpPr>
        <p:spPr>
          <a:xfrm>
            <a:off x="3020333" y="261518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94C551C-6E26-9B6E-534E-118FE783E451}"/>
              </a:ext>
            </a:extLst>
          </p:cNvPr>
          <p:cNvSpPr/>
          <p:nvPr/>
        </p:nvSpPr>
        <p:spPr>
          <a:xfrm flipH="1">
            <a:off x="1758461" y="2084832"/>
            <a:ext cx="1097280" cy="20116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4129FFF-CA53-4325-B6D5-A45E367FD6DE}"/>
              </a:ext>
            </a:extLst>
          </p:cNvPr>
          <p:cNvSpPr/>
          <p:nvPr/>
        </p:nvSpPr>
        <p:spPr>
          <a:xfrm>
            <a:off x="2105933" y="293522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4B017C-F27F-C0EF-E69E-4C09400AA772}"/>
              </a:ext>
            </a:extLst>
          </p:cNvPr>
          <p:cNvSpPr/>
          <p:nvPr/>
        </p:nvSpPr>
        <p:spPr>
          <a:xfrm>
            <a:off x="2105933" y="293522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3E94BFF-8125-A04D-4C08-64DB28430237}"/>
              </a:ext>
            </a:extLst>
          </p:cNvPr>
          <p:cNvSpPr/>
          <p:nvPr/>
        </p:nvSpPr>
        <p:spPr>
          <a:xfrm flipH="1">
            <a:off x="1758461" y="3456432"/>
            <a:ext cx="1828800" cy="64008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5E475A4-3D53-47C7-768C-6B7B05E9FA5D}"/>
              </a:ext>
            </a:extLst>
          </p:cNvPr>
          <p:cNvSpPr/>
          <p:nvPr/>
        </p:nvSpPr>
        <p:spPr>
          <a:xfrm>
            <a:off x="2471693" y="362102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4CD9332-FFCD-1C98-0717-09417C1423CA}"/>
              </a:ext>
            </a:extLst>
          </p:cNvPr>
          <p:cNvSpPr/>
          <p:nvPr/>
        </p:nvSpPr>
        <p:spPr>
          <a:xfrm>
            <a:off x="2471693" y="362102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435D274-0C6A-20BE-6264-1F3ECD13CBBC}"/>
              </a:ext>
            </a:extLst>
          </p:cNvPr>
          <p:cNvSpPr/>
          <p:nvPr/>
        </p:nvSpPr>
        <p:spPr>
          <a:xfrm flipH="1" flipV="1">
            <a:off x="386861" y="3456432"/>
            <a:ext cx="1371600" cy="6400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969FEFC-B0CB-E6A3-3E97-1FEE82427054}"/>
              </a:ext>
            </a:extLst>
          </p:cNvPr>
          <p:cNvSpPr/>
          <p:nvPr/>
        </p:nvSpPr>
        <p:spPr>
          <a:xfrm>
            <a:off x="871493" y="362102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218D328-0284-8A2E-5BD9-B92F25F0E85C}"/>
              </a:ext>
            </a:extLst>
          </p:cNvPr>
          <p:cNvSpPr/>
          <p:nvPr/>
        </p:nvSpPr>
        <p:spPr>
          <a:xfrm>
            <a:off x="871493" y="362102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3A3AAA9-CF6A-0547-11AE-4416C9C8003A}"/>
              </a:ext>
            </a:extLst>
          </p:cNvPr>
          <p:cNvSpPr/>
          <p:nvPr/>
        </p:nvSpPr>
        <p:spPr>
          <a:xfrm>
            <a:off x="1045229" y="18288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19BE383-05D9-0B7E-EF9C-48EC2C79F29B}"/>
              </a:ext>
            </a:extLst>
          </p:cNvPr>
          <p:cNvSpPr/>
          <p:nvPr/>
        </p:nvSpPr>
        <p:spPr>
          <a:xfrm>
            <a:off x="1045229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90F5DDB-717D-77FC-815F-DFC8E99E21F7}"/>
              </a:ext>
            </a:extLst>
          </p:cNvPr>
          <p:cNvSpPr/>
          <p:nvPr/>
        </p:nvSpPr>
        <p:spPr>
          <a:xfrm>
            <a:off x="2599709" y="18288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E1F8D64-91E4-4B0F-600D-AAA25899389D}"/>
              </a:ext>
            </a:extLst>
          </p:cNvPr>
          <p:cNvSpPr/>
          <p:nvPr/>
        </p:nvSpPr>
        <p:spPr>
          <a:xfrm>
            <a:off x="2599709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0FB1DB4-CBAF-9C60-6899-C5BEC3A76FA2}"/>
              </a:ext>
            </a:extLst>
          </p:cNvPr>
          <p:cNvSpPr/>
          <p:nvPr/>
        </p:nvSpPr>
        <p:spPr>
          <a:xfrm>
            <a:off x="3331229" y="32004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90B2A36-F5FA-CD4E-8DA3-F72A39705472}"/>
              </a:ext>
            </a:extLst>
          </p:cNvPr>
          <p:cNvSpPr/>
          <p:nvPr/>
        </p:nvSpPr>
        <p:spPr>
          <a:xfrm>
            <a:off x="3331229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48FE776-2C0D-FF4E-9F98-E32AF2890FBC}"/>
              </a:ext>
            </a:extLst>
          </p:cNvPr>
          <p:cNvSpPr/>
          <p:nvPr/>
        </p:nvSpPr>
        <p:spPr>
          <a:xfrm>
            <a:off x="1502429" y="384048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8B82430-1429-A47A-1157-C028938D708F}"/>
              </a:ext>
            </a:extLst>
          </p:cNvPr>
          <p:cNvSpPr/>
          <p:nvPr/>
        </p:nvSpPr>
        <p:spPr>
          <a:xfrm>
            <a:off x="1502429" y="3840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D9DBD56-2AE9-F12A-0007-9608F8A9D675}"/>
              </a:ext>
            </a:extLst>
          </p:cNvPr>
          <p:cNvSpPr/>
          <p:nvPr/>
        </p:nvSpPr>
        <p:spPr>
          <a:xfrm>
            <a:off x="130829" y="32004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DD86857-B057-1A92-CD57-9E6D38158275}"/>
              </a:ext>
            </a:extLst>
          </p:cNvPr>
          <p:cNvSpPr/>
          <p:nvPr/>
        </p:nvSpPr>
        <p:spPr>
          <a:xfrm>
            <a:off x="130829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285E9BB-40A2-B1EC-F6D8-C852D32FBF13}"/>
              </a:ext>
            </a:extLst>
          </p:cNvPr>
          <p:cNvSpPr/>
          <p:nvPr/>
        </p:nvSpPr>
        <p:spPr>
          <a:xfrm>
            <a:off x="-309490" y="461560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Graph</a:t>
            </a:r>
            <a:endParaRPr lang="en-US" sz="1100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A0FCC154-27FC-2192-7A4D-82D37AAC440E}"/>
              </a:ext>
            </a:extLst>
          </p:cNvPr>
          <p:cNvSpPr/>
          <p:nvPr/>
        </p:nvSpPr>
        <p:spPr>
          <a:xfrm>
            <a:off x="6032227" y="2084832"/>
            <a:ext cx="15544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5FB0F664-4730-0780-41CA-7F98DBBAE6BA}"/>
              </a:ext>
            </a:extLst>
          </p:cNvPr>
          <p:cNvSpPr/>
          <p:nvPr/>
        </p:nvSpPr>
        <p:spPr>
          <a:xfrm>
            <a:off x="6608299" y="192938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03DD1E6C-BD77-E083-66E2-7266907A203F}"/>
              </a:ext>
            </a:extLst>
          </p:cNvPr>
          <p:cNvSpPr/>
          <p:nvPr/>
        </p:nvSpPr>
        <p:spPr>
          <a:xfrm>
            <a:off x="6608299" y="192938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8E61D3BC-2DD4-6910-6393-B69AC7063158}"/>
              </a:ext>
            </a:extLst>
          </p:cNvPr>
          <p:cNvSpPr/>
          <p:nvPr/>
        </p:nvSpPr>
        <p:spPr>
          <a:xfrm flipH="1">
            <a:off x="5117827" y="2084832"/>
            <a:ext cx="914400" cy="13716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D43BD66B-F927-DFF0-CD45-C03FC713D4A3}"/>
              </a:ext>
            </a:extLst>
          </p:cNvPr>
          <p:cNvSpPr/>
          <p:nvPr/>
        </p:nvSpPr>
        <p:spPr>
          <a:xfrm>
            <a:off x="5373859" y="261518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9270E989-EFF6-0C37-EFA4-6CFA0D927441}"/>
              </a:ext>
            </a:extLst>
          </p:cNvPr>
          <p:cNvSpPr/>
          <p:nvPr/>
        </p:nvSpPr>
        <p:spPr>
          <a:xfrm>
            <a:off x="5373859" y="261518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846A4A4C-79CA-9377-607D-D49726FB2694}"/>
              </a:ext>
            </a:extLst>
          </p:cNvPr>
          <p:cNvSpPr/>
          <p:nvPr/>
        </p:nvSpPr>
        <p:spPr>
          <a:xfrm>
            <a:off x="7586707" y="2084832"/>
            <a:ext cx="731520" cy="13716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62163992-038B-50B8-D2C4-1F2C1DDAB338}"/>
              </a:ext>
            </a:extLst>
          </p:cNvPr>
          <p:cNvSpPr/>
          <p:nvPr/>
        </p:nvSpPr>
        <p:spPr>
          <a:xfrm>
            <a:off x="7751299" y="261518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E3A481E3-81FC-A666-0118-9E8A183ACDEA}"/>
              </a:ext>
            </a:extLst>
          </p:cNvPr>
          <p:cNvSpPr/>
          <p:nvPr/>
        </p:nvSpPr>
        <p:spPr>
          <a:xfrm>
            <a:off x="7751299" y="261518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3897DD31-5ACB-B1C3-C8D3-5C59FAC27279}"/>
              </a:ext>
            </a:extLst>
          </p:cNvPr>
          <p:cNvSpPr/>
          <p:nvPr/>
        </p:nvSpPr>
        <p:spPr>
          <a:xfrm>
            <a:off x="6836899" y="293522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F4644E27-A734-497E-09EE-DA30163DDECA}"/>
              </a:ext>
            </a:extLst>
          </p:cNvPr>
          <p:cNvSpPr/>
          <p:nvPr/>
        </p:nvSpPr>
        <p:spPr>
          <a:xfrm>
            <a:off x="6836899" y="2935224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7CF94BC3-7E9B-2B83-7340-B382D25D2AD3}"/>
              </a:ext>
            </a:extLst>
          </p:cNvPr>
          <p:cNvSpPr/>
          <p:nvPr/>
        </p:nvSpPr>
        <p:spPr>
          <a:xfrm>
            <a:off x="5776195" y="18288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29365126-E34B-4C9B-A5B5-0BA77D76142D}"/>
              </a:ext>
            </a:extLst>
          </p:cNvPr>
          <p:cNvSpPr/>
          <p:nvPr/>
        </p:nvSpPr>
        <p:spPr>
          <a:xfrm>
            <a:off x="5776195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65" name="Shape 34">
            <a:extLst>
              <a:ext uri="{FF2B5EF4-FFF2-40B4-BE49-F238E27FC236}">
                <a16:creationId xmlns:a16="http://schemas.microsoft.com/office/drawing/2014/main" id="{68E0828A-AC47-370F-EA05-B02452D3093D}"/>
              </a:ext>
            </a:extLst>
          </p:cNvPr>
          <p:cNvSpPr/>
          <p:nvPr/>
        </p:nvSpPr>
        <p:spPr>
          <a:xfrm>
            <a:off x="7330675" y="18288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35">
            <a:extLst>
              <a:ext uri="{FF2B5EF4-FFF2-40B4-BE49-F238E27FC236}">
                <a16:creationId xmlns:a16="http://schemas.microsoft.com/office/drawing/2014/main" id="{D7DC8ACD-6166-4BFE-97AC-8C350FA4E855}"/>
              </a:ext>
            </a:extLst>
          </p:cNvPr>
          <p:cNvSpPr/>
          <p:nvPr/>
        </p:nvSpPr>
        <p:spPr>
          <a:xfrm>
            <a:off x="7330675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67" name="Shape 36">
            <a:extLst>
              <a:ext uri="{FF2B5EF4-FFF2-40B4-BE49-F238E27FC236}">
                <a16:creationId xmlns:a16="http://schemas.microsoft.com/office/drawing/2014/main" id="{AAC70F31-A1F9-9266-26B7-6266FE3C5E7F}"/>
              </a:ext>
            </a:extLst>
          </p:cNvPr>
          <p:cNvSpPr/>
          <p:nvPr/>
        </p:nvSpPr>
        <p:spPr>
          <a:xfrm>
            <a:off x="8062195" y="32004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37">
            <a:extLst>
              <a:ext uri="{FF2B5EF4-FFF2-40B4-BE49-F238E27FC236}">
                <a16:creationId xmlns:a16="http://schemas.microsoft.com/office/drawing/2014/main" id="{E04FA0E0-0C0D-171D-E67B-70F6CEBCD9F3}"/>
              </a:ext>
            </a:extLst>
          </p:cNvPr>
          <p:cNvSpPr/>
          <p:nvPr/>
        </p:nvSpPr>
        <p:spPr>
          <a:xfrm>
            <a:off x="8062195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69" name="Shape 38">
            <a:extLst>
              <a:ext uri="{FF2B5EF4-FFF2-40B4-BE49-F238E27FC236}">
                <a16:creationId xmlns:a16="http://schemas.microsoft.com/office/drawing/2014/main" id="{73E4F5CD-1BAD-6953-6642-150EA030A1D7}"/>
              </a:ext>
            </a:extLst>
          </p:cNvPr>
          <p:cNvSpPr/>
          <p:nvPr/>
        </p:nvSpPr>
        <p:spPr>
          <a:xfrm>
            <a:off x="6233395" y="384048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4B7F228D-17D7-6C00-7EA8-80AF7DD78BF1}"/>
              </a:ext>
            </a:extLst>
          </p:cNvPr>
          <p:cNvSpPr/>
          <p:nvPr/>
        </p:nvSpPr>
        <p:spPr>
          <a:xfrm>
            <a:off x="6233395" y="3840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71" name="Shape 40">
            <a:extLst>
              <a:ext uri="{FF2B5EF4-FFF2-40B4-BE49-F238E27FC236}">
                <a16:creationId xmlns:a16="http://schemas.microsoft.com/office/drawing/2014/main" id="{3CB7F05F-715C-CAA9-97FE-E6263404465E}"/>
              </a:ext>
            </a:extLst>
          </p:cNvPr>
          <p:cNvSpPr/>
          <p:nvPr/>
        </p:nvSpPr>
        <p:spPr>
          <a:xfrm>
            <a:off x="4861795" y="3200400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Text 41">
            <a:extLst>
              <a:ext uri="{FF2B5EF4-FFF2-40B4-BE49-F238E27FC236}">
                <a16:creationId xmlns:a16="http://schemas.microsoft.com/office/drawing/2014/main" id="{874DC19E-B737-DA8A-95DE-3B5247BDF514}"/>
              </a:ext>
            </a:extLst>
          </p:cNvPr>
          <p:cNvSpPr/>
          <p:nvPr/>
        </p:nvSpPr>
        <p:spPr>
          <a:xfrm>
            <a:off x="4861795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73" name="Text 42">
            <a:extLst>
              <a:ext uri="{FF2B5EF4-FFF2-40B4-BE49-F238E27FC236}">
                <a16:creationId xmlns:a16="http://schemas.microsoft.com/office/drawing/2014/main" id="{910E25DB-3CE6-07C1-8AD5-904C6B83A7C7}"/>
              </a:ext>
            </a:extLst>
          </p:cNvPr>
          <p:cNvSpPr/>
          <p:nvPr/>
        </p:nvSpPr>
        <p:spPr>
          <a:xfrm>
            <a:off x="4733779" y="457106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Spanning tree of that graph</a:t>
            </a:r>
            <a:endParaRPr lang="en-US" sz="11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3B24C9A-A4E5-BAFD-C4A0-EF8D18FA58E7}"/>
              </a:ext>
            </a:extLst>
          </p:cNvPr>
          <p:cNvCxnSpPr/>
          <p:nvPr/>
        </p:nvCxnSpPr>
        <p:spPr>
          <a:xfrm>
            <a:off x="3910818" y="2855742"/>
            <a:ext cx="752622" cy="0"/>
          </a:xfrm>
          <a:prstGeom prst="straightConnector1">
            <a:avLst/>
          </a:prstGeom>
          <a:ln w="76200">
            <a:solidFill>
              <a:srgbClr val="2ECC71"/>
            </a:solidFill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465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Minimum Spanning Tree?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that connects all nodes with minimum total edge weight.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of a graph is a subgraph that: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Connects ALL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Has NO cycles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Uses exactly N-1 edges (N = number of nodes)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Spanning Tree (MST) is the spanning tree with the SMALLEST total weight.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3127248"/>
            <a:ext cx="4389120" cy="74980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3236976"/>
            <a:ext cx="512064" cy="51206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236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minimum?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spanning trees exist — we want the cheapest one!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995928"/>
            <a:ext cx="4389120" cy="74980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4105656"/>
            <a:ext cx="512064" cy="51206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4105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050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343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algorithms: Prim's (grow from a node) vs Kruskal's (sort edges).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15544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16733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6733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H="1">
            <a:off x="5029200" y="1828800"/>
            <a:ext cx="914400" cy="13716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5232" y="23591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3591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1828800"/>
            <a:ext cx="731520" cy="13716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23591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23591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6400800" y="1828800"/>
            <a:ext cx="1097280" cy="20116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48272" y="26791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6791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flipH="1">
            <a:off x="6400800" y="3200400"/>
            <a:ext cx="1828800" cy="64008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14032" y="3364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3364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 flipV="1">
            <a:off x="5029200" y="3200400"/>
            <a:ext cx="1371600" cy="6400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13832" y="3364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3364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87568" y="1572768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42048" y="1572768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73568" y="2944368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44768" y="3584448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73168" y="2944368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MST total = 2+4+3+1 =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Prim's Algorithm?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MST one edge at a time, always picking the cheapest safe edge.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07008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26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starting node. Add it to the MST 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75104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103120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cheapest 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22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ALL edges connecting the MST to unvisited nodes. Pick the minimum weight edge.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999232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destination node to the MST set. Add the edge to the MST.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895344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895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14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doing steps 2-3 until ALL nodes are in the MST (N-1 edges added).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6684264" y="1358939"/>
            <a:ext cx="1645920" cy="5486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06056" y="147781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6056" y="147781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flipH="1">
            <a:off x="5586984" y="1907579"/>
            <a:ext cx="1097280" cy="128016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34456" y="239221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239221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30184" y="1358939"/>
            <a:ext cx="457200" cy="155448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57616" y="198073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198073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7141464" y="2913419"/>
            <a:ext cx="1645920" cy="118872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3256" y="335233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335233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5586984" y="3187739"/>
            <a:ext cx="1554480" cy="91440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3056" y="348949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348949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84264" y="1907579"/>
            <a:ext cx="2103120" cy="10058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34656" y="225505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34656" y="225505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V="1">
            <a:off x="5586984" y="1358939"/>
            <a:ext cx="2743200" cy="182880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57416" y="211789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211789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28232" y="1651547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165154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74152" y="1102907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74152" y="110290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31352" y="2657387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31352" y="265738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85432" y="3846107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85432" y="384610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330952" y="2931707"/>
            <a:ext cx="512064" cy="512064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30952" y="293170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29200" y="4663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</a:rPr>
              <a:t>Final MST: S→D(1)→A(2)→B(5)→C(3)=11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 Graph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trace Prim's step-by-step. Start at node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graph has: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44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6 nodes (A to 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836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10 edges with weights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22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We want the cheapest way to connect ALL nodes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</a:rPr>
              <a:t>Prim's grows the MST edge by edge.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</a:rPr>
              <a:t>Next slides show each step!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</a:rPr>
              <a:t>Start here!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64592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1490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490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4572000" y="1645920"/>
            <a:ext cx="914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1645920"/>
            <a:ext cx="914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84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4572000" y="1645920"/>
            <a:ext cx="3200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71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77724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4572000" y="3200400"/>
            <a:ext cx="41148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018223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3036863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5486400" y="466344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8232" y="4507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4507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 flipV="1">
            <a:off x="4572000" y="3200400"/>
            <a:ext cx="3200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71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H="1" flipV="1">
            <a:off x="45720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5449824" y="1719072"/>
            <a:ext cx="2286000" cy="301752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8272" y="259654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633120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93792" y="135331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79792" y="135331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79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94192" y="290779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4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79792" y="437083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9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93792" y="437083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93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79392" y="290779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793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Start at 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 the MST. Candidates: B(4), F(2).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MST edges so far: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078992"/>
            <a:ext cx="3200400" cy="27432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0972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( empty 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 (A)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 MST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Candidate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Unvisited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Candidates: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3200400" cy="34747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56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A→B =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67912"/>
            <a:ext cx="320040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67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A→F = 2 ✓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64592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1490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1490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4572000" y="1645920"/>
            <a:ext cx="914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1645920"/>
            <a:ext cx="914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4572000" y="1645920"/>
            <a:ext cx="3200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71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77724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284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H="1">
            <a:off x="4572000" y="3200400"/>
            <a:ext cx="41148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9107" y="3054096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7548" y="3066933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5486400" y="466344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4507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4507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 flipH="1" flipV="1">
            <a:off x="4572000" y="3200400"/>
            <a:ext cx="3200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71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71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flipH="1" flipV="1">
            <a:off x="45720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H="1">
            <a:off x="5462837" y="1680738"/>
            <a:ext cx="2286000" cy="301752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97980" y="2617295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88132" y="2627143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93792" y="135331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79792" y="135331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9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94192" y="290779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94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79792" y="437083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79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193792" y="4370832"/>
            <a:ext cx="585216" cy="585216"/>
          </a:xfrm>
          <a:prstGeom prst="ellipse">
            <a:avLst/>
          </a:prstGeom>
          <a:solidFill>
            <a:srgbClr val="7F8C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93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79392" y="290779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793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7373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Add F (cheapest edge A→F=2)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minimum edge from MST boundary. A→F=2 wins!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MST edges so far: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099390"/>
            <a:ext cx="3200400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0972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A→F (2)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 MST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65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Just added (F)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Candidate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33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Unvisited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Candidates from A,F: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3200400" cy="30175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564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A→B =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03904"/>
            <a:ext cx="3200400" cy="30175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0390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B→F = 1 ✓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51376"/>
            <a:ext cx="3200400" cy="30175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5137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C→F = 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498848"/>
            <a:ext cx="3200400" cy="30175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49884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D→F = 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846320"/>
            <a:ext cx="3200400" cy="301752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4632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E→F = 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64592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1490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490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4572000" y="1645920"/>
            <a:ext cx="914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1645920"/>
            <a:ext cx="914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284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H="1">
            <a:off x="4572000" y="1645920"/>
            <a:ext cx="3200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71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71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77724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284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 flipH="1">
            <a:off x="4572000" y="3200400"/>
            <a:ext cx="41148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33288" y="3003804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1284" y="3015057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flipH="1">
            <a:off x="5486400" y="466344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28232" y="4507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507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H="1" flipV="1">
            <a:off x="4572000" y="3200400"/>
            <a:ext cx="3200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71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 flipH="1" flipV="1">
            <a:off x="45720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28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 flipH="1">
            <a:off x="5486400" y="1645920"/>
            <a:ext cx="2286000" cy="301752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30568" y="2386585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30568" y="2377440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93792" y="135331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93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79792" y="135331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79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94192" y="290779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94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479792" y="43708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79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193792" y="43708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79392" y="290779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793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F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434840" y="48234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MST weight so far: 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7373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A → 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B (cheapest edge B→F=1)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F→B=1 is the minimum! Add B to MST.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MST edges so far: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64208" y="1062111"/>
            <a:ext cx="3200400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0972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A→F(2), F→B(1)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 MST: A, 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65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Just added (B)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Candidate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33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Unvisited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127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New candidates from B: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3200400" cy="320040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B→E = 2 ✓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22192"/>
            <a:ext cx="3200400" cy="3200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22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B→C = 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3200400" cy="3200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87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A→B = 4 (skip, A in MST)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164592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8232" y="1490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490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4572000" y="1645920"/>
            <a:ext cx="914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0" y="1645920"/>
            <a:ext cx="914400" cy="155448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284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4572000" y="1645920"/>
            <a:ext cx="3200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71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1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H="1">
            <a:off x="77724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284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284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H="1">
            <a:off x="4572000" y="3200400"/>
            <a:ext cx="41148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27548" y="30449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7548" y="3052689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5486400" y="466344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4507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507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 flipH="1" flipV="1">
            <a:off x="4572000" y="3200400"/>
            <a:ext cx="3200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71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1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45720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28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 flipH="1">
            <a:off x="5486400" y="1645920"/>
            <a:ext cx="2286000" cy="301752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85432" y="2414720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1716" y="2414720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93792" y="135331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93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79792" y="1353312"/>
            <a:ext cx="585216" cy="585216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9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B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94192" y="290779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94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79792" y="43708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79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193792" y="4370832"/>
            <a:ext cx="585216" cy="585216"/>
          </a:xfrm>
          <a:prstGeom prst="ellipse">
            <a:avLst/>
          </a:prstGeom>
          <a:solidFill>
            <a:srgbClr val="3498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93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279392" y="290779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93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297680" y="4851595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</a:rPr>
              <a:t>MST weight so far: 2+1=3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7373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A → F → 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4-6: Add E, C, D — Done! 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picking the minimum edge until all nodes are in the MST.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Step 4: B→E=2 → Add E  |  Step 5: C→D=3 → Add C  |  Step 6: C→D=3 → Add 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MST (all nodes!)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Discarded edges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MST Edges: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A→F =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63824"/>
            <a:ext cx="3200400" cy="30175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6382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F→B =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11296"/>
            <a:ext cx="3200400" cy="30175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1129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B→E =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3200400" cy="30175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5876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B→C =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3200400" cy="301752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C→D =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64592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1490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1490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4572000" y="1645920"/>
            <a:ext cx="914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1645920"/>
            <a:ext cx="914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4572000" y="1645920"/>
            <a:ext cx="3200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71032" y="226771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226771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7772400" y="3200400"/>
            <a:ext cx="914400" cy="146304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284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H="1">
            <a:off x="4572000" y="3200400"/>
            <a:ext cx="41148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28232" y="304495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04495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5486400" y="4663440"/>
            <a:ext cx="2286000" cy="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450799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450799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 flipH="1" flipV="1">
            <a:off x="4572000" y="3200400"/>
            <a:ext cx="3200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71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71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flipH="1" flipV="1">
            <a:off x="4572000" y="3200400"/>
            <a:ext cx="914400" cy="146304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377647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77647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H="1">
            <a:off x="5486400" y="1645920"/>
            <a:ext cx="2286000" cy="301752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28232" y="2999232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28232" y="2999232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93792" y="135331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79792" y="135331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9792" y="13533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94192" y="290779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941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79792" y="437083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79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193792" y="437083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9379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79392" y="2907792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7939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73736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A → F → B → E → C → 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Grows the MST Greedily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cheapest edge that doesn't create a cycle.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530352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Start: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4114800" cy="530352"/>
          </a:xfrm>
          <a:prstGeom prst="rect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1: +F (cost 2, edge A→F)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14016"/>
            <a:ext cx="4114800" cy="530352"/>
          </a:xfrm>
          <a:prstGeom prst="rect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140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2: +B (cost 1, edge F→B)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26664"/>
            <a:ext cx="4114800" cy="530352"/>
          </a:xfrm>
          <a:prstGeom prst="rect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266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3: +E (cost 2, edge B→E)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39312"/>
            <a:ext cx="4114800" cy="530352"/>
          </a:xfrm>
          <a:prstGeom prst="rect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393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4: +C (cost 5, edge B→C)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4114800" cy="530352"/>
          </a:xfrm>
          <a:prstGeom prst="rect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51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5: +D (cost 3, edge C→D)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100830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00830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>
            <a:off x="4681728" y="1163749"/>
            <a:ext cx="914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78554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8554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82128" y="1163749"/>
            <a:ext cx="914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78554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78554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4681728" y="1163749"/>
            <a:ext cx="3200400" cy="155448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178554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78554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7882128" y="2718229"/>
            <a:ext cx="914400" cy="146304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29430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29430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37960" y="256278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56278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402582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02582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329430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29430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329430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29430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 flipH="1">
            <a:off x="5596128" y="1163749"/>
            <a:ext cx="2286000" cy="3017520"/>
          </a:xfrm>
          <a:prstGeom prst="line">
            <a:avLst/>
          </a:prstGeom>
          <a:noFill/>
          <a:ln w="38100">
            <a:solidFill>
              <a:srgbClr val="2ECC7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2517061"/>
            <a:ext cx="402336" cy="301752"/>
          </a:xfrm>
          <a:prstGeom prst="ellipse">
            <a:avLst/>
          </a:prstGeom>
          <a:solidFill>
            <a:srgbClr val="242847"/>
          </a:solidFill>
          <a:ln w="12700">
            <a:solidFill>
              <a:srgbClr val="2428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2517061"/>
            <a:ext cx="402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C40F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0" y="871141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87114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89520" y="871141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87114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03920" y="2425621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242562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89520" y="3888661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388866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03520" y="3888661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0" y="388866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389120" y="2425621"/>
            <a:ext cx="585216" cy="585216"/>
          </a:xfrm>
          <a:prstGeom prst="ellipse">
            <a:avLst/>
          </a:prstGeom>
          <a:solidFill>
            <a:srgbClr val="2ECC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242562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754880" y="46222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</a:rPr>
              <a:t>Total MST Weight: 13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 — Code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priority queue for efficient implementation.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01852"/>
            <a:ext cx="530352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7E22"/>
                </a:solidFill>
              </a:rPr>
              <a:t>&lt;/&gt; Prim's code (C++)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primMST(vector&lt;vector&lt;pair&lt;int,int&gt;&gt;&gt;&amp; graph, int V) {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priority_queue&lt;pair&lt;int,int&gt;,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vector&lt;pair&lt;int,int&gt;&gt;, greater&lt;&gt;&gt; pq;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002536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vector&lt;bool&gt; inMST(V, false);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totalWeight = 0;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386584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pq.push({0, 0}); // {weight, node}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578608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(!pq.empty())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770632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[w, u] = pq.top(); pq.pop();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962656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(inMST[u]) continue;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154680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inMST[u] = true;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346704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totalWeight += w;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538728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 [v, weight] : graph[u])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730752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(!inMST[v])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922776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pq.push({weight, v});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4114800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4306824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4498848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totalWeight;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4690872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781812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781812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8275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11292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V) with priority queue. Much better than O(V²) naive!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1879092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1879092"/>
            <a:ext cx="6400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9248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structure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2160" y="22265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(priority queue) always gives the cheapest candidate edge.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976372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2976372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0220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duplicates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52160" y="33238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node is already in the MST, skip it — prevents re-processing.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4073652"/>
            <a:ext cx="3200400" cy="960120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4073652"/>
            <a:ext cx="64008" cy="9601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1193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52160" y="44211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total MST weight. Track edges for full MST reconstruction.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Prim's Algorithm Used?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MSTs are everywhere in real engineering problems.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Electrical Grids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power networks that connect all cities with minimum cable length.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18872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Telecommunications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fiber-optic cables connecting data centers at minimum cost.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18872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Road Networks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towns with fewest roads. Classic infrastructure planning problem.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8036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🖧 Network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LAN/WAN networks: connect all computers using minimum total wire.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288036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Bioinformatics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 DNA sequences — minimum spanning tree = hierarchical grouping.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2880360"/>
            <a:ext cx="28346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 Maps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dungeon layouts that are fully connected with minimal corridors.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657600"/>
            <a:ext cx="3657600" cy="3657600"/>
          </a:xfrm>
          <a:prstGeom prst="ellipse">
            <a:avLst/>
          </a:prstGeom>
          <a:solidFill>
            <a:srgbClr val="4A2800">
              <a:alpha val="45000"/>
            </a:srgbClr>
          </a:solidFill>
          <a:ln w="12700">
            <a:solidFill>
              <a:srgbClr val="4A280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2A1800">
              <a:alpha val="45000"/>
            </a:srgbClr>
          </a:solidFill>
          <a:ln w="12700">
            <a:solidFill>
              <a:srgbClr val="2A1800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Algorithm! 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97280" y="217627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214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builds a Minimum Spanning Tree greedily, one edge at a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9689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cheapest edge connecting MST to a new (unvisited) node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12724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07238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exactly N-1 edges for N nodes — no cycles, all connected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360273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5478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O(E log V) with priority queue, O(V²) with adjacency matrix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07822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undirected, weighted, connected graphs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55371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44988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order: A → F → B → E → C → D | MST total = 13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37176"/>
            <a:ext cx="8046720" cy="256032"/>
          </a:xfrm>
          <a:prstGeom prst="rect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rule: Always pick the minimum weight edge from MST boundary to unvisited nodes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1412</Words>
  <Application>Microsoft Office PowerPoint</Application>
  <PresentationFormat>On-screen Show (16:9)</PresentationFormat>
  <Paragraphs>327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</dc:title>
  <dc:subject>PptxGenJS Presentation</dc:subject>
  <dc:creator>PptxGenJS</dc:creator>
  <cp:lastModifiedBy>Md Shohag Showdagor</cp:lastModifiedBy>
  <cp:revision>4</cp:revision>
  <dcterms:created xsi:type="dcterms:W3CDTF">2026-02-23T12:09:01Z</dcterms:created>
  <dcterms:modified xsi:type="dcterms:W3CDTF">2026-02-23T17:41:43Z</dcterms:modified>
</cp:coreProperties>
</file>